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594360"/>
            <a:ext cx="1965960" cy="329184"/>
          </a:xfrm>
          <a:prstGeom prst="round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874519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MANAGEMENT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99669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</a:defRPr>
            </a:pPr>
            <a:r>
              <a:t>Workfront + CTT Integration</a:t>
            </a:r>
            <a:br/>
            <a:r>
              <a:t>Proof of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9784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700" b="0">
                <a:solidFill>
                  <a:srgbClr val="DCEBF5"/>
                </a:solidFill>
                <a:latin typeface="Aptos"/>
              </a:defRPr>
            </a:pPr>
            <a:r>
              <a:t>A practical bridge to improve marketing intelligence now while preparing the Campaign Tagging and Tracking Tool for decommissioning.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943600"/>
            <a:ext cx="7132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CDD7E1"/>
                </a:solidFill>
                <a:latin typeface="Aptos"/>
              </a:defRPr>
            </a:pPr>
            <a:r>
              <a:t>Prepared from: Overview of My Proposal, CTT decommissioning and impact materials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251960"/>
            <a:ext cx="1234440" cy="384048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4343400"/>
            <a:ext cx="11430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CTT today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1000" y="4443984"/>
            <a:ext cx="246888" cy="0"/>
          </a:xfrm>
          <a:prstGeom prst="line">
            <a:avLst/>
          </a:prstGeom>
          <a:ln w="19050">
            <a:solidFill>
              <a:srgbClr val="BED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75320" y="4251960"/>
            <a:ext cx="1234440" cy="384048"/>
          </a:xfrm>
          <a:prstGeom prst="round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343400"/>
            <a:ext cx="11430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POC bridge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09760" y="4443984"/>
            <a:ext cx="246888" cy="0"/>
          </a:xfrm>
          <a:prstGeom prst="line">
            <a:avLst/>
          </a:prstGeom>
          <a:ln w="19050">
            <a:solidFill>
              <a:srgbClr val="BED2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84080" y="4251960"/>
            <a:ext cx="1234440" cy="38404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4343400"/>
            <a:ext cx="11430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Workfront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Executive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The proposal supports the Workfront end-state by reducing reporting and adoption risk during the transition.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1097280" cy="329184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45336"/>
            <a:ext cx="1005839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300" b="1">
                <a:solidFill>
                  <a:srgbClr val="0B2340"/>
                </a:solidFill>
                <a:latin typeface="Aptos"/>
              </a:defRPr>
            </a:pPr>
            <a:r>
              <a:t>We know the strategic direction is to use Workfront as the marketing execution and data source and to decommission CTT.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16352"/>
            <a:ext cx="3520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816352"/>
            <a:ext cx="73152" cy="2057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35224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346704"/>
            <a:ext cx="3154680" cy="146304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Fund a focused POC that integrates Workfront with CTT.</a:t>
            </a:r>
          </a:p>
          <a:p>
            <a:pPr>
              <a:buChar char="•"/>
              <a:spcAft>
                <a:spcPts val="2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Use CTT temporarily as a compatibility layer while Workfront adoption expands.</a:t>
            </a:r>
          </a:p>
          <a:p>
            <a:pPr>
              <a:buChar char="•"/>
              <a:spcAft>
                <a:spcPts val="2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Write CTT-generated IDs and shared reporting attributes back to Workfront.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816352"/>
            <a:ext cx="3520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2816352"/>
            <a:ext cx="73152" cy="20574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935224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Why this is not a detour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346704"/>
            <a:ext cx="3154680" cy="146304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The POC aligns data attributes to the future Workfront model.</a:t>
            </a:r>
          </a:p>
          <a:p>
            <a:pPr>
              <a:buChar char="•"/>
              <a:spcAft>
                <a:spcPts val="2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It creates migration evidence and decommission criteria.</a:t>
            </a:r>
          </a:p>
          <a:p>
            <a:pPr>
              <a:buChar char="•"/>
              <a:spcAft>
                <a:spcPts val="2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It limits disruption to teams and reports already dependent on CTT IDs.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16352"/>
            <a:ext cx="3520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2816352"/>
            <a:ext cx="73152" cy="2057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935224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Management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346704"/>
            <a:ext cx="3154680" cy="146304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Approve a proof of concept and nominate a cross-functional pilot.</a:t>
            </a:r>
          </a:p>
          <a:p>
            <a:pPr>
              <a:buChar char="•"/>
              <a:spcAft>
                <a:spcPts val="2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Agree success measures and governance for Workfront-aligned attributes.</a:t>
            </a:r>
          </a:p>
          <a:p>
            <a:pPr>
              <a:buChar char="•"/>
              <a:spcAft>
                <a:spcPts val="2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Use findings to make a scale/decommission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The reality: Workfront is the destination, but CTT is still in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A direct cutover risks breaking measurement before all upstream and downstream dependencies are 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661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43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27631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Known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39112"/>
            <a:ext cx="3200400" cy="3749039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Not all marketing activities pass through Workfront today.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Current SFDC change constraints limit how quickly new tracking parameters can be adopted downstream.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Attribution models and funnel reports still use CTT IDs.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Future marketing automation tooling is not fully settled.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5661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08760"/>
            <a:ext cx="73152" cy="43434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627631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Embedded CTT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39112"/>
            <a:ext cx="3200400" cy="3749039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Activity ID tracks marketing activities and budget/program alignment.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Offer ID tracks content, trials and other offers consumed by customers.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Drive To ID tracks the channel or vehicle that delivered the touchpoint.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CTT attributes are used across lead enrichment, campaign creation, routing and reporting.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08760"/>
            <a:ext cx="3337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508760"/>
            <a:ext cx="73152" cy="4343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627631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Business implication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39112"/>
            <a:ext cx="2971800" cy="3749039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If CTT is removed before readiness is proven, teams may move to Workfront without reliable reporting.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Marketing performance insight could be fragmented between online, offline and non-Workfront activities.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The transition may slow because teams fear losing attribution continuity.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Why the bridge matters: CTT dependencies are broad and business-critical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The source inventory shows CTT IDs across systems that create, enrich, route, report and govern marketing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2743200" cy="4251960"/>
          </a:xfrm>
          <a:prstGeom prst="roundRect">
            <a:avLst/>
          </a:prstGeom>
          <a:solidFill>
            <a:srgbClr val="0B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300" b="1">
                <a:solidFill>
                  <a:srgbClr val="C8E1F5"/>
                </a:solidFill>
                <a:latin typeface="Aptos"/>
              </a:defRPr>
            </a:pPr>
            <a:r>
              <a:t>Dependency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0">
                <a:solidFill>
                  <a:srgbClr val="DCEBF5"/>
                </a:solidFill>
                <a:latin typeface="Aptos"/>
              </a:defRPr>
            </a:pPr>
            <a:r>
              <a:t>systems/process entries referencing CCID in the August dependency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343400"/>
            <a:ext cx="2331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00ACC1"/>
                </a:solidFill>
                <a:latin typeface="Aptos"/>
              </a:defRPr>
            </a:pPr>
            <a:r>
              <a:t>16 mandatory</a:t>
            </a:r>
            <a:br/>
            <a:r>
              <a:t>2 conditional</a:t>
            </a:r>
            <a:br/>
            <a:r>
              <a:t>10 optional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1600200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1600200"/>
            <a:ext cx="73152" cy="173736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1" y="1719072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50" b="1">
                <a:solidFill>
                  <a:srgbClr val="0B2340"/>
                </a:solidFill>
                <a:latin typeface="Aptos"/>
              </a:defRPr>
            </a:pPr>
            <a:r>
              <a:t>Lead &amp;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130552"/>
            <a:ext cx="3200400" cy="11430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SFDC lead creation</a:t>
            </a:r>
          </a:p>
          <a:p>
            <a:pPr>
              <a:buChar char="•"/>
              <a:spcAft>
                <a:spcPts val="2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Lean Data</a:t>
            </a:r>
          </a:p>
          <a:p>
            <a:pPr>
              <a:buChar char="•"/>
              <a:spcAft>
                <a:spcPts val="2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Outreach / Gong Engage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600200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600200"/>
            <a:ext cx="73152" cy="173736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719072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50" b="1">
                <a:solidFill>
                  <a:srgbClr val="0B2340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2130552"/>
            <a:ext cx="3200400" cy="11430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Eloqua forms</a:t>
            </a:r>
          </a:p>
          <a:p>
            <a:pPr>
              <a:buChar char="•"/>
              <a:spcAft>
                <a:spcPts val="2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Always-On Journeys</a:t>
            </a:r>
          </a:p>
          <a:p>
            <a:pPr>
              <a:buChar char="•"/>
              <a:spcAft>
                <a:spcPts val="2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App Cloud Lite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3685031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3685031"/>
            <a:ext cx="73152" cy="1737360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1" y="3803903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50" b="1">
                <a:solidFill>
                  <a:srgbClr val="0B2340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15383"/>
            <a:ext cx="3200400" cy="11430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Tray.io</a:t>
            </a:r>
          </a:p>
          <a:p>
            <a:pPr>
              <a:buChar char="•"/>
              <a:spcAft>
                <a:spcPts val="2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Allocadia</a:t>
            </a:r>
          </a:p>
          <a:p>
            <a:pPr>
              <a:buChar char="•"/>
              <a:spcAft>
                <a:spcPts val="2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VDC Engage Portal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685031"/>
            <a:ext cx="35661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3685031"/>
            <a:ext cx="73152" cy="1737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9831" y="3803903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50" b="1">
                <a:solidFill>
                  <a:srgbClr val="0B2340"/>
                </a:solidFill>
                <a:latin typeface="Aptos"/>
              </a:defRPr>
            </a:pPr>
            <a:r>
              <a:t>Reporting &amp;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19" y="4215383"/>
            <a:ext cx="3200400" cy="11430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ACE reports</a:t>
            </a:r>
          </a:p>
          <a:p>
            <a:pPr>
              <a:buChar char="•"/>
              <a:spcAft>
                <a:spcPts val="2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Snowflake / CDF</a:t>
            </a:r>
          </a:p>
          <a:p>
            <a:pPr>
              <a:buChar char="•"/>
              <a:spcAft>
                <a:spcPts val="2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Adobe weblogs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5687568"/>
            <a:ext cx="7360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50" b="0">
                <a:solidFill>
                  <a:srgbClr val="62707D"/>
                </a:solidFill>
                <a:latin typeface="Aptos"/>
              </a:defRPr>
            </a:pPr>
            <a:r>
              <a:t>Evidence source: CTT Process Impact deck and Campaign Tagging &amp; Tracking Dependencies spreadsheet.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The opportunity: use CTT as a controlled transition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Keep the business measuring consistently while building toward Workfront as the source of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508760"/>
            <a:ext cx="2011680" cy="384048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600200"/>
            <a:ext cx="19202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632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73152" cy="31546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221991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2633472"/>
            <a:ext cx="2697480" cy="2560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CTT creates and validates legacy IDs.</a:t>
            </a:r>
          </a:p>
          <a:p>
            <a:pPr>
              <a:buChar char="•"/>
              <a:spcAft>
                <a:spcPts val="2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Workfront adoption is incomplete.</a:t>
            </a:r>
          </a:p>
          <a:p>
            <a:pPr>
              <a:buChar char="•"/>
              <a:spcAft>
                <a:spcPts val="2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Reporting depends on OCIDs across multiple systems.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86200" y="3611880"/>
            <a:ext cx="521207" cy="0"/>
          </a:xfrm>
          <a:prstGeom prst="line">
            <a:avLst/>
          </a:prstGeom>
          <a:ln w="19050">
            <a:solidFill>
              <a:srgbClr val="62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1508760"/>
            <a:ext cx="2011680" cy="384048"/>
          </a:xfrm>
          <a:prstGeom prst="round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600200"/>
            <a:ext cx="19202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POC bridge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103120"/>
            <a:ext cx="30632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103120"/>
            <a:ext cx="73152" cy="31546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2221991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0" y="2633472"/>
            <a:ext cx="2697480" cy="2560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Workfront triggers CTT ID creation for pilot activations.</a:t>
            </a:r>
          </a:p>
          <a:p>
            <a:pPr>
              <a:buChar char="•"/>
              <a:spcAft>
                <a:spcPts val="2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CTT carries Workfront-aligned FY27 data attributes.</a:t>
            </a:r>
          </a:p>
          <a:p>
            <a:pPr>
              <a:buChar char="•"/>
              <a:spcAft>
                <a:spcPts val="2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IDs and attributes are written back to Workfront.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26679" y="3611880"/>
            <a:ext cx="521209" cy="0"/>
          </a:xfrm>
          <a:prstGeom prst="line">
            <a:avLst/>
          </a:prstGeom>
          <a:ln w="19050">
            <a:solidFill>
              <a:srgbClr val="62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15400" y="1508760"/>
            <a:ext cx="2011680" cy="38404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1600200"/>
            <a:ext cx="19202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Future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2103120"/>
            <a:ext cx="30632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2103120"/>
            <a:ext cx="73152" cy="3154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2221991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595360" y="2633472"/>
            <a:ext cx="2697480" cy="2560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Workfront data and standardized UTMs become the governed reporting source.</a:t>
            </a:r>
          </a:p>
          <a:p>
            <a:pPr>
              <a:buChar char="•"/>
              <a:spcAft>
                <a:spcPts val="2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Legacy OCIDs are mapped, retired and removed.</a:t>
            </a:r>
          </a:p>
          <a:p>
            <a:pPr>
              <a:buChar char="•"/>
              <a:spcAft>
                <a:spcPts val="2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CTT is decommissioned when readiness criteria are met.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33272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500" b="1">
                <a:solidFill>
                  <a:srgbClr val="0B2340"/>
                </a:solidFill>
                <a:latin typeface="Aptos"/>
              </a:defRPr>
            </a:pPr>
            <a:r>
              <a:t>Principle: do not preserve CTT as a permanent destination; adapt it so every step improves Workfront readiness and decommission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POC concept: integrate Workfront and CTT around a shared tracking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The POC proves whether Workfront-originated activations can receive CTT-compatible IDs without manual effort or reporting gaps.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965960"/>
            <a:ext cx="1965960" cy="1371600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21408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Workfront</a:t>
            </a:r>
            <a:br/>
            <a:r>
              <a:t>activation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670048"/>
            <a:ext cx="173736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80" b="0">
                <a:solidFill>
                  <a:srgbClr val="FFFFFF"/>
                </a:solidFill>
                <a:latin typeface="Aptos"/>
              </a:defRPr>
            </a:pPr>
            <a:r>
              <a:t>Channel or content task is approved for pilot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04872" y="2651760"/>
            <a:ext cx="347472" cy="0"/>
          </a:xfrm>
          <a:prstGeom prst="line">
            <a:avLst/>
          </a:prstGeom>
          <a:ln w="19050">
            <a:solidFill>
              <a:srgbClr val="62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98064" y="1965960"/>
            <a:ext cx="1965960" cy="1371600"/>
          </a:xfrm>
          <a:prstGeom prst="round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2121408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Integration</a:t>
            </a:r>
            <a:br/>
            <a:r>
              <a:t>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2670048"/>
            <a:ext cx="173736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80" b="0">
                <a:solidFill>
                  <a:srgbClr val="FFFFFF"/>
                </a:solidFill>
                <a:latin typeface="Aptos"/>
              </a:defRPr>
            </a:pPr>
            <a:r>
              <a:t>Create/update event carries required attributes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64024" y="2651760"/>
            <a:ext cx="347472" cy="0"/>
          </a:xfrm>
          <a:prstGeom prst="line">
            <a:avLst/>
          </a:prstGeom>
          <a:ln w="19050">
            <a:solidFill>
              <a:srgbClr val="62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57216" y="1965960"/>
            <a:ext cx="1965960" cy="137160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6944" y="2121408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CTT</a:t>
            </a:r>
            <a:br/>
            <a:r>
              <a:t>ID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670048"/>
            <a:ext cx="173736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80" b="0">
                <a:solidFill>
                  <a:srgbClr val="FFFFFF"/>
                </a:solidFill>
                <a:latin typeface="Aptos"/>
              </a:defRPr>
            </a:pPr>
            <a:r>
              <a:t>Create Activity ID for channel activation; Offer ID for content activation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23176" y="2651760"/>
            <a:ext cx="347472" cy="0"/>
          </a:xfrm>
          <a:prstGeom prst="line">
            <a:avLst/>
          </a:prstGeom>
          <a:ln w="19050">
            <a:solidFill>
              <a:srgbClr val="62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16368" y="1965960"/>
            <a:ext cx="1965960" cy="137160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2121408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Write-back</a:t>
            </a:r>
            <a:br/>
            <a:r>
              <a:t>to Workfront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670048"/>
            <a:ext cx="173736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80" b="0">
                <a:solidFill>
                  <a:srgbClr val="FFFFFF"/>
                </a:solidFill>
                <a:latin typeface="Aptos"/>
              </a:defRPr>
            </a:pPr>
            <a:r>
              <a:t>Store generated IDs and reporting attributes on Workfront task/project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82328" y="2651760"/>
            <a:ext cx="347472" cy="0"/>
          </a:xfrm>
          <a:prstGeom prst="line">
            <a:avLst/>
          </a:prstGeom>
          <a:ln w="19050">
            <a:solidFill>
              <a:srgbClr val="62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75520" y="1965960"/>
            <a:ext cx="1965960" cy="1371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5248" y="2121408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Reporting</a:t>
            </a:r>
            <a:br/>
            <a:r>
              <a:t>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2670048"/>
            <a:ext cx="173736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80" b="0">
                <a:solidFill>
                  <a:srgbClr val="FFFFFF"/>
                </a:solidFill>
                <a:latin typeface="Aptos"/>
              </a:defRPr>
            </a:pPr>
            <a:r>
              <a:t>Validate consistent Workfront + CTT view for online/offline activity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605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160520"/>
            <a:ext cx="73152" cy="123444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279392"/>
            <a:ext cx="31546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Activity IDs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690872"/>
            <a:ext cx="3108960" cy="6400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120">
                <a:solidFill>
                  <a:srgbClr val="1E1E1E"/>
                </a:solidFill>
                <a:latin typeface="Aptos"/>
              </a:defRPr>
            </a:pPr>
            <a:r>
              <a:t>Automatically created for channel activations so driving initiatives can still be measured while Workfront adoption grows.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41605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4160520"/>
            <a:ext cx="73152" cy="12344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424" y="4279392"/>
            <a:ext cx="31546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Offer IDs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690872"/>
            <a:ext cx="3108960" cy="6400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120">
                <a:solidFill>
                  <a:srgbClr val="1E1E1E"/>
                </a:solidFill>
                <a:latin typeface="Aptos"/>
              </a:defRPr>
            </a:pPr>
            <a:r>
              <a:t>Automatically created for content activations so consumed offers remain traceable across forms, leads and reporting.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8" y="41605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5008" y="4160520"/>
            <a:ext cx="73152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279392"/>
            <a:ext cx="31546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Shared attributes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4690872"/>
            <a:ext cx="3108960" cy="6400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120">
                <a:solidFill>
                  <a:srgbClr val="1E1E1E"/>
                </a:solidFill>
                <a:latin typeface="Aptos"/>
              </a:defRPr>
            </a:pPr>
            <a:r>
              <a:t>Business priority, stakeholder unit, campaign/program context and Task ID/UTM attributes can be captured consistently.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What the POC should 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A narrow, evidence-driven POC gives management a clear decision gate before broader investment.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54480"/>
            <a:ext cx="73152" cy="169164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7335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20" b="1">
                <a:solidFill>
                  <a:srgbClr val="0B2340"/>
                </a:solidFill>
                <a:latin typeface="Aptos"/>
              </a:defRPr>
            </a:pPr>
            <a:r>
              <a:t>Integration 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84831"/>
            <a:ext cx="2971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Aptos"/>
              </a:defRPr>
            </a:pPr>
            <a:r>
              <a:t>Workfront can trigger CTT ID creation and receive generated IDs back as usable data attributes.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155448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7" y="1554480"/>
            <a:ext cx="73152" cy="1691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167335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20" b="1">
                <a:solidFill>
                  <a:srgbClr val="0B2340"/>
                </a:solidFill>
                <a:latin typeface="Aptos"/>
              </a:defRPr>
            </a:pPr>
            <a:r>
              <a:t>Reporting continuity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84831"/>
            <a:ext cx="2971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Aptos"/>
              </a:defRPr>
            </a:pPr>
            <a:r>
              <a:t>A pilot report can combine Workfront-originated activity with CTT-originated activity using the same attributes.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55448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554480"/>
            <a:ext cx="73152" cy="169164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7335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20" b="1">
                <a:solidFill>
                  <a:srgbClr val="0B2340"/>
                </a:solidFill>
                <a:latin typeface="Aptos"/>
              </a:defRPr>
            </a:pPr>
            <a:r>
              <a:t>Operational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084831"/>
            <a:ext cx="2971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Aptos"/>
              </a:defRPr>
            </a:pPr>
            <a:r>
              <a:t>Pilot users can request or approve activations without adding manual ID administration burden.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1188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611880"/>
            <a:ext cx="73152" cy="16916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73075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20" b="1">
                <a:solidFill>
                  <a:srgbClr val="0B2340"/>
                </a:solidFill>
                <a:latin typeface="Aptos"/>
              </a:defRPr>
            </a:pPr>
            <a:r>
              <a:t>Decommission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142232"/>
            <a:ext cx="2971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Aptos"/>
              </a:defRPr>
            </a:pPr>
            <a:r>
              <a:t>The POC produces a concrete backlog for replacing CTT dependencies and retiring legacy OCIDs.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7" y="361188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7" y="3611880"/>
            <a:ext cx="73152" cy="1691640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373075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20" b="1">
                <a:solidFill>
                  <a:srgbClr val="0B2340"/>
                </a:solidFill>
                <a:latin typeface="Aptos"/>
              </a:defRPr>
            </a:pPr>
            <a:r>
              <a:t>Governance 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142232"/>
            <a:ext cx="2971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Aptos"/>
              </a:defRPr>
            </a:pPr>
            <a:r>
              <a:t>Data definitions for FY27 reporting can be applied consistently across Workfront and CTT.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3611880"/>
            <a:ext cx="3337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56448" y="3611880"/>
            <a:ext cx="73152" cy="1691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73075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20" b="1">
                <a:solidFill>
                  <a:srgbClr val="0B2340"/>
                </a:solidFill>
                <a:latin typeface="Aptos"/>
              </a:defRPr>
            </a:pPr>
            <a:r>
              <a:t>Risk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142232"/>
            <a:ext cx="2971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Aptos"/>
              </a:defRPr>
            </a:pPr>
            <a:r>
              <a:t>Teams not yet in Workfront can continue to operate while the company validates the target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Recommended POC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Keep the proof focused enough to deliver evidence, but broad enough to test the real operating constraints.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6517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53619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1. Data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947672"/>
            <a:ext cx="2286000" cy="39319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230">
                <a:solidFill>
                  <a:srgbClr val="1E1E1E"/>
                </a:solidFill>
                <a:latin typeface="Aptos"/>
              </a:defRPr>
            </a:pPr>
            <a:r>
              <a:t>Define required Workfront-aligned attributes for FY27 reporting.</a:t>
            </a:r>
          </a:p>
          <a:p>
            <a:pPr>
              <a:buChar char="•"/>
              <a:spcAft>
                <a:spcPts val="200"/>
              </a:spcAft>
              <a:defRPr sz="1230">
                <a:solidFill>
                  <a:srgbClr val="1E1E1E"/>
                </a:solidFill>
                <a:latin typeface="Aptos"/>
              </a:defRPr>
            </a:pPr>
            <a:r>
              <a:t>Identify which fields must live in CTT during the bridge period.</a:t>
            </a:r>
          </a:p>
          <a:p>
            <a:pPr>
              <a:buChar char="•"/>
              <a:spcAft>
                <a:spcPts val="200"/>
              </a:spcAft>
              <a:defRPr sz="1230">
                <a:solidFill>
                  <a:srgbClr val="1E1E1E"/>
                </a:solidFill>
                <a:latin typeface="Aptos"/>
              </a:defRPr>
            </a:pPr>
            <a:r>
              <a:t>Document mapping between Workfront Task ID, Activity ID, Offer ID and UTM_ID.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417320"/>
            <a:ext cx="26517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417320"/>
            <a:ext cx="73152" cy="45262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153619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2.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947672"/>
            <a:ext cx="2286000" cy="39319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230">
                <a:solidFill>
                  <a:srgbClr val="1E1E1E"/>
                </a:solidFill>
                <a:latin typeface="Aptos"/>
              </a:defRPr>
            </a:pPr>
            <a:r>
              <a:t>Create Activity IDs for selected Workfront channel activations.</a:t>
            </a:r>
          </a:p>
          <a:p>
            <a:pPr>
              <a:buChar char="•"/>
              <a:spcAft>
                <a:spcPts val="200"/>
              </a:spcAft>
              <a:defRPr sz="1230">
                <a:solidFill>
                  <a:srgbClr val="1E1E1E"/>
                </a:solidFill>
                <a:latin typeface="Aptos"/>
              </a:defRPr>
            </a:pPr>
            <a:r>
              <a:t>Create Offer IDs for selected Workfront content activations.</a:t>
            </a:r>
          </a:p>
          <a:p>
            <a:pPr>
              <a:buChar char="•"/>
              <a:spcAft>
                <a:spcPts val="200"/>
              </a:spcAft>
              <a:defRPr sz="1230">
                <a:solidFill>
                  <a:srgbClr val="1E1E1E"/>
                </a:solidFill>
                <a:latin typeface="Aptos"/>
              </a:defRPr>
            </a:pPr>
            <a:r>
              <a:t>Write generated IDs and attributes back to Workfront.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26517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73152" cy="4526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53619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3. Reporting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947672"/>
            <a:ext cx="2286000" cy="39319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230">
                <a:solidFill>
                  <a:srgbClr val="1E1E1E"/>
                </a:solidFill>
                <a:latin typeface="Aptos"/>
              </a:defRPr>
            </a:pPr>
            <a:r>
              <a:t>Build a pilot dataset spanning Workfront-originated and CTT-originated activity.</a:t>
            </a:r>
          </a:p>
          <a:p>
            <a:pPr>
              <a:buChar char="•"/>
              <a:spcAft>
                <a:spcPts val="200"/>
              </a:spcAft>
              <a:defRPr sz="1230">
                <a:solidFill>
                  <a:srgbClr val="1E1E1E"/>
                </a:solidFill>
                <a:latin typeface="Aptos"/>
              </a:defRPr>
            </a:pPr>
            <a:r>
              <a:t>Validate that online, offline and non-Workfront activity can be segmented consistently.</a:t>
            </a:r>
          </a:p>
          <a:p>
            <a:pPr>
              <a:buChar char="•"/>
              <a:spcAft>
                <a:spcPts val="200"/>
              </a:spcAft>
              <a:defRPr sz="1230">
                <a:solidFill>
                  <a:srgbClr val="1E1E1E"/>
                </a:solidFill>
                <a:latin typeface="Aptos"/>
              </a:defRPr>
            </a:pPr>
            <a:r>
              <a:t>Compare outputs to current attribution/funnel reporting expectations.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417320"/>
            <a:ext cx="2286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417320"/>
            <a:ext cx="73152" cy="45262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1536192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4. Exit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1947672"/>
            <a:ext cx="1920240" cy="39319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230">
                <a:solidFill>
                  <a:srgbClr val="1E1E1E"/>
                </a:solidFill>
                <a:latin typeface="Aptos"/>
              </a:defRPr>
            </a:pPr>
            <a:r>
              <a:t>Produce cutover criteria.</a:t>
            </a:r>
          </a:p>
          <a:p>
            <a:pPr>
              <a:buChar char="•"/>
              <a:spcAft>
                <a:spcPts val="200"/>
              </a:spcAft>
              <a:defRPr sz="1230">
                <a:solidFill>
                  <a:srgbClr val="1E1E1E"/>
                </a:solidFill>
                <a:latin typeface="Aptos"/>
              </a:defRPr>
            </a:pPr>
            <a:r>
              <a:t>Identify decommission blockers.</a:t>
            </a:r>
          </a:p>
          <a:p>
            <a:pPr>
              <a:buChar char="•"/>
              <a:spcAft>
                <a:spcPts val="200"/>
              </a:spcAft>
              <a:defRPr sz="1230">
                <a:solidFill>
                  <a:srgbClr val="1E1E1E"/>
                </a:solidFill>
                <a:latin typeface="Aptos"/>
              </a:defRPr>
            </a:pPr>
            <a:r>
              <a:t>Create a prioritized integration and reporting migration backlog.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Phased delivery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Each phase creates a decommission asset, not just a temporary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Oval 7"/>
          <p:cNvSpPr/>
          <p:nvPr/>
        </p:nvSpPr>
        <p:spPr>
          <a:xfrm>
            <a:off x="1581912" y="1508760"/>
            <a:ext cx="914400" cy="9144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3664" y="1737360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0B2340"/>
                </a:solidFill>
                <a:latin typeface="Aptos"/>
              </a:defRPr>
            </a:pPr>
            <a:r>
              <a:t>Align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46888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40" b="0">
                <a:solidFill>
                  <a:srgbClr val="1E1E1E"/>
                </a:solidFill>
                <a:latin typeface="Aptos"/>
              </a:defRPr>
            </a:pPr>
            <a:r>
              <a:t>Confirm POC pilot, success metrics, target attributes and governance owners.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1965960"/>
            <a:ext cx="594360" cy="0"/>
          </a:xfrm>
          <a:prstGeom prst="line">
            <a:avLst/>
          </a:prstGeom>
          <a:ln w="19050">
            <a:solidFill>
              <a:srgbClr val="62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398264" y="1508760"/>
            <a:ext cx="914400" cy="914400"/>
          </a:xfrm>
          <a:prstGeom prst="ellipse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737360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0B2340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063240"/>
            <a:ext cx="246888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40" b="0">
                <a:solidFill>
                  <a:srgbClr val="1E1E1E"/>
                </a:solidFill>
                <a:latin typeface="Aptos"/>
              </a:defRPr>
            </a:pPr>
            <a:r>
              <a:t>Configure CTT fields and Workfront-to-CTT ID creation/write-back flow.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88152" y="1965960"/>
            <a:ext cx="594360" cy="0"/>
          </a:xfrm>
          <a:prstGeom prst="line">
            <a:avLst/>
          </a:prstGeom>
          <a:ln w="19050">
            <a:solidFill>
              <a:srgbClr val="62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214616" y="1508760"/>
            <a:ext cx="914400" cy="914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1737360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5704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0B2340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063240"/>
            <a:ext cx="246888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40" b="0">
                <a:solidFill>
                  <a:srgbClr val="1E1E1E"/>
                </a:solidFill>
                <a:latin typeface="Aptos"/>
              </a:defRPr>
            </a:pPr>
            <a:r>
              <a:t>Run pilot activations, reconcile data quality and prove reporting continuity.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04504" y="1965960"/>
            <a:ext cx="594360" cy="0"/>
          </a:xfrm>
          <a:prstGeom prst="line">
            <a:avLst/>
          </a:prstGeom>
          <a:ln w="19050">
            <a:solidFill>
              <a:srgbClr val="62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030968" y="1508760"/>
            <a:ext cx="914400" cy="914400"/>
          </a:xfrm>
          <a:prstGeom prst="ellipse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1737360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26060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0B234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3063240"/>
            <a:ext cx="246888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40" b="0">
                <a:solidFill>
                  <a:srgbClr val="1E1E1E"/>
                </a:solidFill>
                <a:latin typeface="Aptos"/>
              </a:defRPr>
            </a:pPr>
            <a:r>
              <a:t>Document scale path, dependency backlog, cutover criteria and decommission guardrails.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709160"/>
            <a:ext cx="10561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709160"/>
            <a:ext cx="73152" cy="777240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4828032"/>
            <a:ext cx="10241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1">
                <a:solidFill>
                  <a:srgbClr val="0B2340"/>
                </a:solidFill>
                <a:latin typeface="Aptos"/>
              </a:defRPr>
            </a:pPr>
            <a:r>
              <a:t>Decision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239512"/>
            <a:ext cx="10195560" cy="1828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1E1E1E"/>
                </a:solidFill>
                <a:latin typeface="Aptos"/>
              </a:defRPr>
            </a:pPr>
            <a:r>
              <a:t>Proceed to broader rollout only if the pilot proves reliable ID creation, consistent data attributes, reporting continuity and a credible path to retire CTT dependencies.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Success measures for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The POC should end with measurable evidence that the bridge improves transition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920240" cy="384048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Pilot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453896"/>
            <a:ext cx="8183879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Aptos"/>
              </a:defRPr>
            </a:pPr>
            <a:r>
              <a:t>100% of selected Workfront activations receive the expected Activity or Offer 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30552"/>
            <a:ext cx="1920240" cy="384048"/>
          </a:xfrm>
          <a:prstGeom prst="round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Write-back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67128"/>
            <a:ext cx="8183879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Aptos"/>
              </a:defRPr>
            </a:pPr>
            <a:r>
              <a:t>Generated IDs and agreed attributes are populated back in Workfront with no manual re-keying.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43784"/>
            <a:ext cx="1920240" cy="38404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35224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Reporting continuity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880360"/>
            <a:ext cx="8183879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Aptos"/>
              </a:defRPr>
            </a:pPr>
            <a:r>
              <a:t>Pilot reports reconcile Workfront-originated and non-Workfront activity under the same data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57015"/>
            <a:ext cx="1920240" cy="384048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48456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Data completeness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593591"/>
            <a:ext cx="8183879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Aptos"/>
              </a:defRPr>
            </a:pPr>
            <a:r>
              <a:t>Required FY27 attributes are present for pilot records and usable by reporting teams.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70248"/>
            <a:ext cx="1920240" cy="384048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61688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Dependency clarity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306824"/>
            <a:ext cx="8183879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Aptos"/>
              </a:defRPr>
            </a:pPr>
            <a:r>
              <a:t>Impacted tools/processes are categorized as retain, integrate, replace, or retire.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83480"/>
            <a:ext cx="1920240" cy="38404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Decommission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020056"/>
            <a:ext cx="8183879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Aptos"/>
              </a:defRPr>
            </a:pPr>
            <a:r>
              <a:t>Management receives go/no-go criteria, blockers, and a scale/decommission backlog.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Risks and how the POC controls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The proposal acknowledges the target decommission outcome while reducing transition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73152" cy="621792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36192"/>
            <a:ext cx="10378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1">
                <a:solidFill>
                  <a:srgbClr val="0B2340"/>
                </a:solidFill>
                <a:latin typeface="Aptos"/>
              </a:defRPr>
            </a:pPr>
            <a:r>
              <a:t>Risk: POC is seen as extending CTT 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47672"/>
            <a:ext cx="10332719" cy="274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050" b="0">
                <a:solidFill>
                  <a:srgbClr val="1E1E1E"/>
                </a:solidFill>
                <a:latin typeface="Aptos"/>
              </a:defRPr>
            </a:pPr>
            <a:r>
              <a:t>Control: Define CTT as a temporary compatibility layer, with explicit exit criteria and decommission backlog.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86000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73152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404872"/>
            <a:ext cx="10378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1">
                <a:solidFill>
                  <a:srgbClr val="0B2340"/>
                </a:solidFill>
                <a:latin typeface="Aptos"/>
              </a:defRPr>
            </a:pPr>
            <a:r>
              <a:t>Risk: reporting logic diverges between Workfront and CTT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16352"/>
            <a:ext cx="10332719" cy="274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050" b="0">
                <a:solidFill>
                  <a:srgbClr val="1E1E1E"/>
                </a:solidFill>
                <a:latin typeface="Aptos"/>
              </a:defRPr>
            </a:pPr>
            <a:r>
              <a:t>Control: Govern a shared attribute dictionary and validate pilot reports before scale.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54680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154680"/>
            <a:ext cx="73152" cy="621792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273552"/>
            <a:ext cx="10378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1">
                <a:solidFill>
                  <a:srgbClr val="0B2340"/>
                </a:solidFill>
                <a:latin typeface="Aptos"/>
              </a:defRPr>
            </a:pPr>
            <a:r>
              <a:t>Risk: downstream systems cannot absorb changes quickly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685032"/>
            <a:ext cx="10332719" cy="274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050" b="0">
                <a:solidFill>
                  <a:srgbClr val="1E1E1E"/>
                </a:solidFill>
                <a:latin typeface="Aptos"/>
              </a:defRPr>
            </a:pPr>
            <a:r>
              <a:t>Control: Avoid relying on immediate SFDC changes; prove Workfront/CTT data capture first.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23359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23359"/>
            <a:ext cx="73152" cy="621792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142231"/>
            <a:ext cx="10378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1">
                <a:solidFill>
                  <a:srgbClr val="0B2340"/>
                </a:solidFill>
                <a:latin typeface="Aptos"/>
              </a:defRPr>
            </a:pPr>
            <a:r>
              <a:t>Risk: scope grows into full decommission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53712"/>
            <a:ext cx="10332719" cy="274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050" b="0">
                <a:solidFill>
                  <a:srgbClr val="1E1E1E"/>
                </a:solidFill>
                <a:latin typeface="Aptos"/>
              </a:defRPr>
            </a:pPr>
            <a:r>
              <a:t>Control: Limit POC to a pilot flow, a reporting prototype and a readiness backlog.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892040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892040"/>
            <a:ext cx="73152" cy="62179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010912"/>
            <a:ext cx="10378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1">
                <a:solidFill>
                  <a:srgbClr val="0B2340"/>
                </a:solidFill>
                <a:latin typeface="Aptos"/>
              </a:defRPr>
            </a:pPr>
            <a:r>
              <a:t>Risk: not all marketing activity is in Workfront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422392"/>
            <a:ext cx="10332719" cy="274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050" b="0">
                <a:solidFill>
                  <a:srgbClr val="1E1E1E"/>
                </a:solidFill>
                <a:latin typeface="Aptos"/>
              </a:defRPr>
            </a:pPr>
            <a:r>
              <a:t>Control: Allow non-Workfront teams to keep using CTT IDs with the same future-state attributes during transition.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Decision requested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Approve a POC that accelerates the Workfront future state without creating a reporting cliff.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36192"/>
            <a:ext cx="33375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36192"/>
            <a:ext cx="73152" cy="3063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655064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66543"/>
            <a:ext cx="2971800" cy="2468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320">
                <a:solidFill>
                  <a:srgbClr val="1E1E1E"/>
                </a:solidFill>
                <a:latin typeface="Aptos"/>
              </a:defRPr>
            </a:pPr>
            <a:r>
              <a:t>A Workfront + CTT integration proof of concept.</a:t>
            </a:r>
          </a:p>
          <a:p>
            <a:pPr>
              <a:buChar char="•"/>
              <a:spcAft>
                <a:spcPts val="200"/>
              </a:spcAft>
              <a:defRPr sz="1320">
                <a:solidFill>
                  <a:srgbClr val="1E1E1E"/>
                </a:solidFill>
                <a:latin typeface="Aptos"/>
              </a:defRPr>
            </a:pPr>
            <a:r>
              <a:t>A pilot business area or activation type.</a:t>
            </a:r>
          </a:p>
          <a:p>
            <a:pPr>
              <a:buChar char="•"/>
              <a:spcAft>
                <a:spcPts val="200"/>
              </a:spcAft>
              <a:defRPr sz="1320">
                <a:solidFill>
                  <a:srgbClr val="1E1E1E"/>
                </a:solidFill>
                <a:latin typeface="Aptos"/>
              </a:defRPr>
            </a:pPr>
            <a:r>
              <a:t>A shared success scorecard for data, process and reporting.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36192"/>
            <a:ext cx="33375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36192"/>
            <a:ext cx="73152" cy="306324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655064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Assign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66543"/>
            <a:ext cx="2971800" cy="2468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320">
                <a:solidFill>
                  <a:srgbClr val="1E1E1E"/>
                </a:solidFill>
                <a:latin typeface="Aptos"/>
              </a:defRPr>
            </a:pPr>
            <a:r>
              <a:t>Workfront owner for pilot configuration and Task ID attributes.</a:t>
            </a:r>
          </a:p>
          <a:p>
            <a:pPr>
              <a:buChar char="•"/>
              <a:spcAft>
                <a:spcPts val="200"/>
              </a:spcAft>
              <a:defRPr sz="1320">
                <a:solidFill>
                  <a:srgbClr val="1E1E1E"/>
                </a:solidFill>
                <a:latin typeface="Aptos"/>
              </a:defRPr>
            </a:pPr>
            <a:r>
              <a:t>CTT/integration owner for ID creation and write-back.</a:t>
            </a:r>
          </a:p>
          <a:p>
            <a:pPr>
              <a:buChar char="•"/>
              <a:spcAft>
                <a:spcPts val="200"/>
              </a:spcAft>
              <a:defRPr sz="1320">
                <a:solidFill>
                  <a:srgbClr val="1E1E1E"/>
                </a:solidFill>
                <a:latin typeface="Aptos"/>
              </a:defRPr>
            </a:pPr>
            <a:r>
              <a:t>Reporting owner to validate outputs against current attribution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36192"/>
            <a:ext cx="33375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536192"/>
            <a:ext cx="73152" cy="30632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655064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Expect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066543"/>
            <a:ext cx="2971800" cy="2468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320">
                <a:solidFill>
                  <a:srgbClr val="1E1E1E"/>
                </a:solidFill>
                <a:latin typeface="Aptos"/>
              </a:defRPr>
            </a:pPr>
            <a:r>
              <a:t>A working pilot flow.</a:t>
            </a:r>
          </a:p>
          <a:p>
            <a:pPr>
              <a:buChar char="•"/>
              <a:spcAft>
                <a:spcPts val="200"/>
              </a:spcAft>
              <a:defRPr sz="1320">
                <a:solidFill>
                  <a:srgbClr val="1E1E1E"/>
                </a:solidFill>
                <a:latin typeface="Aptos"/>
              </a:defRPr>
            </a:pPr>
            <a:r>
              <a:t>A validated reporting proof.</a:t>
            </a:r>
          </a:p>
          <a:p>
            <a:pPr>
              <a:buChar char="•"/>
              <a:spcAft>
                <a:spcPts val="200"/>
              </a:spcAft>
              <a:defRPr sz="1320">
                <a:solidFill>
                  <a:srgbClr val="1E1E1E"/>
                </a:solidFill>
                <a:latin typeface="Aptos"/>
              </a:defRPr>
            </a:pPr>
            <a:r>
              <a:t>A scale/decommission recommendation with dependencies, blockers and investment needs.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257800"/>
            <a:ext cx="10104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0B2340"/>
                </a:solidFill>
                <a:latin typeface="Aptos"/>
              </a:defRPr>
            </a:pPr>
            <a:r>
              <a:t>Bottom line: this investment helps us learn faster, protect business insight, and prepare CTT to be safely decommissioned as Workfront becomes ready.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Appendix: source evidence used to shape the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Key facts extracted from the supplied proposal, decommissioning, impact and dependency materials.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448056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536192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Overview of My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947672"/>
            <a:ext cx="3200400" cy="38862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150">
                <a:solidFill>
                  <a:srgbClr val="1E1E1E"/>
                </a:solidFill>
                <a:latin typeface="Aptos"/>
              </a:defRPr>
            </a:pPr>
            <a:r>
              <a:t>Goal remains to decommission CTT and use Workfront data.</a:t>
            </a:r>
          </a:p>
          <a:p>
            <a:pPr>
              <a:buChar char="•"/>
              <a:spcAft>
                <a:spcPts val="200"/>
              </a:spcAft>
              <a:defRPr sz="1150">
                <a:solidFill>
                  <a:srgbClr val="1E1E1E"/>
                </a:solidFill>
                <a:latin typeface="Aptos"/>
              </a:defRPr>
            </a:pPr>
            <a:r>
              <a:t>Limitations: incomplete Workfront adoption, SFDC constraints, embedded CTT integrations, attribution/funnel reliance, future automation uncertainty.</a:t>
            </a:r>
          </a:p>
          <a:p>
            <a:pPr>
              <a:buChar char="•"/>
              <a:spcAft>
                <a:spcPts val="200"/>
              </a:spcAft>
              <a:defRPr sz="1150">
                <a:solidFill>
                  <a:srgbClr val="1E1E1E"/>
                </a:solidFill>
                <a:latin typeface="Aptos"/>
              </a:defRPr>
            </a:pPr>
            <a:r>
              <a:t>Proposal: add needed reporting attributes to CTT and integrate Workfront with CTT for ID creation/write-back.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73152" cy="4480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36192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Decommission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947672"/>
            <a:ext cx="3200400" cy="38862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150">
                <a:solidFill>
                  <a:srgbClr val="1E1E1E"/>
                </a:solidFill>
                <a:latin typeface="Aptos"/>
              </a:defRPr>
            </a:pPr>
            <a:r>
              <a:t>Future state moves to Workfront Task ID and UTM values.</a:t>
            </a:r>
          </a:p>
          <a:p>
            <a:pPr>
              <a:buChar char="•"/>
              <a:spcAft>
                <a:spcPts val="200"/>
              </a:spcAft>
              <a:defRPr sz="1150">
                <a:solidFill>
                  <a:srgbClr val="1E1E1E"/>
                </a:solidFill>
                <a:latin typeface="Aptos"/>
              </a:defRPr>
            </a:pPr>
            <a:r>
              <a:t>CTT currently touches Allocadia, Eloqua, SFDC, Tray, VDC, marketing automation, web and reporting.</a:t>
            </a:r>
          </a:p>
          <a:p>
            <a:pPr>
              <a:buChar char="•"/>
              <a:spcAft>
                <a:spcPts val="200"/>
              </a:spcAft>
              <a:defRPr sz="1150">
                <a:solidFill>
                  <a:srgbClr val="1E1E1E"/>
                </a:solidFill>
                <a:latin typeface="Aptos"/>
              </a:defRPr>
            </a:pPr>
            <a:r>
              <a:t>Enhanced requirements capture both driving initiative (UTM_ID / Marketing Task ID) and consumed offer/page context (Page Task ID).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246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73152" cy="448056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536192"/>
            <a:ext cx="29260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Impact and dependency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47672"/>
            <a:ext cx="2880360" cy="38862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150">
                <a:solidFill>
                  <a:srgbClr val="1E1E1E"/>
                </a:solidFill>
                <a:latin typeface="Aptos"/>
              </a:defRPr>
            </a:pPr>
            <a:r>
              <a:t>Activity, Offer and Drive To IDs support lead creation, campaign creation, ctm.js logic, Eloqua, Tray and reporting.</a:t>
            </a:r>
          </a:p>
          <a:p>
            <a:pPr>
              <a:buChar char="•"/>
              <a:spcAft>
                <a:spcPts val="200"/>
              </a:spcAft>
              <a:defRPr sz="1150">
                <a:solidFill>
                  <a:srgbClr val="1E1E1E"/>
                </a:solidFill>
                <a:latin typeface="Aptos"/>
              </a:defRPr>
            </a:pPr>
            <a:r>
              <a:t>Spreadsheet shows 28 CCID dependency entries: 16 mandatory, 2 conditional and 10 optional.</a:t>
            </a:r>
          </a:p>
          <a:p>
            <a:pPr>
              <a:buChar char="•"/>
              <a:spcAft>
                <a:spcPts val="200"/>
              </a:spcAft>
              <a:defRPr sz="1150">
                <a:solidFill>
                  <a:srgbClr val="1E1E1E"/>
                </a:solidFill>
                <a:latin typeface="Aptos"/>
              </a:defRPr>
            </a:pPr>
            <a:r>
              <a:t>Evidence supports a POC before broad decommissioning.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0B2340"/>
                </a:solidFill>
                <a:latin typeface="Aptos Display"/>
              </a:defRPr>
            </a:pPr>
            <a:r>
              <a:t>Appendix: POC deliverables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707D"/>
                </a:solidFill>
                <a:latin typeface="Aptos"/>
              </a:defRPr>
            </a:pPr>
            <a:r>
              <a:t>Use this as a working checklist when scoping the proof of concept.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2707D"/>
                </a:solidFill>
                <a:latin typeface="Aptos"/>
              </a:defRPr>
            </a:pPr>
            <a:r>
              <a:t>Workfront + CTT Integration POC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2707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51663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08760"/>
            <a:ext cx="73152" cy="43434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27631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Build and data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39112"/>
            <a:ext cx="4800600" cy="3749039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Pilot journey and activation type selected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Workfront fields/data dictionary approved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CTT fields added for Workfront-aligned attributes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Integration event and error handling defined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Activity ID and Offer ID creation rules agreed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Write-back fields available in Workfront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1663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73152" cy="4343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27631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340"/>
                </a:solidFill>
                <a:latin typeface="Aptos"/>
              </a:defRPr>
            </a:pPr>
            <a:r>
              <a:t>Reporting and decision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39112"/>
            <a:ext cx="4800600" cy="3749039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Pilot report/dashboard built from agreed dataset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Online/offline/non-Workfront reporting comparison completed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Legacy ID mapping and dependency backlog drafted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Scale options and decommission blockers documented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Go/no-go criteria presented to management</a:t>
            </a:r>
          </a:p>
          <a:p>
            <a:pPr>
              <a:buChar char="•"/>
              <a:spcAft>
                <a:spcPts val="2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Next-phase investment recommendation prepared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Workfront + CTT Integration POC Proposal</dc:title>
  <dc:subject>Proposal to fund a proof of concept integration between Workfront and CTT while preparing CTT for decommissioning</dc:subject>
  <dc:creator>Cursor Cloud Agent</dc:creator>
  <cp:keywords/>
  <dc:description>Generated from supplied source documents in the workspace.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