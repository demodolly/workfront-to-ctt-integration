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21"/>
  </p:notesMasterIdLst>
  <p:sldIdLst>
    <p:sldId id="256" r:id="rId5"/>
    <p:sldId id="2147471103" r:id="rId6"/>
    <p:sldId id="2147471104" r:id="rId7"/>
    <p:sldId id="2147471105" r:id="rId8"/>
    <p:sldId id="2147471106" r:id="rId9"/>
    <p:sldId id="269" r:id="rId10"/>
    <p:sldId id="263" r:id="rId11"/>
    <p:sldId id="268" r:id="rId12"/>
    <p:sldId id="266" r:id="rId13"/>
    <p:sldId id="267" r:id="rId14"/>
    <p:sldId id="2147471108" r:id="rId15"/>
    <p:sldId id="258" r:id="rId16"/>
    <p:sldId id="259" r:id="rId17"/>
    <p:sldId id="260" r:id="rId18"/>
    <p:sldId id="265" r:id="rId19"/>
    <p:sldId id="2147471109" r:id="rId20"/>
  </p:sldIdLst>
  <p:sldSz cx="12192000" cy="6858000"/>
  <p:notesSz cx="6858000" cy="9144000"/>
  <p:embeddedFontLst>
    <p:embeddedFont>
      <p:font typeface="ＭＳ Ｐゴシック" panose="020B0600070205080204" pitchFamily="34" charset="-128"/>
      <p:regular r:id="rId22"/>
    </p:embeddedFont>
    <p:embeddedFont>
      <p:font typeface="CiscoSansTT" panose="020B0503020201020303" pitchFamily="34" charset="0"/>
      <p:regular r:id="rId23"/>
      <p:bold r:id="rId24"/>
      <p:italic r:id="rId25"/>
      <p:boldItalic r:id="rId26"/>
    </p:embeddedFont>
    <p:embeddedFont>
      <p:font typeface="CiscoSansTT Medium" panose="020B0903020201020303" pitchFamily="34" charset="0"/>
      <p:regular r:id="rId27"/>
      <p:italic r:id="rId28"/>
    </p:embeddedFont>
    <p:embeddedFont>
      <p:font typeface="Impact" panose="020B0806030902050204" pitchFamily="3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F26B43"/>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957816-29F3-4DEE-A8B0-5B62904CFA77}" v="133" dt="2026-06-24T14:27:30.9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varScale="1">
        <p:scale>
          <a:sx n="81" d="100"/>
          <a:sy n="81" d="100"/>
        </p:scale>
        <p:origin x="405" y="36"/>
      </p:cViewPr>
      <p:guideLst>
        <p:guide pos="3840"/>
        <p:guide orient="horz" pos="216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5.fntdata"/><Relationship Id="rId3" Type="http://schemas.openxmlformats.org/officeDocument/2006/relationships/customXml" Target="../customXml/item3.xml"/><Relationship Id="rId21" Type="http://schemas.openxmlformats.org/officeDocument/2006/relationships/notesMaster" Target="notesMasters/notesMaster1.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557371-E70A-4EBA-BB77-5B074EA2B990}" type="datetimeFigureOut">
              <a:rPr lang="en-GB" smtClean="0"/>
              <a:t>07/07/2026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4CC98C-0C78-4D50-A901-D3D5DC7AB26F}" type="slidenum">
              <a:rPr lang="en-GB" smtClean="0"/>
              <a:t>‹#›</a:t>
            </a:fld>
            <a:endParaRPr lang="en-GB"/>
          </a:p>
        </p:txBody>
      </p:sp>
    </p:spTree>
    <p:extLst>
      <p:ext uri="{BB962C8B-B14F-4D97-AF65-F5344CB8AC3E}">
        <p14:creationId xmlns:p14="http://schemas.microsoft.com/office/powerpoint/2010/main" val="3919815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C4CC98C-0C78-4D50-A901-D3D5DC7AB26F}" type="slidenum">
              <a:rPr lang="en-GB" smtClean="0"/>
              <a:t>7</a:t>
            </a:fld>
            <a:endParaRPr lang="en-GB"/>
          </a:p>
        </p:txBody>
      </p:sp>
    </p:spTree>
    <p:extLst>
      <p:ext uri="{BB962C8B-B14F-4D97-AF65-F5344CB8AC3E}">
        <p14:creationId xmlns:p14="http://schemas.microsoft.com/office/powerpoint/2010/main" val="34640789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1, Two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368B8A-B8FA-06EC-E6D8-DF0F60F2EFDC}"/>
              </a:ext>
            </a:extLst>
          </p:cNvPr>
          <p:cNvSpPr>
            <a:spLocks noGrp="1"/>
          </p:cNvSpPr>
          <p:nvPr>
            <p:ph type="title" hasCustomPrompt="1"/>
          </p:nvPr>
        </p:nvSpPr>
        <p:spPr>
          <a:xfrm>
            <a:off x="323850" y="1871345"/>
            <a:ext cx="5048063" cy="1555148"/>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512820"/>
            <a:ext cx="5048063" cy="228600"/>
          </a:xfrm>
          <a:noFill/>
        </p:spPr>
        <p:txBody>
          <a:bodyPr/>
          <a:lstStyle>
            <a:lvl1pPr marL="0" indent="0">
              <a:buNone/>
              <a:defRPr sz="1600" b="0"/>
            </a:lvl1pPr>
          </a:lstStyle>
          <a:p>
            <a:pPr lvl="0"/>
            <a:r>
              <a:rPr lang="en-US" dirty="0"/>
              <a:t>Subtitle</a:t>
            </a:r>
          </a:p>
        </p:txBody>
      </p:sp>
      <p:sp>
        <p:nvSpPr>
          <p:cNvPr id="13" name="Text Placeholder 12">
            <a:extLst>
              <a:ext uri="{FF2B5EF4-FFF2-40B4-BE49-F238E27FC236}">
                <a16:creationId xmlns:a16="http://schemas.microsoft.com/office/drawing/2014/main" id="{79E2B63B-5B68-90B7-7A62-17A839591C96}"/>
              </a:ext>
            </a:extLst>
          </p:cNvPr>
          <p:cNvSpPr>
            <a:spLocks noGrp="1"/>
          </p:cNvSpPr>
          <p:nvPr>
            <p:ph type="body" sz="quarter" idx="16" hasCustomPrompt="1"/>
          </p:nvPr>
        </p:nvSpPr>
        <p:spPr>
          <a:xfrm>
            <a:off x="323851" y="4061400"/>
            <a:ext cx="5048090" cy="457200"/>
          </a:xfrm>
        </p:spPr>
        <p:txBody>
          <a:bodyPr anchor="t" anchorCtr="0"/>
          <a:lstStyle>
            <a:lvl1pPr marL="0" indent="0">
              <a:spcBef>
                <a:spcPts val="0"/>
              </a:spcBef>
              <a:spcAft>
                <a:spcPts val="0"/>
              </a:spcAft>
              <a:buNone/>
              <a:defRPr lang="en-US" sz="1400" kern="1200" dirty="0" smtClean="0">
                <a:solidFill>
                  <a:schemeClr val="bg1"/>
                </a:solidFill>
                <a:latin typeface="+mn-lt"/>
                <a:ea typeface="ＭＳ Ｐゴシック" charset="0"/>
                <a:cs typeface="CiscoSans"/>
              </a:defRPr>
            </a:lvl1pPr>
          </a:lstStyle>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Name</a:t>
            </a:r>
          </a:p>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Title placeholder, @social</a:t>
            </a:r>
          </a:p>
        </p:txBody>
      </p:sp>
      <p:sp>
        <p:nvSpPr>
          <p:cNvPr id="4" name="Text Placeholder 5">
            <a:extLst>
              <a:ext uri="{FF2B5EF4-FFF2-40B4-BE49-F238E27FC236}">
                <a16:creationId xmlns:a16="http://schemas.microsoft.com/office/drawing/2014/main" id="{80638510-2998-9359-2A51-B0CA834B6203}"/>
              </a:ext>
            </a:extLst>
          </p:cNvPr>
          <p:cNvSpPr>
            <a:spLocks noGrp="1"/>
          </p:cNvSpPr>
          <p:nvPr>
            <p:ph type="body" sz="quarter" idx="14" hasCustomPrompt="1"/>
          </p:nvPr>
        </p:nvSpPr>
        <p:spPr>
          <a:xfrm>
            <a:off x="323850" y="4676458"/>
            <a:ext cx="5047270" cy="459455"/>
          </a:xfrm>
          <a:noFill/>
        </p:spPr>
        <p:txBody>
          <a:bodyPr anchor="t" anchorCtr="0"/>
          <a:lstStyle>
            <a:lvl1pPr marL="0" indent="0">
              <a:spcAft>
                <a:spcPts val="0"/>
              </a:spcAft>
              <a:buNone/>
              <a:defRPr sz="1400"/>
            </a:lvl1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4643" y="6360518"/>
            <a:ext cx="3906838" cy="497482"/>
          </a:xfrm>
          <a:noFill/>
        </p:spPr>
        <p:txBody>
          <a:bodyPr/>
          <a:lstStyle>
            <a:lvl1pPr marL="0" indent="0" algn="l">
              <a:buNone/>
              <a:defRPr sz="1400">
                <a:solidFill>
                  <a:schemeClr val="bg2"/>
                </a:solidFill>
              </a:defRPr>
            </a:lvl1pPr>
          </a:lstStyle>
          <a:p>
            <a:pPr lvl="0"/>
            <a:r>
              <a:rPr lang="en-US" dirty="0"/>
              <a:t>Date</a:t>
            </a:r>
          </a:p>
        </p:txBody>
      </p:sp>
      <p:sp>
        <p:nvSpPr>
          <p:cNvPr id="23" name="Graphic 21">
            <a:extLst>
              <a:ext uri="{FF2B5EF4-FFF2-40B4-BE49-F238E27FC236}">
                <a16:creationId xmlns:a16="http://schemas.microsoft.com/office/drawing/2014/main" id="{0B51E088-9CCC-0F69-112A-CEC9A65FA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nvSpPr>
        <p:spPr>
          <a:xfrm>
            <a:off x="6107248" y="781243"/>
            <a:ext cx="5303520" cy="5303520"/>
          </a:xfrm>
          <a:custGeom>
            <a:avLst/>
            <a:gdLst>
              <a:gd name="connsiteX0" fmla="*/ 5291567 w 5291566"/>
              <a:gd name="connsiteY0" fmla="*/ 2645783 h 5291566"/>
              <a:gd name="connsiteX1" fmla="*/ 2645783 w 5291566"/>
              <a:gd name="connsiteY1" fmla="*/ 5291567 h 5291566"/>
              <a:gd name="connsiteX2" fmla="*/ 0 w 5291566"/>
              <a:gd name="connsiteY2" fmla="*/ 2645783 h 5291566"/>
              <a:gd name="connsiteX3" fmla="*/ 2645783 w 5291566"/>
              <a:gd name="connsiteY3" fmla="*/ 0 h 5291566"/>
              <a:gd name="connsiteX4" fmla="*/ 5291567 w 5291566"/>
              <a:gd name="connsiteY4" fmla="*/ 2645783 h 5291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1566" h="5291566">
                <a:moveTo>
                  <a:pt x="5291567" y="2645783"/>
                </a:moveTo>
                <a:cubicBezTo>
                  <a:pt x="5291567" y="4107009"/>
                  <a:pt x="4107009" y="5291567"/>
                  <a:pt x="2645783" y="5291567"/>
                </a:cubicBezTo>
                <a:cubicBezTo>
                  <a:pt x="1184557" y="5291567"/>
                  <a:pt x="0" y="4107009"/>
                  <a:pt x="0" y="2645783"/>
                </a:cubicBezTo>
                <a:cubicBezTo>
                  <a:pt x="0" y="1184557"/>
                  <a:pt x="1184557" y="0"/>
                  <a:pt x="2645783" y="0"/>
                </a:cubicBezTo>
                <a:cubicBezTo>
                  <a:pt x="4107009" y="0"/>
                  <a:pt x="5291567" y="1184557"/>
                  <a:pt x="5291567" y="2645783"/>
                </a:cubicBezTo>
                <a:close/>
              </a:path>
            </a:pathLst>
          </a:custGeom>
          <a:solidFill>
            <a:schemeClr val="tx1"/>
          </a:solidFill>
          <a:ln w="50800" cap="flat">
            <a:gradFill flip="none" rotWithShape="1">
              <a:gsLst>
                <a:gs pos="0">
                  <a:srgbClr val="3070E5"/>
                </a:gs>
                <a:gs pos="35000">
                  <a:srgbClr val="1ABBE9"/>
                </a:gs>
                <a:gs pos="43000">
                  <a:srgbClr val="1ABBE9"/>
                </a:gs>
                <a:gs pos="60000">
                  <a:srgbClr val="FD017F"/>
                </a:gs>
                <a:gs pos="100000">
                  <a:srgbClr val="FCA601"/>
                </a:gs>
              </a:gsLst>
              <a:lin ang="0" scaled="1"/>
              <a:tileRect/>
            </a:gradFill>
            <a:prstDash val="solid"/>
            <a:miter/>
          </a:ln>
        </p:spPr>
        <p:txBody>
          <a:bodyPr rtlCol="0" anchor="ctr"/>
          <a:lstStyle/>
          <a:p>
            <a:endParaRPr lang="en-US" dirty="0"/>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281171" y="3181936"/>
            <a:ext cx="955675" cy="502135"/>
          </a:xfrm>
          <a:prstGeom prst="rect">
            <a:avLst/>
          </a:prstGeom>
        </p:spPr>
      </p:pic>
    </p:spTree>
    <p:extLst>
      <p:ext uri="{BB962C8B-B14F-4D97-AF65-F5344CB8AC3E}">
        <p14:creationId xmlns:p14="http://schemas.microsoft.com/office/powerpoint/2010/main" val="1601984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2, Two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60471"/>
            <a:ext cx="10888663" cy="435134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3964900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1, Four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0368B8A-B8FA-06EC-E6D8-DF0F60F2EFDC}"/>
              </a:ext>
            </a:extLst>
          </p:cNvPr>
          <p:cNvSpPr>
            <a:spLocks noGrp="1"/>
          </p:cNvSpPr>
          <p:nvPr>
            <p:ph type="title" hasCustomPrompt="1"/>
          </p:nvPr>
        </p:nvSpPr>
        <p:spPr>
          <a:xfrm>
            <a:off x="323850" y="1244600"/>
            <a:ext cx="5048063" cy="1555148"/>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2886075"/>
            <a:ext cx="5048063" cy="228600"/>
          </a:xfrm>
          <a:noFill/>
        </p:spPr>
        <p:txBody>
          <a:bodyPr/>
          <a:lstStyle>
            <a:lvl1pPr marL="0" indent="0">
              <a:buNone/>
              <a:defRPr sz="1600" b="0"/>
            </a:lvl1pPr>
          </a:lstStyle>
          <a:p>
            <a:pPr lvl="0"/>
            <a:r>
              <a:rPr lang="en-US" dirty="0"/>
              <a:t>Subtitle</a:t>
            </a:r>
          </a:p>
        </p:txBody>
      </p:sp>
      <p:sp>
        <p:nvSpPr>
          <p:cNvPr id="13" name="Text Placeholder 12">
            <a:extLst>
              <a:ext uri="{FF2B5EF4-FFF2-40B4-BE49-F238E27FC236}">
                <a16:creationId xmlns:a16="http://schemas.microsoft.com/office/drawing/2014/main" id="{79E2B63B-5B68-90B7-7A62-17A839591C96}"/>
              </a:ext>
            </a:extLst>
          </p:cNvPr>
          <p:cNvSpPr>
            <a:spLocks noGrp="1"/>
          </p:cNvSpPr>
          <p:nvPr>
            <p:ph type="body" sz="quarter" idx="16" hasCustomPrompt="1"/>
          </p:nvPr>
        </p:nvSpPr>
        <p:spPr>
          <a:xfrm>
            <a:off x="323851" y="3428789"/>
            <a:ext cx="5048090" cy="457200"/>
          </a:xfrm>
        </p:spPr>
        <p:txBody>
          <a:bodyPr anchor="b" anchorCtr="0"/>
          <a:lstStyle>
            <a:lvl1pPr marL="0" indent="0">
              <a:spcBef>
                <a:spcPts val="0"/>
              </a:spcBef>
              <a:spcAft>
                <a:spcPts val="0"/>
              </a:spcAft>
              <a:buNone/>
              <a:defRPr lang="en-US" sz="1400" kern="1200" dirty="0" smtClean="0">
                <a:solidFill>
                  <a:schemeClr val="bg1"/>
                </a:solidFill>
                <a:latin typeface="+mn-lt"/>
                <a:ea typeface="ＭＳ Ｐゴシック" charset="0"/>
                <a:cs typeface="CiscoSans"/>
              </a:defRPr>
            </a:lvl1pPr>
          </a:lstStyle>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Name</a:t>
            </a:r>
          </a:p>
          <a:p>
            <a:pPr marL="182880" lvl="0" indent="-182880" algn="l" defTabSz="912276" rtl="0" eaLnBrk="1" fontAlgn="base" hangingPunct="1">
              <a:lnSpc>
                <a:spcPct val="100000"/>
              </a:lnSpc>
              <a:spcBef>
                <a:spcPts val="0"/>
              </a:spcBef>
              <a:spcAft>
                <a:spcPts val="0"/>
              </a:spcAft>
              <a:buClr>
                <a:schemeClr val="bg1"/>
              </a:buClr>
              <a:buSzPct val="100000"/>
            </a:pPr>
            <a:r>
              <a:rPr lang="en-US" dirty="0"/>
              <a:t>Speaker Title placeholder, @social</a:t>
            </a:r>
          </a:p>
        </p:txBody>
      </p:sp>
      <p:sp>
        <p:nvSpPr>
          <p:cNvPr id="4" name="Text Placeholder 5">
            <a:extLst>
              <a:ext uri="{FF2B5EF4-FFF2-40B4-BE49-F238E27FC236}">
                <a16:creationId xmlns:a16="http://schemas.microsoft.com/office/drawing/2014/main" id="{80638510-2998-9359-2A51-B0CA834B6203}"/>
              </a:ext>
            </a:extLst>
          </p:cNvPr>
          <p:cNvSpPr>
            <a:spLocks noGrp="1"/>
          </p:cNvSpPr>
          <p:nvPr>
            <p:ph type="body" sz="quarter" idx="14" hasCustomPrompt="1"/>
          </p:nvPr>
        </p:nvSpPr>
        <p:spPr>
          <a:xfrm>
            <a:off x="323850" y="4051300"/>
            <a:ext cx="5047270" cy="459455"/>
          </a:xfrm>
          <a:noFill/>
        </p:spPr>
        <p:txBody>
          <a:bodyPr anchor="b" anchorCtr="0"/>
          <a:lstStyle>
            <a:lvl1pPr marL="0" indent="0">
              <a:spcAft>
                <a:spcPts val="0"/>
              </a:spcAft>
              <a:buNone/>
              <a:defRPr sz="1400"/>
            </a:lvl1pPr>
          </a:lstStyle>
          <a:p>
            <a:pPr lvl="0"/>
            <a:r>
              <a:rPr lang="en-US" dirty="0"/>
              <a:t>Speaker Name</a:t>
            </a:r>
          </a:p>
          <a:p>
            <a:pPr lvl="0"/>
            <a:r>
              <a:rPr lang="en-US" dirty="0"/>
              <a:t>Speaker Title placeholder, @social</a:t>
            </a:r>
          </a:p>
        </p:txBody>
      </p:sp>
      <p:sp>
        <p:nvSpPr>
          <p:cNvPr id="5" name="Text Placeholder 4">
            <a:extLst>
              <a:ext uri="{FF2B5EF4-FFF2-40B4-BE49-F238E27FC236}">
                <a16:creationId xmlns:a16="http://schemas.microsoft.com/office/drawing/2014/main" id="{1C0E61D1-59EB-7A86-0D12-9388193F45D9}"/>
              </a:ext>
            </a:extLst>
          </p:cNvPr>
          <p:cNvSpPr>
            <a:spLocks noGrp="1"/>
          </p:cNvSpPr>
          <p:nvPr>
            <p:ph type="body" sz="quarter" idx="17" hasCustomPrompt="1"/>
          </p:nvPr>
        </p:nvSpPr>
        <p:spPr>
          <a:xfrm>
            <a:off x="323849" y="4681134"/>
            <a:ext cx="5046663" cy="457200"/>
          </a:xfrm>
        </p:spPr>
        <p:txBody>
          <a:bodyPr anchor="b" anchorCtr="0"/>
          <a:lstStyle>
            <a:lvl1pPr marL="0" indent="0">
              <a:spcAft>
                <a:spcPts val="0"/>
              </a:spcAft>
              <a:buNone/>
              <a:defRPr lang="en-US" sz="1400" kern="1200" dirty="0" smtClean="0">
                <a:solidFill>
                  <a:schemeClr val="bg1"/>
                </a:solidFill>
                <a:latin typeface="+mn-lt"/>
                <a:ea typeface="ＭＳ Ｐゴシック" charset="0"/>
                <a:cs typeface="CiscoSans"/>
              </a:defRPr>
            </a:lvl1pPr>
            <a:lvl2pPr marL="182880" indent="0">
              <a:spcAft>
                <a:spcPts val="0"/>
              </a:spcAft>
              <a:buNone/>
              <a:defRPr sz="1400"/>
            </a:lvl2pPr>
            <a:lvl3pPr marL="365760" indent="0">
              <a:spcAft>
                <a:spcPts val="0"/>
              </a:spcAft>
              <a:buNone/>
              <a:defRPr sz="1200"/>
            </a:lvl3pPr>
            <a:lvl4pPr marL="548640" indent="0">
              <a:spcAft>
                <a:spcPts val="0"/>
              </a:spcAft>
              <a:buNone/>
              <a:defRPr sz="1100"/>
            </a:lvl4pPr>
            <a:lvl5pPr marL="731520" indent="0">
              <a:spcAft>
                <a:spcPts val="0"/>
              </a:spcAft>
              <a:buNone/>
              <a:defRPr sz="1050"/>
            </a:lvl5pPr>
          </a:lstStyle>
          <a:p>
            <a:pPr marL="0" lvl="0" indent="0" algn="l" defTabSz="912276" rtl="0" eaLnBrk="1" fontAlgn="base" hangingPunct="1">
              <a:lnSpc>
                <a:spcPct val="100000"/>
              </a:lnSpc>
              <a:spcBef>
                <a:spcPts val="0"/>
              </a:spcBef>
              <a:spcAft>
                <a:spcPts val="0"/>
              </a:spcAft>
              <a:buClr>
                <a:schemeClr val="bg1"/>
              </a:buClr>
              <a:buSzPct val="100000"/>
              <a:buFont typeface="Arial" panose="020B0604020202020204" pitchFamily="34" charset="0"/>
              <a:buNone/>
            </a:pPr>
            <a:r>
              <a:rPr lang="en-US" dirty="0"/>
              <a:t>Speaker Name</a:t>
            </a:r>
          </a:p>
          <a:p>
            <a:pPr marL="0" lvl="0" indent="0" algn="l" defTabSz="912276" rtl="0" eaLnBrk="1" fontAlgn="base" hangingPunct="1">
              <a:lnSpc>
                <a:spcPct val="100000"/>
              </a:lnSpc>
              <a:spcBef>
                <a:spcPts val="0"/>
              </a:spcBef>
              <a:spcAft>
                <a:spcPts val="0"/>
              </a:spcAft>
              <a:buClr>
                <a:schemeClr val="bg1"/>
              </a:buClr>
              <a:buSzPct val="100000"/>
              <a:buFont typeface="Arial" panose="020B0604020202020204" pitchFamily="34" charset="0"/>
              <a:buNone/>
            </a:pPr>
            <a:r>
              <a:rPr lang="en-US" dirty="0"/>
              <a:t>Speaker Title placeholder, @social</a:t>
            </a:r>
          </a:p>
        </p:txBody>
      </p:sp>
      <p:sp>
        <p:nvSpPr>
          <p:cNvPr id="7" name="Text Placeholder 6">
            <a:extLst>
              <a:ext uri="{FF2B5EF4-FFF2-40B4-BE49-F238E27FC236}">
                <a16:creationId xmlns:a16="http://schemas.microsoft.com/office/drawing/2014/main" id="{D175C0FC-DD02-0704-8A17-1B3037F861D2}"/>
              </a:ext>
            </a:extLst>
          </p:cNvPr>
          <p:cNvSpPr>
            <a:spLocks noGrp="1"/>
          </p:cNvSpPr>
          <p:nvPr>
            <p:ph type="body" sz="quarter" idx="18" hasCustomPrompt="1"/>
          </p:nvPr>
        </p:nvSpPr>
        <p:spPr>
          <a:xfrm>
            <a:off x="323848" y="5306439"/>
            <a:ext cx="5046663" cy="457200"/>
          </a:xfrm>
        </p:spPr>
        <p:txBody>
          <a:bodyPr anchor="b" anchorCtr="0"/>
          <a:lstStyle>
            <a:lvl1pPr marL="0" indent="0">
              <a:spcAft>
                <a:spcPts val="0"/>
              </a:spcAft>
              <a:buNone/>
              <a:defRPr sz="1400"/>
            </a:lvl1pPr>
            <a:lvl2pPr marL="182880" indent="0">
              <a:buNone/>
              <a:defRPr sz="1200"/>
            </a:lvl2pPr>
            <a:lvl3pPr marL="365760" indent="0">
              <a:buNone/>
              <a:defRPr sz="1100"/>
            </a:lvl3pPr>
            <a:lvl4pPr marL="548640" indent="0">
              <a:buNone/>
              <a:defRPr sz="1050"/>
            </a:lvl4pPr>
            <a:lvl5pPr marL="731520" indent="0">
              <a:buNone/>
              <a:defRPr sz="1000"/>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4643" y="6360518"/>
            <a:ext cx="3906838" cy="497482"/>
          </a:xfrm>
          <a:noFill/>
        </p:spPr>
        <p:txBody>
          <a:bodyPr/>
          <a:lstStyle>
            <a:lvl1pPr marL="0" indent="0" algn="l">
              <a:buNone/>
              <a:defRPr sz="1400">
                <a:solidFill>
                  <a:schemeClr val="bg2"/>
                </a:solidFill>
              </a:defRPr>
            </a:lvl1pPr>
          </a:lstStyle>
          <a:p>
            <a:pPr lvl="0"/>
            <a:r>
              <a:rPr lang="en-US" dirty="0"/>
              <a:t>Date</a:t>
            </a:r>
          </a:p>
        </p:txBody>
      </p:sp>
      <p:sp>
        <p:nvSpPr>
          <p:cNvPr id="23" name="Graphic 21">
            <a:extLst>
              <a:ext uri="{FF2B5EF4-FFF2-40B4-BE49-F238E27FC236}">
                <a16:creationId xmlns:a16="http://schemas.microsoft.com/office/drawing/2014/main" id="{0B51E088-9CCC-0F69-112A-CEC9A65FA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nvSpPr>
        <p:spPr>
          <a:xfrm>
            <a:off x="6107248" y="781243"/>
            <a:ext cx="5303520" cy="5303520"/>
          </a:xfrm>
          <a:custGeom>
            <a:avLst/>
            <a:gdLst>
              <a:gd name="connsiteX0" fmla="*/ 5291567 w 5291566"/>
              <a:gd name="connsiteY0" fmla="*/ 2645783 h 5291566"/>
              <a:gd name="connsiteX1" fmla="*/ 2645783 w 5291566"/>
              <a:gd name="connsiteY1" fmla="*/ 5291567 h 5291566"/>
              <a:gd name="connsiteX2" fmla="*/ 0 w 5291566"/>
              <a:gd name="connsiteY2" fmla="*/ 2645783 h 5291566"/>
              <a:gd name="connsiteX3" fmla="*/ 2645783 w 5291566"/>
              <a:gd name="connsiteY3" fmla="*/ 0 h 5291566"/>
              <a:gd name="connsiteX4" fmla="*/ 5291567 w 5291566"/>
              <a:gd name="connsiteY4" fmla="*/ 2645783 h 5291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1566" h="5291566">
                <a:moveTo>
                  <a:pt x="5291567" y="2645783"/>
                </a:moveTo>
                <a:cubicBezTo>
                  <a:pt x="5291567" y="4107009"/>
                  <a:pt x="4107009" y="5291567"/>
                  <a:pt x="2645783" y="5291567"/>
                </a:cubicBezTo>
                <a:cubicBezTo>
                  <a:pt x="1184557" y="5291567"/>
                  <a:pt x="0" y="4107009"/>
                  <a:pt x="0" y="2645783"/>
                </a:cubicBezTo>
                <a:cubicBezTo>
                  <a:pt x="0" y="1184557"/>
                  <a:pt x="1184557" y="0"/>
                  <a:pt x="2645783" y="0"/>
                </a:cubicBezTo>
                <a:cubicBezTo>
                  <a:pt x="4107009" y="0"/>
                  <a:pt x="5291567" y="1184557"/>
                  <a:pt x="5291567" y="2645783"/>
                </a:cubicBezTo>
                <a:close/>
              </a:path>
            </a:pathLst>
          </a:custGeom>
          <a:solidFill>
            <a:schemeClr val="tx1"/>
          </a:solidFill>
          <a:ln w="50800" cap="flat">
            <a:gradFill flip="none" rotWithShape="1">
              <a:gsLst>
                <a:gs pos="0">
                  <a:srgbClr val="3070E5"/>
                </a:gs>
                <a:gs pos="35000">
                  <a:srgbClr val="1ABBE9"/>
                </a:gs>
                <a:gs pos="43000">
                  <a:srgbClr val="1ABBE9"/>
                </a:gs>
                <a:gs pos="60000">
                  <a:srgbClr val="FD017F"/>
                </a:gs>
                <a:gs pos="100000">
                  <a:srgbClr val="FCA601"/>
                </a:gs>
              </a:gsLst>
              <a:lin ang="0" scaled="1"/>
              <a:tileRect/>
            </a:gradFill>
            <a:prstDash val="solid"/>
            <a:miter/>
          </a:ln>
        </p:spPr>
        <p:txBody>
          <a:bodyPr rtlCol="0" anchor="ctr"/>
          <a:lstStyle/>
          <a:p>
            <a:pPr lvl="0"/>
            <a:endParaRPr lang="en-US" dirty="0"/>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281171" y="3181936"/>
            <a:ext cx="955675" cy="502135"/>
          </a:xfrm>
          <a:prstGeom prst="rect">
            <a:avLst/>
          </a:prstGeom>
        </p:spPr>
      </p:pic>
    </p:spTree>
    <p:extLst>
      <p:ext uri="{BB962C8B-B14F-4D97-AF65-F5344CB8AC3E}">
        <p14:creationId xmlns:p14="http://schemas.microsoft.com/office/powerpoint/2010/main" val="3081099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2, Four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60471"/>
            <a:ext cx="10888663" cy="435134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pic>
        <p:nvPicPr>
          <p:cNvPr id="12" name="Picture 7" descr="Cisco logo">
            <a:extLst>
              <a:ext uri="{FF2B5EF4-FFF2-40B4-BE49-F238E27FC236}">
                <a16:creationId xmlns:a16="http://schemas.microsoft.com/office/drawing/2014/main" id="{60C68F8B-19C8-6CB4-297B-32D44AF9C3D0}"/>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2731229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3, Four Speakers">
    <p:bg>
      <p:bgPr>
        <a:solidFill>
          <a:schemeClr val="tx1"/>
        </a:solidFill>
        <a:effectLst/>
      </p:bgPr>
    </p:bg>
    <p:spTree>
      <p:nvGrpSpPr>
        <p:cNvPr id="1" name=""/>
        <p:cNvGrpSpPr/>
        <p:nvPr/>
      </p:nvGrpSpPr>
      <p:grpSpPr>
        <a:xfrm>
          <a:off x="0" y="0"/>
          <a:ext cx="0" cy="0"/>
          <a:chOff x="0" y="0"/>
          <a:chExt cx="0" cy="0"/>
        </a:xfrm>
      </p:grpSpPr>
      <p:pic>
        <p:nvPicPr>
          <p:cNvPr id="12" name="Picture 7" descr="Cisco logo">
            <a:extLst>
              <a:ext uri="{FF2B5EF4-FFF2-40B4-BE49-F238E27FC236}">
                <a16:creationId xmlns:a16="http://schemas.microsoft.com/office/drawing/2014/main" id="{60C68F8B-19C8-6CB4-297B-32D44AF9C3D0}"/>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323850" y="320675"/>
            <a:ext cx="792163" cy="416221"/>
          </a:xfrm>
          <a:prstGeom prst="rect">
            <a:avLst/>
          </a:prstGeom>
        </p:spPr>
      </p:pic>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492374"/>
            <a:ext cx="10167938" cy="1243019"/>
          </a:xfrm>
        </p:spPr>
        <p:txBody>
          <a:bodyPr anchor="b" anchorCtr="0"/>
          <a:lstStyle>
            <a:lvl1pPr>
              <a:defRPr sz="3600">
                <a:solidFill>
                  <a:schemeClr val="bg1"/>
                </a:solidFill>
              </a:defRPr>
            </a:lvl1pPr>
          </a:lstStyle>
          <a:p>
            <a:r>
              <a:rPr lang="en-US" dirty="0"/>
              <a:t>Presentation Slide Title Layout 3</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49" y="3827463"/>
            <a:ext cx="1016793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7" name="Text Placeholder 6">
            <a:extLst>
              <a:ext uri="{FF2B5EF4-FFF2-40B4-BE49-F238E27FC236}">
                <a16:creationId xmlns:a16="http://schemas.microsoft.com/office/drawing/2014/main" id="{872EFECA-80DB-74BA-813F-3952A15A5022}"/>
              </a:ext>
            </a:extLst>
          </p:cNvPr>
          <p:cNvSpPr>
            <a:spLocks noGrp="1"/>
          </p:cNvSpPr>
          <p:nvPr>
            <p:ph type="body" sz="quarter" idx="15" hasCustomPrompt="1"/>
          </p:nvPr>
        </p:nvSpPr>
        <p:spPr>
          <a:xfrm>
            <a:off x="4230688" y="4360863"/>
            <a:ext cx="4886325" cy="457200"/>
          </a:xfrm>
        </p:spPr>
        <p:txBody>
          <a:bodyPr/>
          <a:lstStyle>
            <a:lvl1pPr marL="0" indent="0">
              <a:spcAft>
                <a:spcPts val="0"/>
              </a:spcAft>
              <a:buNone/>
              <a:defRPr sz="1400"/>
            </a:lvl1pPr>
            <a:lvl2pPr>
              <a:defRPr sz="1400"/>
            </a:lvl2pPr>
            <a:lvl3pPr>
              <a:defRPr sz="1200"/>
            </a:lvl3pPr>
            <a:lvl4pPr>
              <a:defRPr sz="1100"/>
            </a:lvl4pPr>
            <a:lvl5pPr>
              <a:defRPr sz="1050"/>
            </a:lvl5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323850" y="4990779"/>
            <a:ext cx="3725863"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13" name="Text Placeholder 12">
            <a:extLst>
              <a:ext uri="{FF2B5EF4-FFF2-40B4-BE49-F238E27FC236}">
                <a16:creationId xmlns:a16="http://schemas.microsoft.com/office/drawing/2014/main" id="{2BBB47F0-F6D2-5FD5-1C2D-8963A9B280F8}"/>
              </a:ext>
            </a:extLst>
          </p:cNvPr>
          <p:cNvSpPr>
            <a:spLocks noGrp="1"/>
          </p:cNvSpPr>
          <p:nvPr>
            <p:ph type="body" sz="quarter" idx="16" hasCustomPrompt="1"/>
          </p:nvPr>
        </p:nvSpPr>
        <p:spPr>
          <a:xfrm>
            <a:off x="4230688" y="4990779"/>
            <a:ext cx="4886325" cy="457200"/>
          </a:xfrm>
        </p:spPr>
        <p:txBody>
          <a:bodyPr/>
          <a:lstStyle>
            <a:lvl1pPr marL="0" indent="0">
              <a:spcAft>
                <a:spcPts val="0"/>
              </a:spcAft>
              <a:buNone/>
              <a:defRPr sz="1400"/>
            </a:lvl1pPr>
            <a:lvl2pPr>
              <a:defRPr sz="1400"/>
            </a:lvl2pPr>
            <a:lvl3pPr>
              <a:defRPr sz="1200"/>
            </a:lvl3pPr>
            <a:lvl4pPr>
              <a:defRPr sz="1100"/>
            </a:lvl4pPr>
            <a:lvl5pPr>
              <a:defRPr sz="1050"/>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2747354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Event Only Title Slide 1, Two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1873704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Event Only Title Slide 2, Four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Tree>
    <p:extLst>
      <p:ext uri="{BB962C8B-B14F-4D97-AF65-F5344CB8AC3E}">
        <p14:creationId xmlns:p14="http://schemas.microsoft.com/office/powerpoint/2010/main" val="3228908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Event Only Title Slide 3, Six Speaker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556884"/>
            <a:ext cx="6656388" cy="1554169"/>
          </a:xfrm>
        </p:spPr>
        <p:txBody>
          <a:bodyPr anchor="b" anchorCtr="0"/>
          <a:lstStyle>
            <a:lvl1pPr>
              <a:defRPr sz="3600"/>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203123"/>
            <a:ext cx="6656388" cy="223837"/>
          </a:xfrm>
          <a:noFill/>
        </p:spPr>
        <p:txBody>
          <a:bodyPr/>
          <a:lstStyle>
            <a:lvl1pPr marL="0" indent="0">
              <a:buNone/>
              <a:defRPr lang="en-US" sz="1600" b="0" kern="1200" dirty="0">
                <a:solidFill>
                  <a:schemeClr val="bg1"/>
                </a:solidFill>
                <a:latin typeface="+mn-lt"/>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736526"/>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736526"/>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bg2"/>
                </a:solidFill>
              </a:defRPr>
            </a:lvl1pPr>
          </a:lstStyle>
          <a:p>
            <a:pPr lvl="0"/>
            <a:r>
              <a:rPr lang="en-US" dirty="0"/>
              <a:t>Date</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363133"/>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363133"/>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7" name="Text Placeholder 5">
            <a:extLst>
              <a:ext uri="{FF2B5EF4-FFF2-40B4-BE49-F238E27FC236}">
                <a16:creationId xmlns:a16="http://schemas.microsoft.com/office/drawing/2014/main" id="{B989D1F9-5949-EAFF-931D-8121D6A66AA8}"/>
              </a:ext>
            </a:extLst>
          </p:cNvPr>
          <p:cNvSpPr>
            <a:spLocks noGrp="1"/>
          </p:cNvSpPr>
          <p:nvPr>
            <p:ph type="body" sz="quarter" idx="17" hasCustomPrompt="1"/>
          </p:nvPr>
        </p:nvSpPr>
        <p:spPr>
          <a:xfrm>
            <a:off x="323850" y="4986338"/>
            <a:ext cx="3725863" cy="457200"/>
          </a:xfrm>
          <a:noFill/>
        </p:spPr>
        <p:txBody>
          <a:bodyPr/>
          <a:lstStyle>
            <a:lvl1pPr marL="0" indent="0">
              <a:spcAft>
                <a:spcPts val="0"/>
              </a:spcAft>
              <a:buNone/>
              <a:defRPr sz="1400"/>
            </a:lvl1pPr>
          </a:lstStyle>
          <a:p>
            <a:pPr lvl="0"/>
            <a:r>
              <a:rPr lang="en-US" dirty="0"/>
              <a:t>Speaker Name</a:t>
            </a:r>
          </a:p>
          <a:p>
            <a:pPr lvl="0"/>
            <a:r>
              <a:rPr lang="en-US" dirty="0"/>
              <a:t>Speaker Title placeholder, @social</a:t>
            </a:r>
          </a:p>
        </p:txBody>
      </p:sp>
      <p:sp>
        <p:nvSpPr>
          <p:cNvPr id="8" name="Text Placeholder 9">
            <a:extLst>
              <a:ext uri="{FF2B5EF4-FFF2-40B4-BE49-F238E27FC236}">
                <a16:creationId xmlns:a16="http://schemas.microsoft.com/office/drawing/2014/main" id="{3D1ACE7D-3D09-2D50-1C06-DBAD3893A921}"/>
              </a:ext>
            </a:extLst>
          </p:cNvPr>
          <p:cNvSpPr>
            <a:spLocks noGrp="1"/>
          </p:cNvSpPr>
          <p:nvPr>
            <p:ph type="body" sz="quarter" idx="18" hasCustomPrompt="1"/>
          </p:nvPr>
        </p:nvSpPr>
        <p:spPr>
          <a:xfrm>
            <a:off x="4230687" y="4986338"/>
            <a:ext cx="3727451" cy="457200"/>
          </a:xfrm>
        </p:spPr>
        <p:txBody>
          <a:bodyPr/>
          <a:lstStyle>
            <a:lvl1pPr marL="0" indent="0">
              <a:spcAft>
                <a:spcPts val="0"/>
              </a:spcAft>
              <a:buNone/>
              <a:defRPr lang="en-US" sz="1400" kern="1200" dirty="0">
                <a:solidFill>
                  <a:schemeClr val="bg1"/>
                </a:solidFill>
                <a:latin typeface="+mn-lt"/>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Tree>
    <p:extLst>
      <p:ext uri="{BB962C8B-B14F-4D97-AF65-F5344CB8AC3E}">
        <p14:creationId xmlns:p14="http://schemas.microsoft.com/office/powerpoint/2010/main" val="2205143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A470DCA-01D3-75CC-4B81-AF6AC1F46C85}"/>
              </a:ext>
            </a:extLst>
          </p:cNvPr>
          <p:cNvSpPr>
            <a:spLocks noGrp="1"/>
          </p:cNvSpPr>
          <p:nvPr>
            <p:ph type="title" hasCustomPrompt="1"/>
          </p:nvPr>
        </p:nvSpPr>
        <p:spPr>
          <a:xfrm>
            <a:off x="323850" y="298146"/>
            <a:ext cx="2749550" cy="492443"/>
          </a:xfrm>
        </p:spPr>
        <p:txBody>
          <a:bodyPr/>
          <a:lstStyle>
            <a:lvl1pPr>
              <a:defRPr/>
            </a:lvl1pPr>
          </a:lstStyle>
          <a:p>
            <a:r>
              <a:rPr lang="en-US" dirty="0"/>
              <a:t>Agenda</a:t>
            </a:r>
          </a:p>
        </p:txBody>
      </p:sp>
      <p:sp>
        <p:nvSpPr>
          <p:cNvPr id="4" name="Text Placeholder 3">
            <a:extLst>
              <a:ext uri="{FF2B5EF4-FFF2-40B4-BE49-F238E27FC236}">
                <a16:creationId xmlns:a16="http://schemas.microsoft.com/office/drawing/2014/main" id="{BD66DE8E-18DA-4564-080D-AD4F9F492D6B}"/>
              </a:ext>
            </a:extLst>
          </p:cNvPr>
          <p:cNvSpPr>
            <a:spLocks noGrp="1"/>
          </p:cNvSpPr>
          <p:nvPr>
            <p:ph type="body" sz="quarter" idx="20" hasCustomPrompt="1"/>
          </p:nvPr>
        </p:nvSpPr>
        <p:spPr>
          <a:xfrm>
            <a:off x="5208588" y="296863"/>
            <a:ext cx="550862" cy="365125"/>
          </a:xfrm>
        </p:spPr>
        <p:txBody>
          <a:bodyPr vert="horz" lIns="0" tIns="0" rIns="0" bIns="0" rtlCol="0" anchor="t" anchorCtr="0"/>
          <a:lstStyle>
            <a:lvl1pPr marL="0" indent="0">
              <a:lnSpc>
                <a:spcPct val="90000"/>
              </a:lnSpc>
              <a:buNone/>
              <a:defRPr kumimoji="0" lang="en-US" sz="3200" b="0" i="0" u="none" strike="noStrike" cap="none" spc="27" normalizeH="0" baseline="0" dirty="0" smtClean="0">
                <a:ln>
                  <a:noFill/>
                </a:ln>
                <a:solidFill>
                  <a:schemeClr val="bg2">
                    <a:lumMod val="60000"/>
                    <a:lumOff val="40000"/>
                  </a:schemeClr>
                </a:solidFill>
                <a:effectLst/>
                <a:uLnTx/>
                <a:uFillTx/>
                <a:latin typeface="+mj-lt"/>
                <a:cs typeface="CiscoSansTT" panose="020B0503020201020303"/>
              </a:defRPr>
            </a:lvl1pPr>
          </a:lstStyle>
          <a:p>
            <a:pPr marL="0" lvl="0" algn="r" defTabSz="914400" latinLnBrk="0"/>
            <a:r>
              <a:rPr lang="en-US" dirty="0"/>
              <a:t>##</a:t>
            </a:r>
          </a:p>
        </p:txBody>
      </p:sp>
      <p:sp>
        <p:nvSpPr>
          <p:cNvPr id="5" name="Text Placeholder 4">
            <a:extLst>
              <a:ext uri="{FF2B5EF4-FFF2-40B4-BE49-F238E27FC236}">
                <a16:creationId xmlns:a16="http://schemas.microsoft.com/office/drawing/2014/main" id="{5421C779-BAEC-654A-5E9A-684AEBA7E395}"/>
              </a:ext>
            </a:extLst>
          </p:cNvPr>
          <p:cNvSpPr>
            <a:spLocks noGrp="1"/>
          </p:cNvSpPr>
          <p:nvPr>
            <p:ph type="body" sz="quarter" idx="18" hasCustomPrompt="1"/>
          </p:nvPr>
        </p:nvSpPr>
        <p:spPr>
          <a:xfrm>
            <a:off x="6184900" y="296863"/>
            <a:ext cx="5683250" cy="365125"/>
          </a:xfrm>
          <a:noFill/>
        </p:spPr>
        <p:txBody>
          <a:bodyPr anchor="t" anchorCtr="0"/>
          <a:lstStyle>
            <a:lvl1pPr marL="0" indent="0" algn="l" defTabSz="912276" rtl="0" eaLnBrk="1" fontAlgn="base" hangingPunct="1">
              <a:lnSpc>
                <a:spcPct val="9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stStyle>
          <a:p>
            <a:pPr lvl="0"/>
            <a:r>
              <a:rPr lang="en-US" dirty="0"/>
              <a:t>Agenda list placeholder</a:t>
            </a:r>
          </a:p>
        </p:txBody>
      </p:sp>
      <p:sp>
        <p:nvSpPr>
          <p:cNvPr id="3" name="Footer Placeholder 2">
            <a:extLst>
              <a:ext uri="{FF2B5EF4-FFF2-40B4-BE49-F238E27FC236}">
                <a16:creationId xmlns:a16="http://schemas.microsoft.com/office/drawing/2014/main" id="{E637F1A5-67B6-4A78-7FA7-0860E1B6F9B0}"/>
              </a:ext>
            </a:extLst>
          </p:cNvPr>
          <p:cNvSpPr>
            <a:spLocks noGrp="1"/>
          </p:cNvSpPr>
          <p:nvPr>
            <p:ph type="ftr" sz="quarter" idx="21"/>
          </p:nvPr>
        </p:nvSpPr>
        <p:spPr/>
        <p:txBody>
          <a:bodyPr/>
          <a:lstStyle/>
          <a:p>
            <a:pPr defTabSz="814318">
              <a:defRPr/>
            </a:pPr>
            <a:r>
              <a:rPr lang="en-US"/>
              <a:t>Session ID: BRKSEC-XXXX</a:t>
            </a:r>
            <a:endParaRPr lang="en-US" dirty="0"/>
          </a:p>
        </p:txBody>
      </p:sp>
      <p:sp>
        <p:nvSpPr>
          <p:cNvPr id="2" name="Slide Number Placeholder 1">
            <a:extLst>
              <a:ext uri="{FF2B5EF4-FFF2-40B4-BE49-F238E27FC236}">
                <a16:creationId xmlns:a16="http://schemas.microsoft.com/office/drawing/2014/main" id="{FB200302-2202-F22C-D162-871BF904F46C}"/>
              </a:ext>
            </a:extLst>
          </p:cNvPr>
          <p:cNvSpPr>
            <a:spLocks noGrp="1"/>
          </p:cNvSpPr>
          <p:nvPr>
            <p:ph type="sldNum" sz="quarter" idx="19"/>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52849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Onl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dirty="0"/>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485122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ubtitle Only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656772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2 Slide Title, Top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4703763"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6184900" y="320675"/>
            <a:ext cx="56832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Subheading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22814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Title Only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bg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088355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Title, Subtitl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8" name="Text Placeholder 7">
            <a:extLst>
              <a:ext uri="{FF2B5EF4-FFF2-40B4-BE49-F238E27FC236}">
                <a16:creationId xmlns:a16="http://schemas.microsoft.com/office/drawing/2014/main" id="{6A259C3D-581C-B8BC-32B4-EE2B22A753A2}"/>
              </a:ext>
            </a:extLst>
          </p:cNvPr>
          <p:cNvSpPr>
            <a:spLocks noGrp="1"/>
          </p:cNvSpPr>
          <p:nvPr>
            <p:ph type="body" sz="quarter" idx="13" hasCustomPrompt="1"/>
          </p:nvPr>
        </p:nvSpPr>
        <p:spPr>
          <a:xfrm>
            <a:off x="323850" y="1114425"/>
            <a:ext cx="5772150" cy="441325"/>
          </a:xfrm>
        </p:spPr>
        <p:txBody>
          <a:bodyPr/>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811803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2 Slide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713030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2 Slide, Section, Title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211018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2 Slide, Section, Title 2">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5376922-1A18-EB35-1718-708DF44FBF1B}"/>
              </a:ext>
            </a:extLst>
          </p:cNvPr>
          <p:cNvSpPr>
            <a:spLocks noGrp="1"/>
          </p:cNvSpPr>
          <p:nvPr>
            <p:ph type="body" sz="quarter" idx="13"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337197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2 Slide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7237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2 Slide Section,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a:extLst>
              <a:ext uri="{FF2B5EF4-FFF2-40B4-BE49-F238E27FC236}">
                <a16:creationId xmlns:a16="http://schemas.microsoft.com/office/drawing/2014/main" id="{73B0377C-E9B5-910F-ED3D-37BEFE794881}"/>
              </a:ext>
            </a:extLst>
          </p:cNvPr>
          <p:cNvSpPr>
            <a:spLocks noGrp="1"/>
          </p:cNvSpPr>
          <p:nvPr>
            <p:ph type="body" sz="quarter" idx="14"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Tree>
    <p:extLst>
      <p:ext uri="{BB962C8B-B14F-4D97-AF65-F5344CB8AC3E}">
        <p14:creationId xmlns:p14="http://schemas.microsoft.com/office/powerpoint/2010/main" val="1898988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1 Column with Bullet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dirty="0"/>
              <a:t>Session ID: BRKSEC-XXXX</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141A00D0-7712-950D-34B2-5551B85F9E7B}"/>
              </a:ext>
            </a:extLst>
          </p:cNvPr>
          <p:cNvSpPr>
            <a:spLocks noGrp="1"/>
          </p:cNvSpPr>
          <p:nvPr>
            <p:ph type="body" sz="quarter" idx="12"/>
          </p:nvPr>
        </p:nvSpPr>
        <p:spPr>
          <a:xfrm>
            <a:off x="323850" y="952500"/>
            <a:ext cx="11544300" cy="5122863"/>
          </a:xfr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00216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2 Columns with Bullet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9122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02181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23848" y="2179638"/>
            <a:ext cx="347472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4358639" y="2179638"/>
            <a:ext cx="347472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8393430" y="2181225"/>
            <a:ext cx="347472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39156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351107"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72014"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9392920" y="2179638"/>
            <a:ext cx="2468880" cy="2495550"/>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60980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5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271018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509016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7470140" y="2179638"/>
            <a:ext cx="2011680" cy="249555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3">
            <a:extLst>
              <a:ext uri="{FF2B5EF4-FFF2-40B4-BE49-F238E27FC236}">
                <a16:creationId xmlns:a16="http://schemas.microsoft.com/office/drawing/2014/main" id="{3B7038BF-5DE9-94EF-1E39-92627DD8ACA8}"/>
              </a:ext>
            </a:extLst>
          </p:cNvPr>
          <p:cNvSpPr>
            <a:spLocks noGrp="1"/>
          </p:cNvSpPr>
          <p:nvPr>
            <p:ph type="body" sz="quarter" idx="17"/>
          </p:nvPr>
        </p:nvSpPr>
        <p:spPr>
          <a:xfrm>
            <a:off x="9850120" y="2181225"/>
            <a:ext cx="2011680" cy="2493963"/>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64518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2 Slide, Title,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5281613"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6107430" y="320675"/>
            <a:ext cx="5760720" cy="5759451"/>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798509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7235825" cy="94773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8140700" y="320675"/>
            <a:ext cx="3727450" cy="5759451"/>
          </a:xfrm>
          <a:prstGeom prst="roundRect">
            <a:avLst>
              <a:gd name="adj" fmla="val 1618"/>
            </a:avLst>
          </a:prstGeom>
          <a:solidFill>
            <a:schemeClr val="bg1">
              <a:alpha val="10000"/>
            </a:schemeClr>
          </a:solidFill>
        </p:spPr>
        <p:txBody>
          <a:bodyPr tIns="155448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66548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3328987"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4049713" y="320676"/>
            <a:ext cx="7818436" cy="5754688"/>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11461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2 Slide Title, Photo 3">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3116793"/>
            <a:ext cx="5284788" cy="1246188"/>
          </a:xfrm>
        </p:spPr>
        <p:txBody>
          <a:bodyPr wrap="square" anchor="t" anchorCtr="0">
            <a:noAutofit/>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903A889C-4BCD-59AA-132B-C3FD4F8E65F1}"/>
              </a:ext>
            </a:extLst>
          </p:cNvPr>
          <p:cNvSpPr>
            <a:spLocks noGrp="1"/>
          </p:cNvSpPr>
          <p:nvPr>
            <p:ph type="pic" sz="quarter" idx="12" hasCustomPrompt="1"/>
          </p:nvPr>
        </p:nvSpPr>
        <p:spPr>
          <a:xfrm>
            <a:off x="6184901" y="795338"/>
            <a:ext cx="5284788" cy="5284788"/>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672233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3 Slide Title, Section, Body, 2/3 Photo">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bg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49" y="622300"/>
            <a:ext cx="3328989" cy="1558925"/>
          </a:xfrm>
        </p:spPr>
        <p:txBody>
          <a:bodyPr/>
          <a:lstStyle>
            <a:lvl1pPr>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6653D0B-638B-EB5D-F379-EF10C80DCCA3}"/>
              </a:ext>
            </a:extLst>
          </p:cNvPr>
          <p:cNvSpPr>
            <a:spLocks noGrp="1"/>
          </p:cNvSpPr>
          <p:nvPr>
            <p:ph type="body" sz="quarter" idx="13"/>
          </p:nvPr>
        </p:nvSpPr>
        <p:spPr>
          <a:xfrm>
            <a:off x="323851" y="3429000"/>
            <a:ext cx="3328988" cy="2646363"/>
          </a:xfrm>
        </p:spPr>
        <p:txBody>
          <a:bodyPr anchor="b" anchorCtr="0"/>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5">
            <a:extLst>
              <a:ext uri="{FF2B5EF4-FFF2-40B4-BE49-F238E27FC236}">
                <a16:creationId xmlns:a16="http://schemas.microsoft.com/office/drawing/2014/main" id="{798C8AA3-6350-A299-E288-D693A8EC8932}"/>
              </a:ext>
            </a:extLst>
          </p:cNvPr>
          <p:cNvSpPr>
            <a:spLocks noGrp="1"/>
          </p:cNvSpPr>
          <p:nvPr>
            <p:ph type="pic" sz="quarter" idx="14" hasCustomPrompt="1"/>
          </p:nvPr>
        </p:nvSpPr>
        <p:spPr>
          <a:xfrm>
            <a:off x="4049713" y="622300"/>
            <a:ext cx="7818436" cy="5453063"/>
          </a:xfrm>
          <a:prstGeom prst="roundRect">
            <a:avLst>
              <a:gd name="adj" fmla="val 1618"/>
            </a:avLst>
          </a:prstGeom>
          <a:solidFill>
            <a:schemeClr val="bg1">
              <a:alpha val="10000"/>
            </a:schemeClr>
          </a:solidFill>
        </p:spPr>
        <p:txBody>
          <a:bodyPr tIns="173736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340894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2 Slide Section, Title 1,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2739B37-658D-FBF5-94C3-66EECB73F7D0}"/>
              </a:ext>
            </a:extLst>
          </p:cNvPr>
          <p:cNvSpPr>
            <a:spLocks noGrp="1"/>
          </p:cNvSpPr>
          <p:nvPr>
            <p:ph type="pic" sz="quarter" idx="13" hasCustomPrompt="1"/>
          </p:nvPr>
        </p:nvSpPr>
        <p:spPr>
          <a:xfrm>
            <a:off x="6096001" y="320675"/>
            <a:ext cx="5766436" cy="5754687"/>
          </a:xfrm>
          <a:prstGeom prst="roundRect">
            <a:avLst>
              <a:gd name="adj" fmla="val 1714"/>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a:t>
            </a:r>
            <a:br>
              <a:rPr lang="en-US" dirty="0"/>
            </a:br>
            <a:r>
              <a:rPr lang="en-US" dirty="0"/>
              <a:t>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694474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Full Margin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323850" y="952500"/>
            <a:ext cx="11544300" cy="5122863"/>
          </a:xfrm>
          <a:prstGeom prst="roundRect">
            <a:avLst>
              <a:gd name="adj" fmla="val 1503"/>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2412079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Subtitle, Full Margin Photo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1154430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2" name="Picture Placeholder 5">
            <a:extLst>
              <a:ext uri="{FF2B5EF4-FFF2-40B4-BE49-F238E27FC236}">
                <a16:creationId xmlns:a16="http://schemas.microsoft.com/office/drawing/2014/main" id="{99D23610-D323-6271-753B-C40A3678BD66}"/>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059976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ection, Title, Full Margin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170B322-9DD5-07FB-D258-3DA95EF8E7B1}"/>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80200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ull-bleed Photo,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B168980-BFE5-40AF-63BF-9DB031B379C4}"/>
              </a:ext>
            </a:extLst>
          </p:cNvPr>
          <p:cNvSpPr>
            <a:spLocks noGrp="1"/>
          </p:cNvSpPr>
          <p:nvPr>
            <p:ph type="ftr" sz="quarter" idx="13"/>
          </p:nvPr>
        </p:nvSpPr>
        <p:spPr/>
        <p:txBody>
          <a:bodyPr/>
          <a:lstStyle/>
          <a:p>
            <a:pPr defTabSz="814318">
              <a:defRPr/>
            </a:pPr>
            <a:r>
              <a:rPr lang="en-US"/>
              <a:t>Session ID: BRKSEC-XXXX</a:t>
            </a:r>
            <a:endParaRPr lang="en-US" dirty="0"/>
          </a:p>
        </p:txBody>
      </p:sp>
      <p:sp>
        <p:nvSpPr>
          <p:cNvPr id="5" name="Slide Number Placeholder 4">
            <a:extLst>
              <a:ext uri="{FF2B5EF4-FFF2-40B4-BE49-F238E27FC236}">
                <a16:creationId xmlns:a16="http://schemas.microsoft.com/office/drawing/2014/main" id="{7E7B9760-CDAA-BC58-F236-F1837F40C2DB}"/>
              </a:ext>
            </a:extLst>
          </p:cNvPr>
          <p:cNvSpPr>
            <a:spLocks noGrp="1"/>
          </p:cNvSpPr>
          <p:nvPr>
            <p:ph type="sldNum" sz="quarter" idx="14"/>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14738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Full Bleed Photo, Titl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722312" y="4540250"/>
            <a:ext cx="10747375" cy="1071563"/>
          </a:xfrm>
        </p:spPr>
        <p:txBody>
          <a:bodyPr anchor="b" anchorCtr="0"/>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533713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Full-bleed Photo, Section,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27719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Full-bleed Photo, 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206597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Upper 2/3 Photo, Section, Tit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4675188"/>
          </a:xfrm>
          <a:prstGeom prst="roundRect">
            <a:avLst>
              <a:gd name="adj" fmla="val 0"/>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323850" y="-7937"/>
            <a:ext cx="8612188" cy="466344"/>
          </a:xfrm>
        </p:spPr>
        <p:txBody>
          <a:bodyPr anchor="b" anchorCtr="0"/>
          <a:lstStyle>
            <a:lvl1pPr marL="0" indent="0" algn="l">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323850" y="5003800"/>
            <a:ext cx="8612188" cy="1071563"/>
          </a:xfrm>
        </p:spPr>
        <p:txBody>
          <a:bodyPr/>
          <a:lstStyle>
            <a:lvl1pPr algn="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289288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1">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1132840"/>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gradFill flip="none" rotWithShape="1">
              <a:gsLst>
                <a:gs pos="0">
                  <a:schemeClr val="accent1"/>
                </a:gs>
                <a:gs pos="100000">
                  <a:schemeClr val="accent2"/>
                </a:gs>
              </a:gsLst>
              <a:lin ang="2700000" scaled="1"/>
              <a:tileRect/>
            </a:gradFill>
            <a:prstDash val="solid"/>
            <a:miter/>
          </a:ln>
        </p:spPr>
        <p:txBody>
          <a:bodyPr rtlCol="0" anchor="ctr"/>
          <a:lstStyle/>
          <a:p>
            <a:endParaRPr lang="en-US" dirty="0">
              <a:gradFill>
                <a:gsLst>
                  <a:gs pos="0">
                    <a:srgbClr val="009DE2"/>
                  </a:gs>
                  <a:gs pos="100000">
                    <a:schemeClr val="accent2"/>
                  </a:gs>
                </a:gsLst>
                <a:lin ang="2700000" scaled="1"/>
              </a:gradFill>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876424"/>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360863"/>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dirty="0"/>
              <a:t>Session ID: BRKSEC-XXXX</a:t>
            </a:r>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506069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963295"/>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5875" cap="flat">
            <a:solidFill>
              <a:schemeClr val="bg1"/>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706879"/>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191318"/>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01917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6096000" y="1244600"/>
            <a:ext cx="5373688" cy="3167380"/>
          </a:xfrm>
        </p:spPr>
        <p:txBody>
          <a:bodyPr/>
          <a:lstStyle>
            <a:lvl1pPr algn="l">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no </a:t>
            </a:r>
            <a:r>
              <a:rPr lang="en-GB" dirty="0" err="1"/>
              <a:t>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6096000" y="4726305"/>
            <a:ext cx="5373688" cy="673417"/>
          </a:xfrm>
        </p:spPr>
        <p:txBody>
          <a:bodyPr/>
          <a:lstStyle>
            <a:lvl1pPr marL="0" indent="0" algn="l">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795219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5683250"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323850" y="1555750"/>
            <a:ext cx="56832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49451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p:txBody>
          <a:bodyPr/>
          <a:lstStyle/>
          <a:p>
            <a:fld id="{C3C42FAE-7A31-41D3-A712-51D9B15D0B10}" type="slidenum">
              <a:rPr lang="en-US" smtClean="0"/>
              <a:pPr/>
              <a:t>‹#›</a:t>
            </a:fld>
            <a:endParaRPr lang="en-US" dirty="0"/>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1778090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ubtitle, Chart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9" name="Chart Placeholder 8">
            <a:extLst>
              <a:ext uri="{FF2B5EF4-FFF2-40B4-BE49-F238E27FC236}">
                <a16:creationId xmlns:a16="http://schemas.microsoft.com/office/drawing/2014/main" id="{BD67761C-12AC-06B4-1032-66C47B765FE0}"/>
              </a:ext>
            </a:extLst>
          </p:cNvPr>
          <p:cNvSpPr>
            <a:spLocks noGrp="1"/>
          </p:cNvSpPr>
          <p:nvPr>
            <p:ph type="chart" sz="quarter" idx="13" hasCustomPrompt="1"/>
          </p:nvPr>
        </p:nvSpPr>
        <p:spPr>
          <a:xfrm>
            <a:off x="722313" y="1555750"/>
            <a:ext cx="10747375" cy="4519613"/>
          </a:xfrm>
        </p:spPr>
        <p:txBody>
          <a:bodyPr tIns="914400"/>
          <a:lstStyle>
            <a:lvl1pPr marL="0" indent="0" algn="ctr">
              <a:buNone/>
              <a:defRPr/>
            </a:lvl1pPr>
          </a:lstStyle>
          <a:p>
            <a:r>
              <a:rPr lang="en-US" dirty="0"/>
              <a:t>Click on icon below to add a chart</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324269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title, Table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7" name="Table Placeholder 6">
            <a:extLst>
              <a:ext uri="{FF2B5EF4-FFF2-40B4-BE49-F238E27FC236}">
                <a16:creationId xmlns:a16="http://schemas.microsoft.com/office/drawing/2014/main" id="{B0E688F9-03DF-D354-A8AF-EF5349F39C6B}"/>
              </a:ext>
            </a:extLst>
          </p:cNvPr>
          <p:cNvSpPr>
            <a:spLocks noGrp="1"/>
          </p:cNvSpPr>
          <p:nvPr>
            <p:ph type="tbl" sz="quarter" idx="13" hasCustomPrompt="1"/>
          </p:nvPr>
        </p:nvSpPr>
        <p:spPr>
          <a:xfrm>
            <a:off x="323850" y="1555750"/>
            <a:ext cx="11544300" cy="4519613"/>
          </a:xfrm>
        </p:spPr>
        <p:txBody>
          <a:bodyPr tIns="914400"/>
          <a:lstStyle>
            <a:lvl1pPr marL="0" indent="0" algn="ctr">
              <a:buNone/>
              <a:defRPr/>
            </a:lvl1pPr>
          </a:lstStyle>
          <a:p>
            <a:r>
              <a:rPr lang="en-US" dirty="0"/>
              <a:t>Click on icon below to add a table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065490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2 Slide Title, Char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6" name="Chart Placeholder 5">
            <a:extLst>
              <a:ext uri="{FF2B5EF4-FFF2-40B4-BE49-F238E27FC236}">
                <a16:creationId xmlns:a16="http://schemas.microsoft.com/office/drawing/2014/main" id="{89EC94CF-F758-4A7C-3B39-A1EFC1EA815A}"/>
              </a:ext>
            </a:extLst>
          </p:cNvPr>
          <p:cNvSpPr>
            <a:spLocks noGrp="1"/>
          </p:cNvSpPr>
          <p:nvPr>
            <p:ph type="chart" sz="quarter" idx="12" hasCustomPrompt="1"/>
          </p:nvPr>
        </p:nvSpPr>
        <p:spPr>
          <a:xfrm>
            <a:off x="6581775" y="952500"/>
            <a:ext cx="4887913" cy="4968875"/>
          </a:xfrm>
        </p:spPr>
        <p:txBody>
          <a:bodyPr tIns="914400"/>
          <a:lstStyle>
            <a:lvl1pPr marL="0" indent="0" algn="ctr">
              <a:buNone/>
              <a:defRPr/>
            </a:lvl1pPr>
          </a:lstStyle>
          <a:p>
            <a:r>
              <a:rPr lang="en-US" dirty="0"/>
              <a:t>Click icon below to add chart</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260615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1, 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0C9451-8976-3C96-3C4E-F9624BB318AB}"/>
              </a:ext>
            </a:extLst>
          </p:cNvPr>
          <p:cNvSpPr>
            <a:spLocks noGrp="1"/>
          </p:cNvSpPr>
          <p:nvPr>
            <p:ph type="title"/>
          </p:nvPr>
        </p:nvSpPr>
        <p:spPr>
          <a:xfrm>
            <a:off x="2278063" y="952500"/>
            <a:ext cx="7634288" cy="2476500"/>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sz="quarter" idx="11"/>
          </p:nvPr>
        </p:nvSpPr>
        <p:spPr>
          <a:xfrm>
            <a:off x="2278063" y="3738563"/>
            <a:ext cx="7634287" cy="936625"/>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63146B2-9533-23DF-7DA9-0EBFD969778A}"/>
              </a:ext>
            </a:extLst>
          </p:cNvPr>
          <p:cNvSpPr>
            <a:spLocks noGrp="1"/>
          </p:cNvSpPr>
          <p:nvPr>
            <p:ph type="ftr" sz="quarter" idx="12"/>
          </p:nvPr>
        </p:nvSpPr>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8FD4EDA1-89C5-8341-7EDE-FCCAAA0607CB}"/>
              </a:ext>
            </a:extLst>
          </p:cNvPr>
          <p:cNvSpPr>
            <a:spLocks noGrp="1"/>
          </p:cNvSpPr>
          <p:nvPr>
            <p:ph type="sldNum" sz="quarter" idx="10"/>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859143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hoto Statement 1, Title, Sub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BE3366F-F43E-6996-B128-0A001300FD22}"/>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p:spPr>
        <p:txBody>
          <a:bodyPr tIns="274320"/>
          <a:lstStyle>
            <a:lvl1pPr marL="0" indent="0" algn="ctr">
              <a:buNone/>
              <a:defRPr/>
            </a:lvl1pPr>
          </a:lstStyle>
          <a:p>
            <a:r>
              <a:rPr lang="en-US" dirty="0"/>
              <a:t>Image placeholder</a:t>
            </a:r>
          </a:p>
        </p:txBody>
      </p:sp>
      <p:sp>
        <p:nvSpPr>
          <p:cNvPr id="6" name="Title 5">
            <a:extLst>
              <a:ext uri="{FF2B5EF4-FFF2-40B4-BE49-F238E27FC236}">
                <a16:creationId xmlns:a16="http://schemas.microsoft.com/office/drawing/2014/main" id="{576B6A35-8740-9D1E-A189-71BC5C742FCC}"/>
              </a:ext>
            </a:extLst>
          </p:cNvPr>
          <p:cNvSpPr>
            <a:spLocks noGrp="1"/>
          </p:cNvSpPr>
          <p:nvPr>
            <p:ph type="title"/>
          </p:nvPr>
        </p:nvSpPr>
        <p:spPr>
          <a:xfrm>
            <a:off x="2278063" y="952500"/>
            <a:ext cx="7634288" cy="1537465"/>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 uri="{C183D7F6-B498-43B3-948B-1728B52AA6E4}">
                <adec:decorative xmlns:adec="http://schemas.microsoft.com/office/drawing/2017/decorative" val="0"/>
              </a:ext>
            </a:extLst>
          </p:cNvPr>
          <p:cNvSpPr>
            <a:spLocks noGrp="1"/>
          </p:cNvSpPr>
          <p:nvPr>
            <p:ph type="body" sz="quarter" idx="11"/>
          </p:nvPr>
        </p:nvSpPr>
        <p:spPr>
          <a:xfrm>
            <a:off x="2278063" y="2492374"/>
            <a:ext cx="7634287" cy="311152"/>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5D703969-9100-4398-1394-9B9B34222C66}"/>
              </a:ext>
            </a:extLst>
          </p:cNvPr>
          <p:cNvSpPr>
            <a:spLocks noGrp="1"/>
          </p:cNvSpPr>
          <p:nvPr>
            <p:ph type="ftr" sz="quarter" idx="14"/>
          </p:nvPr>
        </p:nvSpPr>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D6CFB270-12CC-4B92-85FD-B7710644F26B}"/>
              </a:ext>
              <a:ext uri="{C183D7F6-B498-43B3-948B-1728B52AA6E4}">
                <adec:decorative xmlns:adec="http://schemas.microsoft.com/office/drawing/2017/decorative" val="0"/>
              </a:ext>
            </a:extLst>
          </p:cNvPr>
          <p:cNvSpPr>
            <a:spLocks noGrp="1"/>
          </p:cNvSpPr>
          <p:nvPr>
            <p:ph type="sldNum" sz="quarter" idx="12"/>
          </p:nvPr>
        </p:nvSpPr>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786531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Segu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885A1-2C43-8640-F232-FC541372805F}"/>
              </a:ext>
            </a:extLst>
          </p:cNvPr>
          <p:cNvSpPr>
            <a:spLocks noGrp="1"/>
          </p:cNvSpPr>
          <p:nvPr>
            <p:ph type="title"/>
          </p:nvPr>
        </p:nvSpPr>
        <p:spPr>
          <a:xfrm>
            <a:off x="323850" y="2492231"/>
            <a:ext cx="7634288" cy="1870075"/>
          </a:xfr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921097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Segu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F17AB4-9E08-0A74-D302-44EB1D55BE7A}"/>
              </a:ext>
            </a:extLst>
          </p:cNvPr>
          <p:cNvSpPr>
            <a:spLocks noGrp="1"/>
          </p:cNvSpPr>
          <p:nvPr>
            <p:ph type="title"/>
          </p:nvPr>
        </p:nvSpPr>
        <p:spPr>
          <a:xfrm>
            <a:off x="323850" y="2492375"/>
            <a:ext cx="7634288" cy="1868488"/>
          </a:xfrm>
        </p:spPr>
        <p:txBody>
          <a:bodyPr wrap="square" anchor="ctr" anchorCtr="0">
            <a:no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2038744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Segu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634288" cy="1868487"/>
          </a:xfr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686022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Segue 4">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235825" cy="1868487"/>
          </a:xfrm>
        </p:spPr>
        <p:txBody>
          <a:bodyPr anchor="ctr" anchorCtr="0"/>
          <a:lstStyle>
            <a:lvl1pPr>
              <a:defRPr sz="40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272313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hank you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5412D7-A614-E163-F131-6847698E7759}"/>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1244601"/>
            <a:ext cx="10888663" cy="4367212"/>
          </a:xfrm>
          <a:prstGeom prst="rect">
            <a:avLst/>
          </a:prstGeom>
          <a:solidFill>
            <a:schemeClr val="tx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dirty="0" err="1">
              <a:solidFill>
                <a:schemeClr val="bg1"/>
              </a:solidFill>
            </a:endParaRPr>
          </a:p>
        </p:txBody>
      </p:sp>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dirty="0"/>
              <a:t>Thank you</a:t>
            </a:r>
          </a:p>
        </p:txBody>
      </p:sp>
      <p:pic>
        <p:nvPicPr>
          <p:cNvPr id="18" name="Picture 7" descr="Cisco logo">
            <a:extLst>
              <a:ext uri="{FF2B5EF4-FFF2-40B4-BE49-F238E27FC236}">
                <a16:creationId xmlns:a16="http://schemas.microsoft.com/office/drawing/2014/main" id="{56775E76-582E-6CCC-1676-4F670B0BFC5C}"/>
              </a:ext>
            </a:extLst>
          </p:cNvPr>
          <p:cNvPicPr>
            <a:picLocks noGrp="1" noRot="1" noChangeAspect="1" noMove="1" noResize="1" noEditPoints="1" noAdjustHandles="1" noChangeArrowheads="1" noChangeShapeType="1" noCrop="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9058274" y="3188776"/>
            <a:ext cx="914400" cy="480447"/>
          </a:xfrm>
          <a:prstGeom prst="rect">
            <a:avLst/>
          </a:prstGeom>
        </p:spPr>
      </p:pic>
    </p:spTree>
    <p:extLst>
      <p:ext uri="{BB962C8B-B14F-4D97-AF65-F5344CB8AC3E}">
        <p14:creationId xmlns:p14="http://schemas.microsoft.com/office/powerpoint/2010/main" val="2314890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Thank you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dirty="0"/>
              <a:t>Thank you</a:t>
            </a:r>
          </a:p>
        </p:txBody>
      </p:sp>
    </p:spTree>
    <p:extLst>
      <p:ext uri="{BB962C8B-B14F-4D97-AF65-F5344CB8AC3E}">
        <p14:creationId xmlns:p14="http://schemas.microsoft.com/office/powerpoint/2010/main" val="2900985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Closing 1">
    <p:spTree>
      <p:nvGrpSpPr>
        <p:cNvPr id="1" name=""/>
        <p:cNvGrpSpPr/>
        <p:nvPr/>
      </p:nvGrpSpPr>
      <p:grpSpPr>
        <a:xfrm>
          <a:off x="0" y="0"/>
          <a:ext cx="0" cy="0"/>
          <a:chOff x="0" y="0"/>
          <a:chExt cx="0" cy="0"/>
        </a:xfrm>
      </p:grpSpPr>
      <p:grpSp>
        <p:nvGrpSpPr>
          <p:cNvPr id="3" name="Graphic 2" descr="Cisco logo">
            <a:extLst>
              <a:ext uri="{FF2B5EF4-FFF2-40B4-BE49-F238E27FC236}">
                <a16:creationId xmlns:a16="http://schemas.microsoft.com/office/drawing/2014/main" id="{9A32CA38-C4CF-D4BC-78F1-F151F8F9799C}"/>
              </a:ext>
            </a:extLst>
          </p:cNvPr>
          <p:cNvGrpSpPr>
            <a:grpSpLocks noChangeAspect="1"/>
          </p:cNvGrpSpPr>
          <p:nvPr/>
        </p:nvGrpSpPr>
        <p:grpSpPr>
          <a:xfrm>
            <a:off x="5487122" y="2978332"/>
            <a:ext cx="1217756" cy="640080"/>
            <a:chOff x="7202835" y="2919593"/>
            <a:chExt cx="1014444" cy="533215"/>
          </a:xfrm>
          <a:solidFill>
            <a:schemeClr val="bg1"/>
          </a:solidFill>
        </p:grpSpPr>
        <p:sp>
          <p:nvSpPr>
            <p:cNvPr id="4" name="Freeform 24">
              <a:extLst>
                <a:ext uri="{FF2B5EF4-FFF2-40B4-BE49-F238E27FC236}">
                  <a16:creationId xmlns:a16="http://schemas.microsoft.com/office/drawing/2014/main" id="{0848F511-CD0C-4E21-1411-CA7D0F6E3A43}"/>
                </a:ext>
              </a:extLst>
            </p:cNvPr>
            <p:cNvSpPr/>
            <p:nvPr/>
          </p:nvSpPr>
          <p:spPr>
            <a:xfrm>
              <a:off x="7489875" y="3273956"/>
              <a:ext cx="44467" cy="175170"/>
            </a:xfrm>
            <a:custGeom>
              <a:avLst/>
              <a:gdLst>
                <a:gd name="connsiteX0" fmla="*/ 0 w 44467"/>
                <a:gd name="connsiteY0" fmla="*/ 0 h 175170"/>
                <a:gd name="connsiteX1" fmla="*/ 44467 w 44467"/>
                <a:gd name="connsiteY1" fmla="*/ 0 h 175170"/>
                <a:gd name="connsiteX2" fmla="*/ 44467 w 44467"/>
                <a:gd name="connsiteY2" fmla="*/ 175170 h 175170"/>
                <a:gd name="connsiteX3" fmla="*/ 0 w 44467"/>
                <a:gd name="connsiteY3" fmla="*/ 175170 h 175170"/>
              </a:gdLst>
              <a:ahLst/>
              <a:cxnLst>
                <a:cxn ang="0">
                  <a:pos x="connsiteX0" y="connsiteY0"/>
                </a:cxn>
                <a:cxn ang="0">
                  <a:pos x="connsiteX1" y="connsiteY1"/>
                </a:cxn>
                <a:cxn ang="0">
                  <a:pos x="connsiteX2" y="connsiteY2"/>
                </a:cxn>
                <a:cxn ang="0">
                  <a:pos x="connsiteX3" y="connsiteY3"/>
                </a:cxn>
              </a:cxnLst>
              <a:rect l="l" t="t" r="r" b="b"/>
              <a:pathLst>
                <a:path w="44467" h="175170">
                  <a:moveTo>
                    <a:pt x="0" y="0"/>
                  </a:moveTo>
                  <a:lnTo>
                    <a:pt x="44467" y="0"/>
                  </a:lnTo>
                  <a:lnTo>
                    <a:pt x="44467" y="175170"/>
                  </a:lnTo>
                  <a:lnTo>
                    <a:pt x="0" y="175170"/>
                  </a:lnTo>
                  <a:close/>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5" name="Freeform 25">
              <a:extLst>
                <a:ext uri="{FF2B5EF4-FFF2-40B4-BE49-F238E27FC236}">
                  <a16:creationId xmlns:a16="http://schemas.microsoft.com/office/drawing/2014/main" id="{CE7BD058-D0FF-047D-F5E7-7A0A610E086D}"/>
                </a:ext>
              </a:extLst>
            </p:cNvPr>
            <p:cNvSpPr/>
            <p:nvPr/>
          </p:nvSpPr>
          <p:spPr>
            <a:xfrm>
              <a:off x="7758493" y="3270889"/>
              <a:ext cx="134399" cy="181394"/>
            </a:xfrm>
            <a:custGeom>
              <a:avLst/>
              <a:gdLst>
                <a:gd name="connsiteX0" fmla="*/ 0 w 134399"/>
                <a:gd name="connsiteY0" fmla="*/ 90652 h 181394"/>
                <a:gd name="connsiteX1" fmla="*/ 93835 w 134399"/>
                <a:gd name="connsiteY1" fmla="*/ 181394 h 181394"/>
                <a:gd name="connsiteX2" fmla="*/ 134400 w 134399"/>
                <a:gd name="connsiteY2" fmla="*/ 175170 h 181394"/>
                <a:gd name="connsiteX3" fmla="*/ 134400 w 134399"/>
                <a:gd name="connsiteY3" fmla="*/ 128176 h 181394"/>
                <a:gd name="connsiteX4" fmla="*/ 97011 w 134399"/>
                <a:gd name="connsiteY4" fmla="*/ 137196 h 181394"/>
                <a:gd name="connsiteX5" fmla="*/ 50003 w 134399"/>
                <a:gd name="connsiteY5" fmla="*/ 90472 h 181394"/>
                <a:gd name="connsiteX6" fmla="*/ 97011 w 134399"/>
                <a:gd name="connsiteY6" fmla="*/ 43747 h 181394"/>
                <a:gd name="connsiteX7" fmla="*/ 134400 w 134399"/>
                <a:gd name="connsiteY7" fmla="*/ 52768 h 181394"/>
                <a:gd name="connsiteX8" fmla="*/ 134400 w 134399"/>
                <a:gd name="connsiteY8" fmla="*/ 6314 h 181394"/>
                <a:gd name="connsiteX9" fmla="*/ 93835 w 134399"/>
                <a:gd name="connsiteY9" fmla="*/ 0 h 181394"/>
                <a:gd name="connsiteX10" fmla="*/ 0 w 134399"/>
                <a:gd name="connsiteY10" fmla="*/ 90652 h 18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399" h="181394">
                  <a:moveTo>
                    <a:pt x="0" y="90652"/>
                  </a:moveTo>
                  <a:cubicBezTo>
                    <a:pt x="0" y="147118"/>
                    <a:pt x="43832" y="181394"/>
                    <a:pt x="93835" y="181394"/>
                  </a:cubicBezTo>
                  <a:cubicBezTo>
                    <a:pt x="107583" y="181261"/>
                    <a:pt x="121250" y="179165"/>
                    <a:pt x="134400" y="175170"/>
                  </a:cubicBezTo>
                  <a:lnTo>
                    <a:pt x="134400" y="128176"/>
                  </a:lnTo>
                  <a:cubicBezTo>
                    <a:pt x="122893" y="134240"/>
                    <a:pt x="110034" y="137341"/>
                    <a:pt x="97011" y="137196"/>
                  </a:cubicBezTo>
                  <a:cubicBezTo>
                    <a:pt x="71048" y="137196"/>
                    <a:pt x="50003" y="116276"/>
                    <a:pt x="50003" y="90472"/>
                  </a:cubicBezTo>
                  <a:cubicBezTo>
                    <a:pt x="50003" y="64667"/>
                    <a:pt x="71048" y="43747"/>
                    <a:pt x="97011" y="43747"/>
                  </a:cubicBezTo>
                  <a:cubicBezTo>
                    <a:pt x="110034" y="43598"/>
                    <a:pt x="122893" y="46700"/>
                    <a:pt x="134400" y="52768"/>
                  </a:cubicBezTo>
                  <a:lnTo>
                    <a:pt x="134400" y="6314"/>
                  </a:lnTo>
                  <a:cubicBezTo>
                    <a:pt x="121287" y="2146"/>
                    <a:pt x="107602" y="15"/>
                    <a:pt x="93835" y="0"/>
                  </a:cubicBezTo>
                  <a:cubicBezTo>
                    <a:pt x="39385" y="0"/>
                    <a:pt x="0" y="38335"/>
                    <a:pt x="0" y="9065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6" name="Freeform 26">
              <a:extLst>
                <a:ext uri="{FF2B5EF4-FFF2-40B4-BE49-F238E27FC236}">
                  <a16:creationId xmlns:a16="http://schemas.microsoft.com/office/drawing/2014/main" id="{83623A44-0F0F-1370-66F6-0846CAF90985}"/>
                </a:ext>
              </a:extLst>
            </p:cNvPr>
            <p:cNvSpPr/>
            <p:nvPr/>
          </p:nvSpPr>
          <p:spPr>
            <a:xfrm>
              <a:off x="7294401" y="3270889"/>
              <a:ext cx="134581" cy="181394"/>
            </a:xfrm>
            <a:custGeom>
              <a:avLst/>
              <a:gdLst>
                <a:gd name="connsiteX0" fmla="*/ 0 w 134581"/>
                <a:gd name="connsiteY0" fmla="*/ 90652 h 181394"/>
                <a:gd name="connsiteX1" fmla="*/ 93926 w 134581"/>
                <a:gd name="connsiteY1" fmla="*/ 181394 h 181394"/>
                <a:gd name="connsiteX2" fmla="*/ 134581 w 134581"/>
                <a:gd name="connsiteY2" fmla="*/ 175170 h 181394"/>
                <a:gd name="connsiteX3" fmla="*/ 134581 w 134581"/>
                <a:gd name="connsiteY3" fmla="*/ 128176 h 181394"/>
                <a:gd name="connsiteX4" fmla="*/ 97193 w 134581"/>
                <a:gd name="connsiteY4" fmla="*/ 137196 h 181394"/>
                <a:gd name="connsiteX5" fmla="*/ 50184 w 134581"/>
                <a:gd name="connsiteY5" fmla="*/ 90472 h 181394"/>
                <a:gd name="connsiteX6" fmla="*/ 97193 w 134581"/>
                <a:gd name="connsiteY6" fmla="*/ 43747 h 181394"/>
                <a:gd name="connsiteX7" fmla="*/ 134581 w 134581"/>
                <a:gd name="connsiteY7" fmla="*/ 52768 h 181394"/>
                <a:gd name="connsiteX8" fmla="*/ 134581 w 134581"/>
                <a:gd name="connsiteY8" fmla="*/ 6314 h 181394"/>
                <a:gd name="connsiteX9" fmla="*/ 93926 w 134581"/>
                <a:gd name="connsiteY9" fmla="*/ 0 h 181394"/>
                <a:gd name="connsiteX10" fmla="*/ 181 w 134581"/>
                <a:gd name="connsiteY10" fmla="*/ 90652 h 181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581" h="181394">
                  <a:moveTo>
                    <a:pt x="0" y="90652"/>
                  </a:moveTo>
                  <a:cubicBezTo>
                    <a:pt x="0" y="147118"/>
                    <a:pt x="43832" y="181394"/>
                    <a:pt x="93926" y="181394"/>
                  </a:cubicBezTo>
                  <a:cubicBezTo>
                    <a:pt x="107708" y="181268"/>
                    <a:pt x="121400" y="179172"/>
                    <a:pt x="134581" y="175170"/>
                  </a:cubicBezTo>
                  <a:lnTo>
                    <a:pt x="134581" y="128176"/>
                  </a:lnTo>
                  <a:cubicBezTo>
                    <a:pt x="123065" y="134222"/>
                    <a:pt x="110216" y="137322"/>
                    <a:pt x="97193" y="137196"/>
                  </a:cubicBezTo>
                  <a:cubicBezTo>
                    <a:pt x="71231" y="137196"/>
                    <a:pt x="50184" y="116276"/>
                    <a:pt x="50184" y="90472"/>
                  </a:cubicBezTo>
                  <a:cubicBezTo>
                    <a:pt x="50184" y="64667"/>
                    <a:pt x="71231" y="43747"/>
                    <a:pt x="97193" y="43747"/>
                  </a:cubicBezTo>
                  <a:cubicBezTo>
                    <a:pt x="110217" y="43613"/>
                    <a:pt x="123068" y="46714"/>
                    <a:pt x="134581" y="52768"/>
                  </a:cubicBezTo>
                  <a:lnTo>
                    <a:pt x="134581" y="6314"/>
                  </a:lnTo>
                  <a:cubicBezTo>
                    <a:pt x="121434" y="2159"/>
                    <a:pt x="107722" y="30"/>
                    <a:pt x="93926" y="0"/>
                  </a:cubicBezTo>
                  <a:cubicBezTo>
                    <a:pt x="39476" y="0"/>
                    <a:pt x="181" y="38335"/>
                    <a:pt x="181" y="9065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7" name="Freeform 27">
              <a:extLst>
                <a:ext uri="{FF2B5EF4-FFF2-40B4-BE49-F238E27FC236}">
                  <a16:creationId xmlns:a16="http://schemas.microsoft.com/office/drawing/2014/main" id="{8ABAB402-379C-A6D8-AF39-B22717AC8652}"/>
                </a:ext>
              </a:extLst>
            </p:cNvPr>
            <p:cNvSpPr/>
            <p:nvPr/>
          </p:nvSpPr>
          <p:spPr>
            <a:xfrm>
              <a:off x="7943079" y="3270861"/>
              <a:ext cx="182591" cy="181947"/>
            </a:xfrm>
            <a:custGeom>
              <a:avLst/>
              <a:gdLst>
                <a:gd name="connsiteX0" fmla="*/ 89568 w 182591"/>
                <a:gd name="connsiteY0" fmla="*/ 137224 h 181947"/>
                <a:gd name="connsiteX1" fmla="*/ 42832 w 182591"/>
                <a:gd name="connsiteY1" fmla="*/ 91494 h 181947"/>
                <a:gd name="connsiteX2" fmla="*/ 88842 w 182591"/>
                <a:gd name="connsiteY2" fmla="*/ 45041 h 181947"/>
                <a:gd name="connsiteX3" fmla="*/ 135578 w 182591"/>
                <a:gd name="connsiteY3" fmla="*/ 90772 h 181947"/>
                <a:gd name="connsiteX4" fmla="*/ 135578 w 182591"/>
                <a:gd name="connsiteY4" fmla="*/ 91131 h 181947"/>
                <a:gd name="connsiteX5" fmla="*/ 91220 w 182591"/>
                <a:gd name="connsiteY5" fmla="*/ 137218 h 181947"/>
                <a:gd name="connsiteX6" fmla="*/ 89568 w 182591"/>
                <a:gd name="connsiteY6" fmla="*/ 137224 h 181947"/>
                <a:gd name="connsiteX7" fmla="*/ 89568 w 182591"/>
                <a:gd name="connsiteY7" fmla="*/ 479 h 181947"/>
                <a:gd name="connsiteX8" fmla="*/ 17 w 182591"/>
                <a:gd name="connsiteY8" fmla="*/ 92919 h 181947"/>
                <a:gd name="connsiteX9" fmla="*/ 93017 w 182591"/>
                <a:gd name="connsiteY9" fmla="*/ 181931 h 181947"/>
                <a:gd name="connsiteX10" fmla="*/ 182586 w 182591"/>
                <a:gd name="connsiteY10" fmla="*/ 91131 h 181947"/>
                <a:gd name="connsiteX11" fmla="*/ 92781 w 182591"/>
                <a:gd name="connsiteY11" fmla="*/ 5 h 181947"/>
                <a:gd name="connsiteX12" fmla="*/ 89568 w 182591"/>
                <a:gd name="connsiteY12" fmla="*/ 28 h 18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2591" h="181947">
                  <a:moveTo>
                    <a:pt x="89568" y="137224"/>
                  </a:moveTo>
                  <a:cubicBezTo>
                    <a:pt x="63959" y="137423"/>
                    <a:pt x="43032" y="116949"/>
                    <a:pt x="42832" y="91494"/>
                  </a:cubicBezTo>
                  <a:cubicBezTo>
                    <a:pt x="42633" y="66038"/>
                    <a:pt x="63233" y="45241"/>
                    <a:pt x="88842" y="45041"/>
                  </a:cubicBezTo>
                  <a:cubicBezTo>
                    <a:pt x="114452" y="44842"/>
                    <a:pt x="135378" y="65317"/>
                    <a:pt x="135578" y="90772"/>
                  </a:cubicBezTo>
                  <a:cubicBezTo>
                    <a:pt x="135578" y="90891"/>
                    <a:pt x="135578" y="91011"/>
                    <a:pt x="135578" y="91131"/>
                  </a:cubicBezTo>
                  <a:cubicBezTo>
                    <a:pt x="136132" y="116033"/>
                    <a:pt x="116267" y="136667"/>
                    <a:pt x="91220" y="137218"/>
                  </a:cubicBezTo>
                  <a:cubicBezTo>
                    <a:pt x="90666" y="137229"/>
                    <a:pt x="90122" y="137232"/>
                    <a:pt x="89568" y="137224"/>
                  </a:cubicBezTo>
                  <a:moveTo>
                    <a:pt x="89568" y="479"/>
                  </a:moveTo>
                  <a:cubicBezTo>
                    <a:pt x="39157" y="1425"/>
                    <a:pt x="-936" y="42812"/>
                    <a:pt x="17" y="92919"/>
                  </a:cubicBezTo>
                  <a:cubicBezTo>
                    <a:pt x="969" y="143026"/>
                    <a:pt x="42605" y="182877"/>
                    <a:pt x="93017" y="181931"/>
                  </a:cubicBezTo>
                  <a:cubicBezTo>
                    <a:pt x="142784" y="180997"/>
                    <a:pt x="182623" y="140607"/>
                    <a:pt x="182586" y="91131"/>
                  </a:cubicBezTo>
                  <a:cubicBezTo>
                    <a:pt x="183104" y="41317"/>
                    <a:pt x="142893" y="519"/>
                    <a:pt x="92781" y="5"/>
                  </a:cubicBezTo>
                  <a:cubicBezTo>
                    <a:pt x="91710" y="-6"/>
                    <a:pt x="90639" y="1"/>
                    <a:pt x="89568" y="28"/>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8" name="Freeform 28">
              <a:extLst>
                <a:ext uri="{FF2B5EF4-FFF2-40B4-BE49-F238E27FC236}">
                  <a16:creationId xmlns:a16="http://schemas.microsoft.com/office/drawing/2014/main" id="{A0F49F63-D861-23D0-7A32-6898EA38AA9E}"/>
                </a:ext>
              </a:extLst>
            </p:cNvPr>
            <p:cNvSpPr/>
            <p:nvPr/>
          </p:nvSpPr>
          <p:spPr>
            <a:xfrm>
              <a:off x="7593692" y="3270799"/>
              <a:ext cx="121059" cy="181484"/>
            </a:xfrm>
            <a:custGeom>
              <a:avLst/>
              <a:gdLst>
                <a:gd name="connsiteX0" fmla="*/ 79678 w 121059"/>
                <a:gd name="connsiteY0" fmla="*/ 72612 h 181484"/>
                <a:gd name="connsiteX1" fmla="*/ 67427 w 121059"/>
                <a:gd name="connsiteY1" fmla="*/ 68733 h 181484"/>
                <a:gd name="connsiteX2" fmla="*/ 47099 w 121059"/>
                <a:gd name="connsiteY2" fmla="*/ 52046 h 181484"/>
                <a:gd name="connsiteX3" fmla="*/ 74324 w 121059"/>
                <a:gd name="connsiteY3" fmla="*/ 37614 h 181484"/>
                <a:gd name="connsiteX4" fmla="*/ 109081 w 121059"/>
                <a:gd name="connsiteY4" fmla="*/ 43026 h 181484"/>
                <a:gd name="connsiteX5" fmla="*/ 109081 w 121059"/>
                <a:gd name="connsiteY5" fmla="*/ 5592 h 181484"/>
                <a:gd name="connsiteX6" fmla="*/ 65703 w 121059"/>
                <a:gd name="connsiteY6" fmla="*/ 0 h 181484"/>
                <a:gd name="connsiteX7" fmla="*/ 0 w 121059"/>
                <a:gd name="connsiteY7" fmla="*/ 54752 h 181484"/>
                <a:gd name="connsiteX8" fmla="*/ 45375 w 121059"/>
                <a:gd name="connsiteY8" fmla="*/ 105986 h 181484"/>
                <a:gd name="connsiteX9" fmla="*/ 54994 w 121059"/>
                <a:gd name="connsiteY9" fmla="*/ 109143 h 181484"/>
                <a:gd name="connsiteX10" fmla="*/ 74778 w 121059"/>
                <a:gd name="connsiteY10" fmla="*/ 126462 h 181484"/>
                <a:gd name="connsiteX11" fmla="*/ 42471 w 121059"/>
                <a:gd name="connsiteY11" fmla="*/ 142878 h 181484"/>
                <a:gd name="connsiteX12" fmla="*/ 454 w 121059"/>
                <a:gd name="connsiteY12" fmla="*/ 136384 h 181484"/>
                <a:gd name="connsiteX13" fmla="*/ 454 w 121059"/>
                <a:gd name="connsiteY13" fmla="*/ 176704 h 181484"/>
                <a:gd name="connsiteX14" fmla="*/ 48460 w 121059"/>
                <a:gd name="connsiteY14" fmla="*/ 181484 h 181484"/>
                <a:gd name="connsiteX15" fmla="*/ 121060 w 121059"/>
                <a:gd name="connsiteY15" fmla="*/ 122673 h 181484"/>
                <a:gd name="connsiteX16" fmla="*/ 79043 w 121059"/>
                <a:gd name="connsiteY16" fmla="*/ 72612 h 18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059" h="181484">
                  <a:moveTo>
                    <a:pt x="79678" y="72612"/>
                  </a:moveTo>
                  <a:lnTo>
                    <a:pt x="67427" y="68733"/>
                  </a:lnTo>
                  <a:cubicBezTo>
                    <a:pt x="60167" y="66388"/>
                    <a:pt x="47099" y="62690"/>
                    <a:pt x="47099" y="52046"/>
                  </a:cubicBezTo>
                  <a:cubicBezTo>
                    <a:pt x="47099" y="43567"/>
                    <a:pt x="56718" y="37614"/>
                    <a:pt x="74324" y="37614"/>
                  </a:cubicBezTo>
                  <a:cubicBezTo>
                    <a:pt x="86085" y="38079"/>
                    <a:pt x="97746" y="39896"/>
                    <a:pt x="109081" y="43026"/>
                  </a:cubicBezTo>
                  <a:lnTo>
                    <a:pt x="109081" y="5592"/>
                  </a:lnTo>
                  <a:cubicBezTo>
                    <a:pt x="94888" y="2071"/>
                    <a:pt x="80331" y="194"/>
                    <a:pt x="65703" y="0"/>
                  </a:cubicBezTo>
                  <a:cubicBezTo>
                    <a:pt x="24684" y="0"/>
                    <a:pt x="0" y="22009"/>
                    <a:pt x="0" y="54752"/>
                  </a:cubicBezTo>
                  <a:cubicBezTo>
                    <a:pt x="0" y="83797"/>
                    <a:pt x="20691" y="98229"/>
                    <a:pt x="45375" y="105986"/>
                  </a:cubicBezTo>
                  <a:cubicBezTo>
                    <a:pt x="48188" y="106888"/>
                    <a:pt x="52272" y="108151"/>
                    <a:pt x="54994" y="109143"/>
                  </a:cubicBezTo>
                  <a:cubicBezTo>
                    <a:pt x="65975" y="112571"/>
                    <a:pt x="74778" y="117622"/>
                    <a:pt x="74778" y="126462"/>
                  </a:cubicBezTo>
                  <a:cubicBezTo>
                    <a:pt x="74778" y="135301"/>
                    <a:pt x="64614" y="142878"/>
                    <a:pt x="42471" y="142878"/>
                  </a:cubicBezTo>
                  <a:cubicBezTo>
                    <a:pt x="28250" y="142457"/>
                    <a:pt x="14130" y="140275"/>
                    <a:pt x="454" y="136384"/>
                  </a:cubicBezTo>
                  <a:lnTo>
                    <a:pt x="454" y="176704"/>
                  </a:lnTo>
                  <a:cubicBezTo>
                    <a:pt x="16281" y="179724"/>
                    <a:pt x="32343" y="181324"/>
                    <a:pt x="48460" y="181484"/>
                  </a:cubicBezTo>
                  <a:cubicBezTo>
                    <a:pt x="82491" y="181484"/>
                    <a:pt x="121060" y="166691"/>
                    <a:pt x="121060" y="122673"/>
                  </a:cubicBezTo>
                  <a:cubicBezTo>
                    <a:pt x="121060" y="101296"/>
                    <a:pt x="107901" y="81632"/>
                    <a:pt x="79043" y="7261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9" name="Freeform 29">
              <a:extLst>
                <a:ext uri="{FF2B5EF4-FFF2-40B4-BE49-F238E27FC236}">
                  <a16:creationId xmlns:a16="http://schemas.microsoft.com/office/drawing/2014/main" id="{62CA1BBC-594E-0B3B-ACB5-5180E647EB68}"/>
                </a:ext>
              </a:extLst>
            </p:cNvPr>
            <p:cNvSpPr/>
            <p:nvPr/>
          </p:nvSpPr>
          <p:spPr>
            <a:xfrm>
              <a:off x="7202835" y="3063878"/>
              <a:ext cx="44194" cy="88432"/>
            </a:xfrm>
            <a:custGeom>
              <a:avLst/>
              <a:gdLst>
                <a:gd name="connsiteX0" fmla="*/ 22143 w 44194"/>
                <a:gd name="connsiteY0" fmla="*/ 0 h 88432"/>
                <a:gd name="connsiteX1" fmla="*/ 0 w 44194"/>
                <a:gd name="connsiteY1" fmla="*/ 21919 h 88432"/>
                <a:gd name="connsiteX2" fmla="*/ 0 w 44194"/>
                <a:gd name="connsiteY2" fmla="*/ 67831 h 88432"/>
                <a:gd name="connsiteX3" fmla="*/ 23514 w 44194"/>
                <a:gd name="connsiteY3" fmla="*/ 88387 h 88432"/>
                <a:gd name="connsiteX4" fmla="*/ 44195 w 44194"/>
                <a:gd name="connsiteY4" fmla="*/ 67831 h 88432"/>
                <a:gd name="connsiteX5" fmla="*/ 44195 w 44194"/>
                <a:gd name="connsiteY5" fmla="*/ 21919 h 88432"/>
                <a:gd name="connsiteX6" fmla="*/ 22143 w 44194"/>
                <a:gd name="connsiteY6" fmla="*/ 0 h 88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94" h="88432">
                  <a:moveTo>
                    <a:pt x="22143" y="0"/>
                  </a:moveTo>
                  <a:cubicBezTo>
                    <a:pt x="9949" y="0"/>
                    <a:pt x="50" y="9799"/>
                    <a:pt x="0" y="21919"/>
                  </a:cubicBezTo>
                  <a:lnTo>
                    <a:pt x="0" y="67831"/>
                  </a:lnTo>
                  <a:cubicBezTo>
                    <a:pt x="782" y="79961"/>
                    <a:pt x="11310" y="89165"/>
                    <a:pt x="23514" y="88387"/>
                  </a:cubicBezTo>
                  <a:cubicBezTo>
                    <a:pt x="34627" y="87679"/>
                    <a:pt x="43483" y="78877"/>
                    <a:pt x="44195" y="67831"/>
                  </a:cubicBezTo>
                  <a:lnTo>
                    <a:pt x="44195" y="21919"/>
                  </a:lnTo>
                  <a:cubicBezTo>
                    <a:pt x="44195" y="9813"/>
                    <a:pt x="34321" y="0"/>
                    <a:pt x="22143"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0" name="Freeform 30">
              <a:extLst>
                <a:ext uri="{FF2B5EF4-FFF2-40B4-BE49-F238E27FC236}">
                  <a16:creationId xmlns:a16="http://schemas.microsoft.com/office/drawing/2014/main" id="{51B57147-07A3-179D-3B44-669E31BA0779}"/>
                </a:ext>
              </a:extLst>
            </p:cNvPr>
            <p:cNvSpPr/>
            <p:nvPr/>
          </p:nvSpPr>
          <p:spPr>
            <a:xfrm>
              <a:off x="7324348" y="3003533"/>
              <a:ext cx="44104" cy="150094"/>
            </a:xfrm>
            <a:custGeom>
              <a:avLst/>
              <a:gdLst>
                <a:gd name="connsiteX0" fmla="*/ 22052 w 44104"/>
                <a:gd name="connsiteY0" fmla="*/ 150094 h 150094"/>
                <a:gd name="connsiteX1" fmla="*/ 44104 w 44104"/>
                <a:gd name="connsiteY1" fmla="*/ 128176 h 150094"/>
                <a:gd name="connsiteX2" fmla="*/ 44104 w 44104"/>
                <a:gd name="connsiteY2" fmla="*/ 21919 h 150094"/>
                <a:gd name="connsiteX3" fmla="*/ 22052 w 44104"/>
                <a:gd name="connsiteY3" fmla="*/ 0 h 150094"/>
                <a:gd name="connsiteX4" fmla="*/ 0 w 44104"/>
                <a:gd name="connsiteY4" fmla="*/ 21919 h 150094"/>
                <a:gd name="connsiteX5" fmla="*/ 0 w 44104"/>
                <a:gd name="connsiteY5" fmla="*/ 128176 h 150094"/>
                <a:gd name="connsiteX6" fmla="*/ 22052 w 44104"/>
                <a:gd name="connsiteY6" fmla="*/ 150094 h 150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150094">
                  <a:moveTo>
                    <a:pt x="22052" y="150094"/>
                  </a:moveTo>
                  <a:cubicBezTo>
                    <a:pt x="34231" y="150094"/>
                    <a:pt x="44104" y="140281"/>
                    <a:pt x="44104" y="128176"/>
                  </a:cubicBezTo>
                  <a:lnTo>
                    <a:pt x="44104" y="21919"/>
                  </a:lnTo>
                  <a:cubicBezTo>
                    <a:pt x="44104" y="9813"/>
                    <a:pt x="34231" y="0"/>
                    <a:pt x="22052" y="0"/>
                  </a:cubicBezTo>
                  <a:cubicBezTo>
                    <a:pt x="9873" y="0"/>
                    <a:pt x="0" y="9813"/>
                    <a:pt x="0" y="21919"/>
                  </a:cubicBezTo>
                  <a:lnTo>
                    <a:pt x="0" y="128176"/>
                  </a:lnTo>
                  <a:cubicBezTo>
                    <a:pt x="0" y="140281"/>
                    <a:pt x="9873" y="150094"/>
                    <a:pt x="22052" y="150094"/>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1" name="Freeform 31">
              <a:extLst>
                <a:ext uri="{FF2B5EF4-FFF2-40B4-BE49-F238E27FC236}">
                  <a16:creationId xmlns:a16="http://schemas.microsoft.com/office/drawing/2014/main" id="{D2F4977B-6C3A-1749-28D3-74067758D800}"/>
                </a:ext>
              </a:extLst>
            </p:cNvPr>
            <p:cNvSpPr/>
            <p:nvPr/>
          </p:nvSpPr>
          <p:spPr>
            <a:xfrm>
              <a:off x="7445589" y="2921000"/>
              <a:ext cx="44104" cy="276375"/>
            </a:xfrm>
            <a:custGeom>
              <a:avLst/>
              <a:gdLst>
                <a:gd name="connsiteX0" fmla="*/ 22052 w 44104"/>
                <a:gd name="connsiteY0" fmla="*/ 0 h 276375"/>
                <a:gd name="connsiteX1" fmla="*/ 0 w 44104"/>
                <a:gd name="connsiteY1" fmla="*/ 21919 h 276375"/>
                <a:gd name="connsiteX2" fmla="*/ 0 w 44104"/>
                <a:gd name="connsiteY2" fmla="*/ 254457 h 276375"/>
                <a:gd name="connsiteX3" fmla="*/ 22052 w 44104"/>
                <a:gd name="connsiteY3" fmla="*/ 276376 h 276375"/>
                <a:gd name="connsiteX4" fmla="*/ 44104 w 44104"/>
                <a:gd name="connsiteY4" fmla="*/ 254457 h 276375"/>
                <a:gd name="connsiteX5" fmla="*/ 44104 w 44104"/>
                <a:gd name="connsiteY5" fmla="*/ 21919 h 276375"/>
                <a:gd name="connsiteX6" fmla="*/ 22052 w 44104"/>
                <a:gd name="connsiteY6" fmla="*/ 0 h 27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276375">
                  <a:moveTo>
                    <a:pt x="22052" y="0"/>
                  </a:moveTo>
                  <a:cubicBezTo>
                    <a:pt x="9873" y="0"/>
                    <a:pt x="0" y="9813"/>
                    <a:pt x="0" y="21919"/>
                  </a:cubicBezTo>
                  <a:lnTo>
                    <a:pt x="0" y="254457"/>
                  </a:lnTo>
                  <a:cubicBezTo>
                    <a:pt x="0" y="266563"/>
                    <a:pt x="9873" y="276376"/>
                    <a:pt x="22052" y="276376"/>
                  </a:cubicBezTo>
                  <a:cubicBezTo>
                    <a:pt x="34231" y="276376"/>
                    <a:pt x="44104" y="266563"/>
                    <a:pt x="44104" y="254457"/>
                  </a:cubicBezTo>
                  <a:lnTo>
                    <a:pt x="44104" y="21919"/>
                  </a:lnTo>
                  <a:cubicBezTo>
                    <a:pt x="44104" y="9813"/>
                    <a:pt x="34231" y="0"/>
                    <a:pt x="22052"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2" name="Freeform 32">
              <a:extLst>
                <a:ext uri="{FF2B5EF4-FFF2-40B4-BE49-F238E27FC236}">
                  <a16:creationId xmlns:a16="http://schemas.microsoft.com/office/drawing/2014/main" id="{7539BE40-6861-0AFB-E72A-25B2630122C7}"/>
                </a:ext>
              </a:extLst>
            </p:cNvPr>
            <p:cNvSpPr/>
            <p:nvPr/>
          </p:nvSpPr>
          <p:spPr>
            <a:xfrm>
              <a:off x="7566921" y="3003533"/>
              <a:ext cx="44104" cy="150094"/>
            </a:xfrm>
            <a:custGeom>
              <a:avLst/>
              <a:gdLst>
                <a:gd name="connsiteX0" fmla="*/ 44104 w 44104"/>
                <a:gd name="connsiteY0" fmla="*/ 128176 h 150094"/>
                <a:gd name="connsiteX1" fmla="*/ 44104 w 44104"/>
                <a:gd name="connsiteY1" fmla="*/ 21919 h 150094"/>
                <a:gd name="connsiteX2" fmla="*/ 22052 w 44104"/>
                <a:gd name="connsiteY2" fmla="*/ 0 h 150094"/>
                <a:gd name="connsiteX3" fmla="*/ 0 w 44104"/>
                <a:gd name="connsiteY3" fmla="*/ 21919 h 150094"/>
                <a:gd name="connsiteX4" fmla="*/ 0 w 44104"/>
                <a:gd name="connsiteY4" fmla="*/ 128176 h 150094"/>
                <a:gd name="connsiteX5" fmla="*/ 22052 w 44104"/>
                <a:gd name="connsiteY5" fmla="*/ 150094 h 150094"/>
                <a:gd name="connsiteX6" fmla="*/ 44104 w 44104"/>
                <a:gd name="connsiteY6" fmla="*/ 128176 h 150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04" h="150094">
                  <a:moveTo>
                    <a:pt x="44104" y="128176"/>
                  </a:moveTo>
                  <a:lnTo>
                    <a:pt x="44104" y="21919"/>
                  </a:lnTo>
                  <a:cubicBezTo>
                    <a:pt x="44104" y="9813"/>
                    <a:pt x="34231" y="0"/>
                    <a:pt x="22052" y="0"/>
                  </a:cubicBezTo>
                  <a:cubicBezTo>
                    <a:pt x="9874" y="0"/>
                    <a:pt x="0" y="9813"/>
                    <a:pt x="0" y="21919"/>
                  </a:cubicBezTo>
                  <a:lnTo>
                    <a:pt x="0" y="128176"/>
                  </a:lnTo>
                  <a:cubicBezTo>
                    <a:pt x="0" y="140281"/>
                    <a:pt x="9874" y="150094"/>
                    <a:pt x="22052" y="150094"/>
                  </a:cubicBezTo>
                  <a:cubicBezTo>
                    <a:pt x="34231" y="150094"/>
                    <a:pt x="44104" y="140281"/>
                    <a:pt x="44104" y="128176"/>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3" name="Freeform 33">
              <a:extLst>
                <a:ext uri="{FF2B5EF4-FFF2-40B4-BE49-F238E27FC236}">
                  <a16:creationId xmlns:a16="http://schemas.microsoft.com/office/drawing/2014/main" id="{8726BE87-6F3D-1887-CD70-E89DF7FE7BFC}"/>
                </a:ext>
              </a:extLst>
            </p:cNvPr>
            <p:cNvSpPr/>
            <p:nvPr/>
          </p:nvSpPr>
          <p:spPr>
            <a:xfrm>
              <a:off x="7687800" y="3063876"/>
              <a:ext cx="44104" cy="89751"/>
            </a:xfrm>
            <a:custGeom>
              <a:avLst/>
              <a:gdLst>
                <a:gd name="connsiteX0" fmla="*/ 22415 w 44104"/>
                <a:gd name="connsiteY0" fmla="*/ 2 h 89751"/>
                <a:gd name="connsiteX1" fmla="*/ 0 w 44104"/>
                <a:gd name="connsiteY1" fmla="*/ 21738 h 89751"/>
                <a:gd name="connsiteX2" fmla="*/ 0 w 44104"/>
                <a:gd name="connsiteY2" fmla="*/ 21921 h 89751"/>
                <a:gd name="connsiteX3" fmla="*/ 0 w 44104"/>
                <a:gd name="connsiteY3" fmla="*/ 67833 h 89751"/>
                <a:gd name="connsiteX4" fmla="*/ 22052 w 44104"/>
                <a:gd name="connsiteY4" fmla="*/ 89752 h 89751"/>
                <a:gd name="connsiteX5" fmla="*/ 44104 w 44104"/>
                <a:gd name="connsiteY5" fmla="*/ 67833 h 89751"/>
                <a:gd name="connsiteX6" fmla="*/ 44104 w 44104"/>
                <a:gd name="connsiteY6" fmla="*/ 21921 h 89751"/>
                <a:gd name="connsiteX7" fmla="*/ 22143 w 44104"/>
                <a:gd name="connsiteY7" fmla="*/ 2 h 8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104" h="89751">
                  <a:moveTo>
                    <a:pt x="22415" y="2"/>
                  </a:moveTo>
                  <a:cubicBezTo>
                    <a:pt x="10191" y="-148"/>
                    <a:pt x="154" y="9584"/>
                    <a:pt x="0" y="21738"/>
                  </a:cubicBezTo>
                  <a:cubicBezTo>
                    <a:pt x="0" y="21799"/>
                    <a:pt x="0" y="21860"/>
                    <a:pt x="0" y="21921"/>
                  </a:cubicBezTo>
                  <a:lnTo>
                    <a:pt x="0" y="67833"/>
                  </a:lnTo>
                  <a:cubicBezTo>
                    <a:pt x="0" y="79939"/>
                    <a:pt x="9874" y="89752"/>
                    <a:pt x="22052" y="89752"/>
                  </a:cubicBezTo>
                  <a:cubicBezTo>
                    <a:pt x="34231" y="89752"/>
                    <a:pt x="44104" y="79939"/>
                    <a:pt x="44104" y="67833"/>
                  </a:cubicBezTo>
                  <a:lnTo>
                    <a:pt x="44104" y="21921"/>
                  </a:lnTo>
                  <a:cubicBezTo>
                    <a:pt x="44104" y="9850"/>
                    <a:pt x="34285" y="51"/>
                    <a:pt x="22143" y="2"/>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4" name="Freeform 34">
              <a:extLst>
                <a:ext uri="{FF2B5EF4-FFF2-40B4-BE49-F238E27FC236}">
                  <a16:creationId xmlns:a16="http://schemas.microsoft.com/office/drawing/2014/main" id="{EB3564BA-B2F9-645B-AD4D-30EC3199A221}"/>
                </a:ext>
              </a:extLst>
            </p:cNvPr>
            <p:cNvSpPr/>
            <p:nvPr/>
          </p:nvSpPr>
          <p:spPr>
            <a:xfrm>
              <a:off x="7809447" y="3002127"/>
              <a:ext cx="44107" cy="151500"/>
            </a:xfrm>
            <a:custGeom>
              <a:avLst/>
              <a:gdLst>
                <a:gd name="connsiteX0" fmla="*/ 22009 w 44107"/>
                <a:gd name="connsiteY0" fmla="*/ 151500 h 151500"/>
                <a:gd name="connsiteX1" fmla="*/ 44061 w 44107"/>
                <a:gd name="connsiteY1" fmla="*/ 129582 h 151500"/>
                <a:gd name="connsiteX2" fmla="*/ 44061 w 44107"/>
                <a:gd name="connsiteY2" fmla="*/ 23325 h 151500"/>
                <a:gd name="connsiteX3" fmla="*/ 23470 w 44107"/>
                <a:gd name="connsiteY3" fmla="*/ 46 h 151500"/>
                <a:gd name="connsiteX4" fmla="*/ 48 w 44107"/>
                <a:gd name="connsiteY4" fmla="*/ 20514 h 151500"/>
                <a:gd name="connsiteX5" fmla="*/ 48 w 44107"/>
                <a:gd name="connsiteY5" fmla="*/ 23325 h 151500"/>
                <a:gd name="connsiteX6" fmla="*/ 48 w 44107"/>
                <a:gd name="connsiteY6" fmla="*/ 129582 h 151500"/>
                <a:gd name="connsiteX7" fmla="*/ 21918 w 44107"/>
                <a:gd name="connsiteY7" fmla="*/ 151500 h 151500"/>
                <a:gd name="connsiteX8" fmla="*/ 22009 w 44107"/>
                <a:gd name="connsiteY8" fmla="*/ 151500 h 15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7" h="151500">
                  <a:moveTo>
                    <a:pt x="22009" y="151500"/>
                  </a:moveTo>
                  <a:cubicBezTo>
                    <a:pt x="34188" y="151500"/>
                    <a:pt x="44061" y="141688"/>
                    <a:pt x="44061" y="129582"/>
                  </a:cubicBezTo>
                  <a:lnTo>
                    <a:pt x="44061" y="23325"/>
                  </a:lnTo>
                  <a:cubicBezTo>
                    <a:pt x="44841" y="11244"/>
                    <a:pt x="35621" y="822"/>
                    <a:pt x="23470" y="46"/>
                  </a:cubicBezTo>
                  <a:cubicBezTo>
                    <a:pt x="11319" y="-730"/>
                    <a:pt x="828" y="8434"/>
                    <a:pt x="48" y="20514"/>
                  </a:cubicBezTo>
                  <a:cubicBezTo>
                    <a:pt x="-16" y="21451"/>
                    <a:pt x="-16" y="22389"/>
                    <a:pt x="48" y="23325"/>
                  </a:cubicBezTo>
                  <a:lnTo>
                    <a:pt x="48" y="129582"/>
                  </a:lnTo>
                  <a:cubicBezTo>
                    <a:pt x="-7" y="141637"/>
                    <a:pt x="9785" y="151451"/>
                    <a:pt x="21918" y="151500"/>
                  </a:cubicBezTo>
                  <a:cubicBezTo>
                    <a:pt x="21945" y="151500"/>
                    <a:pt x="21982" y="151500"/>
                    <a:pt x="22009" y="15150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5" name="Freeform 35">
              <a:extLst>
                <a:ext uri="{FF2B5EF4-FFF2-40B4-BE49-F238E27FC236}">
                  <a16:creationId xmlns:a16="http://schemas.microsoft.com/office/drawing/2014/main" id="{0B4EEF7D-1D1F-7611-2AD6-3168E2EE165C}"/>
                </a:ext>
              </a:extLst>
            </p:cNvPr>
            <p:cNvSpPr/>
            <p:nvPr/>
          </p:nvSpPr>
          <p:spPr>
            <a:xfrm>
              <a:off x="7930779" y="2919593"/>
              <a:ext cx="44108" cy="279187"/>
            </a:xfrm>
            <a:custGeom>
              <a:avLst/>
              <a:gdLst>
                <a:gd name="connsiteX0" fmla="*/ 44061 w 44108"/>
                <a:gd name="connsiteY0" fmla="*/ 255863 h 279187"/>
                <a:gd name="connsiteX1" fmla="*/ 44061 w 44108"/>
                <a:gd name="connsiteY1" fmla="*/ 23325 h 279187"/>
                <a:gd name="connsiteX2" fmla="*/ 23470 w 44108"/>
                <a:gd name="connsiteY2" fmla="*/ 46 h 279187"/>
                <a:gd name="connsiteX3" fmla="*/ 48 w 44108"/>
                <a:gd name="connsiteY3" fmla="*/ 20514 h 279187"/>
                <a:gd name="connsiteX4" fmla="*/ 48 w 44108"/>
                <a:gd name="connsiteY4" fmla="*/ 23325 h 279187"/>
                <a:gd name="connsiteX5" fmla="*/ 48 w 44108"/>
                <a:gd name="connsiteY5" fmla="*/ 255863 h 279187"/>
                <a:gd name="connsiteX6" fmla="*/ 20639 w 44108"/>
                <a:gd name="connsiteY6" fmla="*/ 279142 h 279187"/>
                <a:gd name="connsiteX7" fmla="*/ 44061 w 44108"/>
                <a:gd name="connsiteY7" fmla="*/ 258674 h 279187"/>
                <a:gd name="connsiteX8" fmla="*/ 44061 w 44108"/>
                <a:gd name="connsiteY8" fmla="*/ 255863 h 279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8" h="279187">
                  <a:moveTo>
                    <a:pt x="44061" y="255863"/>
                  </a:moveTo>
                  <a:lnTo>
                    <a:pt x="44061" y="23325"/>
                  </a:lnTo>
                  <a:cubicBezTo>
                    <a:pt x="44842" y="11244"/>
                    <a:pt x="35621" y="822"/>
                    <a:pt x="23470" y="46"/>
                  </a:cubicBezTo>
                  <a:cubicBezTo>
                    <a:pt x="11319" y="-730"/>
                    <a:pt x="828" y="8434"/>
                    <a:pt x="48" y="20514"/>
                  </a:cubicBezTo>
                  <a:cubicBezTo>
                    <a:pt x="-16" y="21450"/>
                    <a:pt x="-16" y="22389"/>
                    <a:pt x="48" y="23325"/>
                  </a:cubicBezTo>
                  <a:lnTo>
                    <a:pt x="48" y="255863"/>
                  </a:lnTo>
                  <a:cubicBezTo>
                    <a:pt x="-733" y="267944"/>
                    <a:pt x="8487" y="278366"/>
                    <a:pt x="20639" y="279142"/>
                  </a:cubicBezTo>
                  <a:cubicBezTo>
                    <a:pt x="32790" y="279919"/>
                    <a:pt x="43281" y="270754"/>
                    <a:pt x="44061" y="258674"/>
                  </a:cubicBezTo>
                  <a:cubicBezTo>
                    <a:pt x="44125" y="257737"/>
                    <a:pt x="44125" y="256799"/>
                    <a:pt x="44061" y="255863"/>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6" name="Freeform 36">
              <a:extLst>
                <a:ext uri="{FF2B5EF4-FFF2-40B4-BE49-F238E27FC236}">
                  <a16:creationId xmlns:a16="http://schemas.microsoft.com/office/drawing/2014/main" id="{9A55B643-50C9-ECA1-F047-7AF4A01DADB7}"/>
                </a:ext>
              </a:extLst>
            </p:cNvPr>
            <p:cNvSpPr/>
            <p:nvPr/>
          </p:nvSpPr>
          <p:spPr>
            <a:xfrm>
              <a:off x="8051886" y="3003443"/>
              <a:ext cx="44285" cy="150187"/>
            </a:xfrm>
            <a:custGeom>
              <a:avLst/>
              <a:gdLst>
                <a:gd name="connsiteX0" fmla="*/ 21961 w 44285"/>
                <a:gd name="connsiteY0" fmla="*/ 150185 h 150187"/>
                <a:gd name="connsiteX1" fmla="*/ 44286 w 44285"/>
                <a:gd name="connsiteY1" fmla="*/ 128720 h 150187"/>
                <a:gd name="connsiteX2" fmla="*/ 44286 w 44285"/>
                <a:gd name="connsiteY2" fmla="*/ 128266 h 150187"/>
                <a:gd name="connsiteX3" fmla="*/ 44286 w 44285"/>
                <a:gd name="connsiteY3" fmla="*/ 22009 h 150187"/>
                <a:gd name="connsiteX4" fmla="*/ 22143 w 44285"/>
                <a:gd name="connsiteY4" fmla="*/ 0 h 150187"/>
                <a:gd name="connsiteX5" fmla="*/ 0 w 44285"/>
                <a:gd name="connsiteY5" fmla="*/ 22009 h 150187"/>
                <a:gd name="connsiteX6" fmla="*/ 0 w 44285"/>
                <a:gd name="connsiteY6" fmla="*/ 128266 h 150187"/>
                <a:gd name="connsiteX7" fmla="*/ 22052 w 44285"/>
                <a:gd name="connsiteY7" fmla="*/ 150185 h 150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285" h="150187">
                  <a:moveTo>
                    <a:pt x="21961" y="150185"/>
                  </a:moveTo>
                  <a:cubicBezTo>
                    <a:pt x="34086" y="150384"/>
                    <a:pt x="44086" y="140774"/>
                    <a:pt x="44286" y="128720"/>
                  </a:cubicBezTo>
                  <a:cubicBezTo>
                    <a:pt x="44286" y="128569"/>
                    <a:pt x="44286" y="128417"/>
                    <a:pt x="44286" y="128266"/>
                  </a:cubicBezTo>
                  <a:lnTo>
                    <a:pt x="44286" y="22009"/>
                  </a:lnTo>
                  <a:cubicBezTo>
                    <a:pt x="44286" y="9854"/>
                    <a:pt x="34376" y="0"/>
                    <a:pt x="22143" y="0"/>
                  </a:cubicBezTo>
                  <a:cubicBezTo>
                    <a:pt x="9910" y="0"/>
                    <a:pt x="0" y="9854"/>
                    <a:pt x="0" y="22009"/>
                  </a:cubicBezTo>
                  <a:lnTo>
                    <a:pt x="0" y="128266"/>
                  </a:lnTo>
                  <a:cubicBezTo>
                    <a:pt x="0" y="140372"/>
                    <a:pt x="9874" y="150185"/>
                    <a:pt x="22052" y="150185"/>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sp>
          <p:nvSpPr>
            <p:cNvPr id="17" name="Freeform 37">
              <a:extLst>
                <a:ext uri="{FF2B5EF4-FFF2-40B4-BE49-F238E27FC236}">
                  <a16:creationId xmlns:a16="http://schemas.microsoft.com/office/drawing/2014/main" id="{46A6ACD1-E596-9055-243C-B9CF5CFB813D}"/>
                </a:ext>
              </a:extLst>
            </p:cNvPr>
            <p:cNvSpPr/>
            <p:nvPr/>
          </p:nvSpPr>
          <p:spPr>
            <a:xfrm>
              <a:off x="8173172" y="3063878"/>
              <a:ext cx="44107" cy="91156"/>
            </a:xfrm>
            <a:custGeom>
              <a:avLst/>
              <a:gdLst>
                <a:gd name="connsiteX0" fmla="*/ 22007 w 44107"/>
                <a:gd name="connsiteY0" fmla="*/ 0 h 91156"/>
                <a:gd name="connsiteX1" fmla="*/ 46 w 44107"/>
                <a:gd name="connsiteY1" fmla="*/ 21829 h 91156"/>
                <a:gd name="connsiteX2" fmla="*/ 46 w 44107"/>
                <a:gd name="connsiteY2" fmla="*/ 21919 h 91156"/>
                <a:gd name="connsiteX3" fmla="*/ 46 w 44107"/>
                <a:gd name="connsiteY3" fmla="*/ 67831 h 91156"/>
                <a:gd name="connsiteX4" fmla="*/ 20637 w 44107"/>
                <a:gd name="connsiteY4" fmla="*/ 91110 h 91156"/>
                <a:gd name="connsiteX5" fmla="*/ 44059 w 44107"/>
                <a:gd name="connsiteY5" fmla="*/ 70642 h 91156"/>
                <a:gd name="connsiteX6" fmla="*/ 44059 w 44107"/>
                <a:gd name="connsiteY6" fmla="*/ 67831 h 91156"/>
                <a:gd name="connsiteX7" fmla="*/ 44059 w 44107"/>
                <a:gd name="connsiteY7" fmla="*/ 21919 h 91156"/>
                <a:gd name="connsiteX8" fmla="*/ 22007 w 44107"/>
                <a:gd name="connsiteY8" fmla="*/ 0 h 9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7" h="91156">
                  <a:moveTo>
                    <a:pt x="22007" y="0"/>
                  </a:moveTo>
                  <a:cubicBezTo>
                    <a:pt x="9874" y="0"/>
                    <a:pt x="46" y="9773"/>
                    <a:pt x="46" y="21829"/>
                  </a:cubicBezTo>
                  <a:cubicBezTo>
                    <a:pt x="46" y="21858"/>
                    <a:pt x="46" y="21889"/>
                    <a:pt x="46" y="21919"/>
                  </a:cubicBezTo>
                  <a:lnTo>
                    <a:pt x="46" y="67831"/>
                  </a:lnTo>
                  <a:cubicBezTo>
                    <a:pt x="-734" y="79912"/>
                    <a:pt x="8486" y="90334"/>
                    <a:pt x="20637" y="91110"/>
                  </a:cubicBezTo>
                  <a:cubicBezTo>
                    <a:pt x="32789" y="91887"/>
                    <a:pt x="43279" y="82722"/>
                    <a:pt x="44059" y="70642"/>
                  </a:cubicBezTo>
                  <a:cubicBezTo>
                    <a:pt x="44123" y="69705"/>
                    <a:pt x="44123" y="68767"/>
                    <a:pt x="44059" y="67831"/>
                  </a:cubicBezTo>
                  <a:lnTo>
                    <a:pt x="44059" y="21919"/>
                  </a:lnTo>
                  <a:cubicBezTo>
                    <a:pt x="44059" y="9813"/>
                    <a:pt x="34186" y="0"/>
                    <a:pt x="22007" y="0"/>
                  </a:cubicBezTo>
                </a:path>
              </a:pathLst>
            </a:custGeom>
            <a:grpFill/>
            <a:ln w="9034" cap="flat">
              <a:noFill/>
              <a:prstDash val="solid"/>
              <a:miter/>
            </a:ln>
          </p:spPr>
          <p:txBody>
            <a:bodyPr rtlCol="0" anchor="ctr"/>
            <a:lstStyle/>
            <a:p>
              <a:pPr marL="0" marR="0" lvl="0" indent="0" algn="l" defTabSz="60955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7182D"/>
                </a:solidFill>
                <a:effectLst/>
                <a:uLnTx/>
                <a:uFillTx/>
                <a:latin typeface="CiscoSansTT" panose="020B0503020201020303"/>
                <a:ea typeface="ＭＳ Ｐゴシック" charset="0"/>
              </a:endParaRPr>
            </a:p>
          </p:txBody>
        </p:sp>
      </p:grpSp>
    </p:spTree>
    <p:extLst>
      <p:ext uri="{BB962C8B-B14F-4D97-AF65-F5344CB8AC3E}">
        <p14:creationId xmlns:p14="http://schemas.microsoft.com/office/powerpoint/2010/main" val="191034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sv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F21F2830-F0A3-2EAC-C709-5C928A8C49EF}"/>
              </a:ext>
            </a:extLst>
          </p:cNvPr>
          <p:cNvSpPr>
            <a:spLocks noGrp="1"/>
          </p:cNvSpPr>
          <p:nvPr>
            <p:ph type="title"/>
          </p:nvPr>
        </p:nvSpPr>
        <p:spPr>
          <a:xfrm>
            <a:off x="323850" y="298146"/>
            <a:ext cx="11544300" cy="492443"/>
          </a:xfrm>
          <a:prstGeom prst="rect">
            <a:avLst/>
          </a:prstGeom>
          <a:noFill/>
        </p:spPr>
        <p:txBody>
          <a:bodyPr vert="horz" lIns="0" tIns="0" rIns="0" bIns="0" rtlCol="0" anchor="t">
            <a:no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455BE63C-8C0C-FC75-3DF2-F8F96A3C87BE}"/>
              </a:ext>
            </a:extLst>
          </p:cNvPr>
          <p:cNvSpPr>
            <a:spLocks noGrp="1"/>
          </p:cNvSpPr>
          <p:nvPr>
            <p:ph type="body" idx="1"/>
          </p:nvPr>
        </p:nvSpPr>
        <p:spPr>
          <a:xfrm>
            <a:off x="323754" y="1244599"/>
            <a:ext cx="11544396" cy="4835321"/>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a:extLst>
              <a:ext uri="{FF2B5EF4-FFF2-40B4-BE49-F238E27FC236}">
                <a16:creationId xmlns:a16="http://schemas.microsoft.com/office/drawing/2014/main" id="{239B4362-70A2-3ADC-C4AA-ADA6E4E09C94}"/>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mn-lt"/>
                <a:ea typeface="ＭＳ Ｐゴシック" charset="0"/>
                <a:cs typeface="CiscoSansTT" panose="020B0503020201020303"/>
              </a:rPr>
              <a:t>© 2026 Cisco and/or its affiliates. All rights reserved.</a:t>
            </a:r>
          </a:p>
        </p:txBody>
      </p:sp>
      <p:sp>
        <p:nvSpPr>
          <p:cNvPr id="6" name="Footer Placeholder 5">
            <a:extLst>
              <a:ext uri="{FF2B5EF4-FFF2-40B4-BE49-F238E27FC236}">
                <a16:creationId xmlns:a16="http://schemas.microsoft.com/office/drawing/2014/main" id="{B042B348-7CFA-9BD7-7FBA-A3E160A67776}"/>
              </a:ext>
            </a:extLst>
          </p:cNvPr>
          <p:cNvSpPr>
            <a:spLocks noGrp="1"/>
          </p:cNvSpPr>
          <p:nvPr>
            <p:ph type="ftr" sz="quarter" idx="3"/>
          </p:nvPr>
        </p:nvSpPr>
        <p:spPr>
          <a:xfrm>
            <a:off x="4230688" y="6445885"/>
            <a:ext cx="3727450" cy="411480"/>
          </a:xfrm>
          <a:prstGeom prst="rect">
            <a:avLst/>
          </a:prstGeom>
        </p:spPr>
        <p:txBody>
          <a:bodyPr vert="horz" lIns="0" tIns="0" rIns="0" bIns="0" rtlCol="0" anchor="t" anchorCtr="0"/>
          <a:lstStyle>
            <a:lvl1pPr algn="ctr">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panose="020B0503020201020303"/>
              </a:defRPr>
            </a:lvl1pPr>
          </a:lstStyle>
          <a:p>
            <a:pPr defTabSz="814318">
              <a:defRPr/>
            </a:pPr>
            <a:r>
              <a:rPr lang="en-US" dirty="0"/>
              <a:t>Session ID: BRKSEC-XXXX</a:t>
            </a:r>
          </a:p>
        </p:txBody>
      </p:sp>
      <p:sp>
        <p:nvSpPr>
          <p:cNvPr id="2" name="Slide Number Placeholder 1">
            <a:extLst>
              <a:ext uri="{FF2B5EF4-FFF2-40B4-BE49-F238E27FC236}">
                <a16:creationId xmlns:a16="http://schemas.microsoft.com/office/drawing/2014/main" id="{10ECAE8E-F596-3416-3914-B7C065191A87}"/>
              </a:ext>
            </a:extLst>
          </p:cNvPr>
          <p:cNvSpPr>
            <a:spLocks noGrp="1"/>
          </p:cNvSpPr>
          <p:nvPr>
            <p:ph type="sldNum" sz="quarter" idx="4"/>
          </p:nvPr>
        </p:nvSpPr>
        <p:spPr>
          <a:xfrm>
            <a:off x="9115425" y="6448929"/>
            <a:ext cx="1773238" cy="411480"/>
          </a:xfrm>
          <a:prstGeom prst="rect">
            <a:avLst/>
          </a:prstGeom>
        </p:spPr>
        <p:txBody>
          <a:bodyPr vert="horz" lIns="0" tIns="0" rIns="0" bIns="0" rtlCol="0" anchor="t" anchorCtr="0"/>
          <a:lstStyle>
            <a:lvl1pPr algn="r">
              <a:defRPr kumimoji="0" lang="en-US" sz="700" b="0" i="0" u="none" strike="noStrike" kern="1200" cap="none" spc="0" normalizeH="0" baseline="0" smtClean="0">
                <a:ln>
                  <a:noFill/>
                </a:ln>
                <a:solidFill>
                  <a:schemeClr val="bg1"/>
                </a:solidFill>
                <a:effectLst/>
                <a:uLnTx/>
                <a:uFillTx/>
                <a:latin typeface="+mn-lt"/>
                <a:ea typeface="ＭＳ Ｐゴシック" charset="0"/>
                <a:cs typeface="CiscoSansTT" panose="020B0503020201020303"/>
              </a:defRPr>
            </a:lvl1pPr>
          </a:lstStyle>
          <a:p>
            <a:fld id="{C3C42FAE-7A31-41D3-A712-51D9B15D0B10}" type="slidenum">
              <a:rPr lang="en-US" smtClean="0"/>
              <a:pPr/>
              <a:t>‹#›</a:t>
            </a:fld>
            <a:endParaRPr lang="en-US" dirty="0"/>
          </a:p>
        </p:txBody>
      </p:sp>
      <p:pic>
        <p:nvPicPr>
          <p:cNvPr id="4" name="Picture 7" descr="Cisco Logo">
            <a:extLst>
              <a:ext uri="{FF2B5EF4-FFF2-40B4-BE49-F238E27FC236}">
                <a16:creationId xmlns:a16="http://schemas.microsoft.com/office/drawing/2014/main" id="{E912C7E4-465D-A60D-49E8-6866FAAE655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8"/>
              </a:ext>
            </a:extLst>
          </a:blip>
          <a:srcRect/>
          <a:stretch/>
        </p:blipFill>
        <p:spPr>
          <a:xfrm>
            <a:off x="11520088" y="6354445"/>
            <a:ext cx="348061" cy="182880"/>
          </a:xfrm>
          <a:prstGeom prst="rect">
            <a:avLst/>
          </a:prstGeom>
        </p:spPr>
      </p:pic>
      <p:sp>
        <p:nvSpPr>
          <p:cNvPr id="8" name="TextBox 7">
            <a:extLst>
              <a:ext uri="{FF2B5EF4-FFF2-40B4-BE49-F238E27FC236}">
                <a16:creationId xmlns:a16="http://schemas.microsoft.com/office/drawing/2014/main" id="{DCAE3397-B7E0-F9B7-D1AC-C859F3CFC5AF}"/>
              </a:ext>
            </a:extLst>
          </p:cNvPr>
          <p:cNvSpPr txBox="1"/>
          <p:nvPr>
            <p:extLst>
              <p:ext uri="{1162E1C5-73C7-4A58-AE30-91384D911F3F}">
                <p184:classification xmlns:p184="http://schemas.microsoft.com/office/powerpoint/2018/4/main" val="ftr"/>
              </p:ext>
            </p:extLst>
          </p:nvPr>
        </p:nvSpPr>
        <p:spPr>
          <a:xfrm>
            <a:off x="11385550" y="6672580"/>
            <a:ext cx="765175" cy="107722"/>
          </a:xfrm>
          <a:prstGeom prst="rect">
            <a:avLst/>
          </a:prstGeom>
        </p:spPr>
        <p:txBody>
          <a:bodyPr horzOverflow="overflow" lIns="0" tIns="0" rIns="0" bIns="0">
            <a:spAutoFit/>
          </a:bodyPr>
          <a:lstStyle/>
          <a:p>
            <a:pPr algn="l"/>
            <a:r>
              <a:rPr lang="en-US" sz="700" dirty="0">
                <a:solidFill>
                  <a:schemeClr val="bg2"/>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extLst>
      <p:ext uri="{BB962C8B-B14F-4D97-AF65-F5344CB8AC3E}">
        <p14:creationId xmlns:p14="http://schemas.microsoft.com/office/powerpoint/2010/main" val="1737073348"/>
      </p:ext>
    </p:extLst>
  </p:cSld>
  <p:clrMap bg1="dk1" tx1="lt1" bg2="dk2" tx2="lt2" accent1="accent1" accent2="accent2" accent3="accent3" accent4="accent4" accent5="accent5" accent6="accent6" hlink="hlink" folHlink="folHlink"/>
  <p:sldLayoutIdLst>
    <p:sldLayoutId id="2147483752" r:id="rId1"/>
    <p:sldLayoutId id="2147483748" r:id="rId2"/>
    <p:sldLayoutId id="2147483787" r:id="rId3"/>
    <p:sldLayoutId id="2147483788" r:id="rId4"/>
    <p:sldLayoutId id="2147483773" r:id="rId5"/>
    <p:sldLayoutId id="2147483799" r:id="rId6"/>
    <p:sldLayoutId id="2147483800" r:id="rId7"/>
    <p:sldLayoutId id="2147483801" r:id="rId8"/>
    <p:sldLayoutId id="2147483668" r:id="rId9"/>
    <p:sldLayoutId id="2147483747" r:id="rId10"/>
    <p:sldLayoutId id="2147483754" r:id="rId11"/>
    <p:sldLayoutId id="2147483753" r:id="rId12"/>
    <p:sldLayoutId id="2147483763" r:id="rId13"/>
    <p:sldLayoutId id="2147483764" r:id="rId14"/>
    <p:sldLayoutId id="2147483771" r:id="rId15"/>
    <p:sldLayoutId id="2147483777" r:id="rId16"/>
    <p:sldLayoutId id="2147483804" r:id="rId17"/>
    <p:sldLayoutId id="2147483789" r:id="rId18"/>
    <p:sldLayoutId id="2147483805" r:id="rId19"/>
    <p:sldLayoutId id="2147483812" r:id="rId20"/>
    <p:sldLayoutId id="2147483811" r:id="rId21"/>
    <p:sldLayoutId id="2147483809" r:id="rId22"/>
    <p:sldLayoutId id="2147483808" r:id="rId23"/>
    <p:sldLayoutId id="2147483807" r:id="rId24"/>
    <p:sldLayoutId id="2147483810" r:id="rId25"/>
    <p:sldLayoutId id="2147483796" r:id="rId26"/>
    <p:sldLayoutId id="2147483780" r:id="rId27"/>
    <p:sldLayoutId id="2147483784" r:id="rId28"/>
    <p:sldLayoutId id="2147483778" r:id="rId29"/>
    <p:sldLayoutId id="2147483781" r:id="rId30"/>
    <p:sldLayoutId id="2147483779" r:id="rId31"/>
    <p:sldLayoutId id="2147483774" r:id="rId32"/>
    <p:sldLayoutId id="2147483775" r:id="rId33"/>
    <p:sldLayoutId id="2147483776" r:id="rId34"/>
    <p:sldLayoutId id="2147483783" r:id="rId35"/>
    <p:sldLayoutId id="2147483797" r:id="rId36"/>
    <p:sldLayoutId id="2147483794" r:id="rId37"/>
    <p:sldLayoutId id="2147483806" r:id="rId38"/>
    <p:sldLayoutId id="2147483798" r:id="rId39"/>
    <p:sldLayoutId id="2147483791" r:id="rId40"/>
    <p:sldLayoutId id="2147483793" r:id="rId41"/>
    <p:sldLayoutId id="2147483792" r:id="rId42"/>
    <p:sldLayoutId id="2147483795" r:id="rId43"/>
    <p:sldLayoutId id="2147483762" r:id="rId44"/>
    <p:sldLayoutId id="2147483785" r:id="rId45"/>
    <p:sldLayoutId id="2147483786" r:id="rId46"/>
    <p:sldLayoutId id="2147483790" r:id="rId47"/>
    <p:sldLayoutId id="2147483756" r:id="rId48"/>
    <p:sldLayoutId id="2147483761" r:id="rId49"/>
    <p:sldLayoutId id="2147483758" r:id="rId50"/>
    <p:sldLayoutId id="2147483760" r:id="rId51"/>
    <p:sldLayoutId id="2147483757" r:id="rId52"/>
    <p:sldLayoutId id="2147483802" r:id="rId53"/>
    <p:sldLayoutId id="2147483751" r:id="rId54"/>
    <p:sldLayoutId id="2147483803" r:id="rId55"/>
    <p:sldLayoutId id="2147483749" r:id="rId5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2000" kern="1200" dirty="0">
          <a:solidFill>
            <a:schemeClr val="bg1"/>
          </a:solidFill>
          <a:latin typeface="+mn-lt"/>
          <a:ea typeface="ＭＳ Ｐゴシック" charset="0"/>
          <a:cs typeface="CiscoSans"/>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04">
          <p15:clr>
            <a:srgbClr val="F26B43"/>
          </p15:clr>
        </p15:guide>
        <p15:guide id="3" pos="7476">
          <p15:clr>
            <a:srgbClr val="F26B43"/>
          </p15:clr>
        </p15:guide>
        <p15:guide id="6" pos="3840">
          <p15:clr>
            <a:srgbClr val="F26B43"/>
          </p15:clr>
        </p15:guide>
        <p15:guide id="9" orient="horz" pos="3827">
          <p15:clr>
            <a:srgbClr val="9FCC3B"/>
          </p15:clr>
        </p15:guide>
        <p15:guide id="10" orient="horz" pos="202">
          <p15:clr>
            <a:srgbClr val="F26B43"/>
          </p15:clr>
        </p15:guide>
        <p15:guide id="11" orient="horz" pos="2160">
          <p15:clr>
            <a:srgbClr val="F26B43"/>
          </p15:clr>
        </p15:guide>
        <p15:guide id="12" orient="horz" pos="392">
          <p15:clr>
            <a:srgbClr val="A4A3A4"/>
          </p15:clr>
        </p15:guide>
        <p15:guide id="13" orient="horz" pos="2552">
          <p15:clr>
            <a:srgbClr val="A4A3A4"/>
          </p15:clr>
        </p15:guide>
        <p15:guide id="14" orient="horz" pos="600">
          <p15:clr>
            <a:srgbClr val="A4A3A4"/>
          </p15:clr>
        </p15:guide>
        <p15:guide id="15" orient="horz" pos="1766">
          <p15:clr>
            <a:srgbClr val="A4A3A4"/>
          </p15:clr>
        </p15:guide>
        <p15:guide id="16" orient="horz" pos="2355">
          <p15:clr>
            <a:srgbClr val="A4A3A4"/>
          </p15:clr>
        </p15:guide>
        <p15:guide id="18" orient="horz" pos="4118">
          <p15:clr>
            <a:srgbClr val="F26B43"/>
          </p15:clr>
        </p15:guide>
        <p15:guide id="19" orient="horz" pos="1178">
          <p15:clr>
            <a:srgbClr val="A4A3A4"/>
          </p15:clr>
        </p15:guide>
        <p15:guide id="20" orient="horz" pos="1374">
          <p15:clr>
            <a:srgbClr val="A4A3A4"/>
          </p15:clr>
        </p15:guide>
        <p15:guide id="21" orient="horz" pos="1570">
          <p15:clr>
            <a:srgbClr val="A4A3A4"/>
          </p15:clr>
        </p15:guide>
        <p15:guide id="22" pos="703">
          <p15:clr>
            <a:srgbClr val="A4A3A4"/>
          </p15:clr>
        </p15:guide>
        <p15:guide id="23" pos="820">
          <p15:clr>
            <a:srgbClr val="A4A3A4"/>
          </p15:clr>
        </p15:guide>
        <p15:guide id="24" pos="1321">
          <p15:clr>
            <a:srgbClr val="A4A3A4"/>
          </p15:clr>
        </p15:guide>
        <p15:guide id="25" pos="1435">
          <p15:clr>
            <a:srgbClr val="A4A3A4"/>
          </p15:clr>
        </p15:guide>
        <p15:guide id="26" pos="1936">
          <p15:clr>
            <a:srgbClr val="A4A3A4"/>
          </p15:clr>
        </p15:guide>
        <p15:guide id="27" pos="2051">
          <p15:clr>
            <a:srgbClr val="A4A3A4"/>
          </p15:clr>
        </p15:guide>
        <p15:guide id="28" pos="2551">
          <p15:clr>
            <a:srgbClr val="A4A3A4"/>
          </p15:clr>
        </p15:guide>
        <p15:guide id="29" pos="2665">
          <p15:clr>
            <a:srgbClr val="A4A3A4"/>
          </p15:clr>
        </p15:guide>
        <p15:guide id="30" pos="3167">
          <p15:clr>
            <a:srgbClr val="A4A3A4"/>
          </p15:clr>
        </p15:guide>
        <p15:guide id="31" pos="3281">
          <p15:clr>
            <a:srgbClr val="A4A3A4"/>
          </p15:clr>
        </p15:guide>
        <p15:guide id="32" pos="3783">
          <p15:clr>
            <a:srgbClr val="A4A3A4"/>
          </p15:clr>
        </p15:guide>
        <p15:guide id="33" pos="3896">
          <p15:clr>
            <a:srgbClr val="A4A3A4"/>
          </p15:clr>
        </p15:guide>
        <p15:guide id="34" pos="4397">
          <p15:clr>
            <a:srgbClr val="A4A3A4"/>
          </p15:clr>
        </p15:guide>
        <p15:guide id="35" pos="4512">
          <p15:clr>
            <a:srgbClr val="A4A3A4"/>
          </p15:clr>
        </p15:guide>
        <p15:guide id="36" pos="5013">
          <p15:clr>
            <a:srgbClr val="A4A3A4"/>
          </p15:clr>
        </p15:guide>
        <p15:guide id="37" pos="5128">
          <p15:clr>
            <a:srgbClr val="A4A3A4"/>
          </p15:clr>
        </p15:guide>
        <p15:guide id="38" pos="5629">
          <p15:clr>
            <a:srgbClr val="A4A3A4"/>
          </p15:clr>
        </p15:guide>
        <p15:guide id="39" pos="5742">
          <p15:clr>
            <a:srgbClr val="A4A3A4"/>
          </p15:clr>
        </p15:guide>
        <p15:guide id="40" pos="6244">
          <p15:clr>
            <a:srgbClr val="A4A3A4"/>
          </p15:clr>
        </p15:guide>
        <p15:guide id="41" pos="6359">
          <p15:clr>
            <a:srgbClr val="A4A3A4"/>
          </p15:clr>
        </p15:guide>
        <p15:guide id="42" pos="6859">
          <p15:clr>
            <a:srgbClr val="A4A3A4"/>
          </p15:clr>
        </p15:guide>
        <p15:guide id="43" pos="6975">
          <p15:clr>
            <a:srgbClr val="A4A3A4"/>
          </p15:clr>
        </p15:guide>
        <p15:guide id="44" orient="horz" pos="784">
          <p15:clr>
            <a:srgbClr val="A4A3A4"/>
          </p15:clr>
        </p15:guide>
        <p15:guide id="45" orient="horz" pos="980">
          <p15:clr>
            <a:srgbClr val="A4A3A4"/>
          </p15:clr>
        </p15:guide>
        <p15:guide id="46" orient="horz" pos="1962">
          <p15:clr>
            <a:srgbClr val="A4A3A4"/>
          </p15:clr>
        </p15:guide>
        <p15:guide id="47" orient="horz" pos="2747">
          <p15:clr>
            <a:srgbClr val="A4A3A4"/>
          </p15:clr>
        </p15:guide>
        <p15:guide id="48" orient="horz" pos="2945">
          <p15:clr>
            <a:srgbClr val="A4A3A4"/>
          </p15:clr>
        </p15:guide>
        <p15:guide id="49" orient="horz" pos="3141">
          <p15:clr>
            <a:srgbClr val="A4A3A4"/>
          </p15:clr>
        </p15:guide>
        <p15:guide id="50" orient="horz" pos="3337">
          <p15:clr>
            <a:srgbClr val="A4A3A4"/>
          </p15:clr>
        </p15:guide>
        <p15:guide id="51" orient="horz" pos="3535">
          <p15:clr>
            <a:srgbClr val="A4A3A4"/>
          </p15:clr>
        </p15:guide>
        <p15:guide id="52" orient="horz" pos="3730">
          <p15:clr>
            <a:srgbClr val="A4A3A4"/>
          </p15:clr>
        </p15:guide>
        <p15:guide id="53" orient="horz" pos="3936">
          <p15:clr>
            <a:srgbClr val="A4A3A4"/>
          </p15:clr>
        </p15:guide>
        <p15:guide id="54" orient="horz" pos="187">
          <p15:clr>
            <a:srgbClr val="9FCC3B"/>
          </p15:clr>
        </p15:guide>
        <p15:guide id="55" pos="455">
          <p15:clr>
            <a:srgbClr val="9FCC3B"/>
          </p15:clr>
        </p15:guide>
        <p15:guide id="56" pos="1069">
          <p15:clr>
            <a:srgbClr val="9FCC3B"/>
          </p15:clr>
        </p15:guide>
        <p15:guide id="57" pos="1685">
          <p15:clr>
            <a:srgbClr val="9FCC3B"/>
          </p15:clr>
        </p15:guide>
        <p15:guide id="58" pos="2301">
          <p15:clr>
            <a:srgbClr val="9FCC3B"/>
          </p15:clr>
        </p15:guide>
        <p15:guide id="59" pos="2915">
          <p15:clr>
            <a:srgbClr val="9FCC3B"/>
          </p15:clr>
        </p15:guide>
        <p15:guide id="60" pos="3531">
          <p15:clr>
            <a:srgbClr val="9FCC3B"/>
          </p15:clr>
        </p15:guide>
        <p15:guide id="61" pos="4146">
          <p15:clr>
            <a:srgbClr val="9FCC3B"/>
          </p15:clr>
        </p15:guide>
        <p15:guide id="62" pos="4762">
          <p15:clr>
            <a:srgbClr val="9FCC3B"/>
          </p15:clr>
        </p15:guide>
        <p15:guide id="63" pos="5378">
          <p15:clr>
            <a:srgbClr val="9FCC3B"/>
          </p15:clr>
        </p15:guide>
        <p15:guide id="64" pos="5992">
          <p15:clr>
            <a:srgbClr val="9FCC3B"/>
          </p15:clr>
        </p15:guide>
        <p15:guide id="65" pos="6609">
          <p15:clr>
            <a:srgbClr val="9FCC3B"/>
          </p15:clr>
        </p15:guide>
        <p15:guide id="66" pos="7225">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hyperlink" Target="https://cisco.sharepoint.com/:x:/r/sites/CampaignTaggingandTracking-TeamHub/Shared%20Documents/04%20-%20Move%20to%20Workfront/Campaign%20Tagging%20and%20Tracking%20Dependencies%20-%20August%202023%20-%20Copy.xlsx?d=w3060eb64a6a34730a68916e4c4b95d8f&amp;csf=1&amp;web=1&amp;e=2cI0LF" TargetMode="Externa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7F654-DCD6-0872-5994-3B80F08ADEE5}"/>
              </a:ext>
            </a:extLst>
          </p:cNvPr>
          <p:cNvSpPr>
            <a:spLocks noGrp="1"/>
          </p:cNvSpPr>
          <p:nvPr>
            <p:ph type="title"/>
          </p:nvPr>
        </p:nvSpPr>
        <p:spPr/>
        <p:txBody>
          <a:bodyPr/>
          <a:lstStyle/>
          <a:p>
            <a:r>
              <a:rPr lang="en-US" dirty="0"/>
              <a:t>Workfront &amp; CTT Integration</a:t>
            </a:r>
            <a:endParaRPr lang="en-GB" dirty="0"/>
          </a:p>
        </p:txBody>
      </p:sp>
      <p:sp>
        <p:nvSpPr>
          <p:cNvPr id="3" name="Text Placeholder 2">
            <a:extLst>
              <a:ext uri="{FF2B5EF4-FFF2-40B4-BE49-F238E27FC236}">
                <a16:creationId xmlns:a16="http://schemas.microsoft.com/office/drawing/2014/main" id="{610AA607-FD47-2BFC-9114-999425F72F6A}"/>
              </a:ext>
            </a:extLst>
          </p:cNvPr>
          <p:cNvSpPr>
            <a:spLocks noGrp="1"/>
          </p:cNvSpPr>
          <p:nvPr>
            <p:ph type="body" sz="quarter" idx="13"/>
          </p:nvPr>
        </p:nvSpPr>
        <p:spPr/>
        <p:txBody>
          <a:bodyPr/>
          <a:lstStyle/>
          <a:p>
            <a:r>
              <a:rPr lang="en-US" dirty="0"/>
              <a:t>Proof of Concept</a:t>
            </a:r>
            <a:endParaRPr lang="en-GB" dirty="0"/>
          </a:p>
        </p:txBody>
      </p:sp>
      <p:sp>
        <p:nvSpPr>
          <p:cNvPr id="4" name="Text Placeholder 3">
            <a:extLst>
              <a:ext uri="{FF2B5EF4-FFF2-40B4-BE49-F238E27FC236}">
                <a16:creationId xmlns:a16="http://schemas.microsoft.com/office/drawing/2014/main" id="{8CF7DE3F-016F-A21A-D010-48C5F92D7C62}"/>
              </a:ext>
            </a:extLst>
          </p:cNvPr>
          <p:cNvSpPr>
            <a:spLocks noGrp="1"/>
          </p:cNvSpPr>
          <p:nvPr>
            <p:ph type="body" sz="quarter" idx="16"/>
          </p:nvPr>
        </p:nvSpPr>
        <p:spPr/>
        <p:txBody>
          <a:bodyPr/>
          <a:lstStyle/>
          <a:p>
            <a:r>
              <a:rPr lang="en-US" dirty="0"/>
              <a:t>Amanda Pattenden</a:t>
            </a:r>
            <a:endParaRPr lang="en-GB" dirty="0"/>
          </a:p>
        </p:txBody>
      </p:sp>
      <p:sp>
        <p:nvSpPr>
          <p:cNvPr id="5" name="Text Placeholder 4">
            <a:extLst>
              <a:ext uri="{FF2B5EF4-FFF2-40B4-BE49-F238E27FC236}">
                <a16:creationId xmlns:a16="http://schemas.microsoft.com/office/drawing/2014/main" id="{E8132A02-875E-3C1C-2E02-585E1065A89C}"/>
              </a:ext>
            </a:extLst>
          </p:cNvPr>
          <p:cNvSpPr>
            <a:spLocks noGrp="1"/>
          </p:cNvSpPr>
          <p:nvPr>
            <p:ph type="body" sz="quarter" idx="14"/>
          </p:nvPr>
        </p:nvSpPr>
        <p:spPr/>
        <p:txBody>
          <a:bodyPr/>
          <a:lstStyle/>
          <a:p>
            <a:endParaRPr lang="en-GB"/>
          </a:p>
        </p:txBody>
      </p:sp>
      <p:sp>
        <p:nvSpPr>
          <p:cNvPr id="6" name="Text Placeholder 5">
            <a:extLst>
              <a:ext uri="{FF2B5EF4-FFF2-40B4-BE49-F238E27FC236}">
                <a16:creationId xmlns:a16="http://schemas.microsoft.com/office/drawing/2014/main" id="{3E63FAE1-729C-0BB5-98A8-95E7D4C6DF5F}"/>
              </a:ext>
            </a:extLst>
          </p:cNvPr>
          <p:cNvSpPr>
            <a:spLocks noGrp="1"/>
          </p:cNvSpPr>
          <p:nvPr>
            <p:ph type="body" sz="quarter" idx="12"/>
          </p:nvPr>
        </p:nvSpPr>
        <p:spPr/>
        <p:txBody>
          <a:bodyPr/>
          <a:lstStyle/>
          <a:p>
            <a:r>
              <a:rPr lang="en-US" dirty="0"/>
              <a:t>June 2026</a:t>
            </a:r>
            <a:endParaRPr lang="en-GB" dirty="0"/>
          </a:p>
        </p:txBody>
      </p:sp>
    </p:spTree>
    <p:extLst>
      <p:ext uri="{BB962C8B-B14F-4D97-AF65-F5344CB8AC3E}">
        <p14:creationId xmlns:p14="http://schemas.microsoft.com/office/powerpoint/2010/main" val="671577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05469ABC-8D76-15E6-A25F-4D64C66AF433}"/>
              </a:ext>
            </a:extLst>
          </p:cNvPr>
          <p:cNvCxnSpPr/>
          <p:nvPr/>
        </p:nvCxnSpPr>
        <p:spPr>
          <a:xfrm>
            <a:off x="4223792" y="692696"/>
            <a:ext cx="0" cy="5904656"/>
          </a:xfrm>
          <a:prstGeom prst="line">
            <a:avLst/>
          </a:prstGeom>
          <a:noFill/>
          <a:ln>
            <a:gradFill>
              <a:gsLst>
                <a:gs pos="37000">
                  <a:srgbClr val="02C8FF"/>
                </a:gs>
                <a:gs pos="5000">
                  <a:srgbClr val="0A60FF"/>
                </a:gs>
                <a:gs pos="44000">
                  <a:srgbClr val="02C8FF"/>
                </a:gs>
                <a:gs pos="75000">
                  <a:srgbClr val="FF007F"/>
                </a:gs>
                <a:gs pos="95000">
                  <a:srgbClr val="FF9000"/>
                </a:gs>
              </a:gsLst>
              <a:lin ang="5400000" scaled="1"/>
            </a:gradFill>
            <a:prstDash val="sysDot"/>
          </a:ln>
          <a:effectLst/>
        </p:spPr>
        <p:style>
          <a:lnRef idx="2">
            <a:schemeClr val="accent1">
              <a:shade val="50000"/>
            </a:schemeClr>
          </a:lnRef>
          <a:fillRef idx="1">
            <a:schemeClr val="accent1"/>
          </a:fillRef>
          <a:effectRef idx="0">
            <a:schemeClr val="accent1"/>
          </a:effectRef>
          <a:fontRef idx="minor">
            <a:schemeClr val="lt1"/>
          </a:fontRef>
        </p:style>
      </p:cxnSp>
      <p:sp>
        <p:nvSpPr>
          <p:cNvPr id="16" name="TextBox 15">
            <a:extLst>
              <a:ext uri="{FF2B5EF4-FFF2-40B4-BE49-F238E27FC236}">
                <a16:creationId xmlns:a16="http://schemas.microsoft.com/office/drawing/2014/main" id="{0E796B39-96C1-2B47-A4F0-DD0544499523}"/>
              </a:ext>
            </a:extLst>
          </p:cNvPr>
          <p:cNvSpPr txBox="1"/>
          <p:nvPr/>
        </p:nvSpPr>
        <p:spPr>
          <a:xfrm>
            <a:off x="479376" y="2384884"/>
            <a:ext cx="3240360" cy="2088232"/>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GB" sz="4800">
                <a:solidFill>
                  <a:schemeClr val="bg1"/>
                </a:solidFill>
                <a:ea typeface="ＭＳ Ｐゴシック" charset="0"/>
              </a:rPr>
              <a:t>Document Objectives</a:t>
            </a:r>
            <a:endParaRPr lang="en-GB" sz="4800" kern="1200">
              <a:solidFill>
                <a:schemeClr val="bg1"/>
              </a:solidFill>
              <a:latin typeface="+mn-lt"/>
              <a:ea typeface="ＭＳ Ｐゴシック" charset="0"/>
            </a:endParaRPr>
          </a:p>
        </p:txBody>
      </p:sp>
      <p:grpSp>
        <p:nvGrpSpPr>
          <p:cNvPr id="3" name="Group 2">
            <a:extLst>
              <a:ext uri="{FF2B5EF4-FFF2-40B4-BE49-F238E27FC236}">
                <a16:creationId xmlns:a16="http://schemas.microsoft.com/office/drawing/2014/main" id="{F23BB1C6-C5E4-59A1-B870-3E8CD0087130}"/>
              </a:ext>
            </a:extLst>
          </p:cNvPr>
          <p:cNvGrpSpPr/>
          <p:nvPr/>
        </p:nvGrpSpPr>
        <p:grpSpPr>
          <a:xfrm>
            <a:off x="4763852" y="903747"/>
            <a:ext cx="7236804" cy="1722852"/>
            <a:chOff x="4763852" y="903747"/>
            <a:chExt cx="7236804" cy="1722852"/>
          </a:xfrm>
        </p:grpSpPr>
        <p:sp>
          <p:nvSpPr>
            <p:cNvPr id="18" name="Rectangle: Rounded Corners 17">
              <a:extLst>
                <a:ext uri="{FF2B5EF4-FFF2-40B4-BE49-F238E27FC236}">
                  <a16:creationId xmlns:a16="http://schemas.microsoft.com/office/drawing/2014/main" id="{171867FC-ACBE-DCA3-D15B-F8C221AB5C89}"/>
                </a:ext>
              </a:extLst>
            </p:cNvPr>
            <p:cNvSpPr/>
            <p:nvPr/>
          </p:nvSpPr>
          <p:spPr>
            <a:xfrm>
              <a:off x="4763852" y="1216533"/>
              <a:ext cx="2016224" cy="1097280"/>
            </a:xfrm>
            <a:prstGeom prst="roundRect">
              <a:avLst/>
            </a:prstGeom>
            <a:no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GB" b="1">
                  <a:solidFill>
                    <a:schemeClr val="bg1">
                      <a:lumMod val="50000"/>
                      <a:lumOff val="50000"/>
                    </a:schemeClr>
                  </a:solidFill>
                </a:rPr>
                <a:t>Purpose</a:t>
              </a:r>
            </a:p>
          </p:txBody>
        </p:sp>
        <p:sp>
          <p:nvSpPr>
            <p:cNvPr id="25" name="TextBox 24">
              <a:extLst>
                <a:ext uri="{FF2B5EF4-FFF2-40B4-BE49-F238E27FC236}">
                  <a16:creationId xmlns:a16="http://schemas.microsoft.com/office/drawing/2014/main" id="{EB3B6231-8E62-E4EE-D613-3627CCEAB99D}"/>
                </a:ext>
              </a:extLst>
            </p:cNvPr>
            <p:cNvSpPr txBox="1"/>
            <p:nvPr/>
          </p:nvSpPr>
          <p:spPr>
            <a:xfrm>
              <a:off x="7176120" y="903747"/>
              <a:ext cx="4824536" cy="1722852"/>
            </a:xfrm>
            <a:prstGeom prst="rect">
              <a:avLst/>
            </a:prstGeom>
            <a:noFill/>
          </p:spPr>
          <p:txBody>
            <a:bodyPr wrap="square" lIns="0" tIns="0" rIns="0" bIns="0" rtlCol="0">
              <a:noAutofit/>
            </a:bodyPr>
            <a:lstStyle>
              <a:defPPr>
                <a:defRPr lang="en-US"/>
              </a:defPPr>
              <a:lvl1pPr>
                <a:defRPr sz="1400">
                  <a:solidFill>
                    <a:schemeClr val="bg1">
                      <a:lumMod val="75000"/>
                      <a:lumOff val="25000"/>
                    </a:schemeClr>
                  </a:solidFill>
                </a:defRPr>
              </a:lvl1pPr>
            </a:lstStyle>
            <a:p>
              <a:r>
                <a:rPr lang="en-GB" dirty="0"/>
                <a:t>The </a:t>
              </a:r>
              <a:r>
                <a:rPr lang="en-GB" sz="1200" dirty="0"/>
                <a:t>presentation proposes a focused, near-term Proof of Concept (POC) to integrate Workfront and Campaign Tagging and Tracking (CTT) tool as a temporary compatibility layer for the upcoming quarter. This interim bridge addresses immediate technical constraints—specifically, incomplete Workfront adoption and a hold on Salesforce (SFDC) modifications due to One Cisco CRM—ensuring we capture consistent FY27 attribution data and operational metrics that will allow us to easily transition to full Workfront On-boarding</a:t>
              </a:r>
            </a:p>
          </p:txBody>
        </p:sp>
      </p:grpSp>
      <p:grpSp>
        <p:nvGrpSpPr>
          <p:cNvPr id="6" name="Group 5">
            <a:extLst>
              <a:ext uri="{FF2B5EF4-FFF2-40B4-BE49-F238E27FC236}">
                <a16:creationId xmlns:a16="http://schemas.microsoft.com/office/drawing/2014/main" id="{AE49E57D-615E-18AB-CD65-DD6CE787F805}"/>
              </a:ext>
            </a:extLst>
          </p:cNvPr>
          <p:cNvGrpSpPr/>
          <p:nvPr/>
        </p:nvGrpSpPr>
        <p:grpSpPr>
          <a:xfrm>
            <a:off x="4763852" y="3039435"/>
            <a:ext cx="7236804" cy="1306277"/>
            <a:chOff x="4763852" y="2929584"/>
            <a:chExt cx="7236804" cy="1306277"/>
          </a:xfrm>
        </p:grpSpPr>
        <p:sp>
          <p:nvSpPr>
            <p:cNvPr id="19" name="Rectangle: Rounded Corners 18">
              <a:extLst>
                <a:ext uri="{FF2B5EF4-FFF2-40B4-BE49-F238E27FC236}">
                  <a16:creationId xmlns:a16="http://schemas.microsoft.com/office/drawing/2014/main" id="{41B4B4EE-1D5A-66B0-4191-97DB15B785A1}"/>
                </a:ext>
              </a:extLst>
            </p:cNvPr>
            <p:cNvSpPr/>
            <p:nvPr/>
          </p:nvSpPr>
          <p:spPr>
            <a:xfrm>
              <a:off x="4763852" y="3034082"/>
              <a:ext cx="2016224" cy="1097280"/>
            </a:xfrm>
            <a:prstGeom prst="roundRect">
              <a:avLst/>
            </a:prstGeom>
            <a:no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GB" b="1">
                  <a:solidFill>
                    <a:schemeClr val="bg1">
                      <a:lumMod val="50000"/>
                      <a:lumOff val="50000"/>
                    </a:schemeClr>
                  </a:solidFill>
                </a:rPr>
                <a:t>Outcome</a:t>
              </a:r>
            </a:p>
          </p:txBody>
        </p:sp>
        <p:sp>
          <p:nvSpPr>
            <p:cNvPr id="29" name="TextBox 28">
              <a:extLst>
                <a:ext uri="{FF2B5EF4-FFF2-40B4-BE49-F238E27FC236}">
                  <a16:creationId xmlns:a16="http://schemas.microsoft.com/office/drawing/2014/main" id="{479E7B1A-E46C-3FD0-5DCC-0C5FA90C4CA4}"/>
                </a:ext>
              </a:extLst>
            </p:cNvPr>
            <p:cNvSpPr txBox="1"/>
            <p:nvPr/>
          </p:nvSpPr>
          <p:spPr>
            <a:xfrm>
              <a:off x="7176120" y="2929584"/>
              <a:ext cx="4824536" cy="1306277"/>
            </a:xfrm>
            <a:prstGeom prst="rect">
              <a:avLst/>
            </a:prstGeom>
            <a:noFill/>
          </p:spPr>
          <p:txBody>
            <a:bodyPr wrap="square" lIns="0" tIns="0" rIns="0" bIns="0" rtlCol="0">
              <a:noAutofit/>
            </a:bodyPr>
            <a:lstStyle>
              <a:defPPr>
                <a:defRPr lang="en-US"/>
              </a:defPPr>
              <a:lvl1pPr>
                <a:defRPr sz="1400">
                  <a:solidFill>
                    <a:schemeClr val="bg1">
                      <a:lumMod val="75000"/>
                      <a:lumOff val="25000"/>
                    </a:schemeClr>
                  </a:solidFill>
                </a:defRPr>
              </a:lvl1pPr>
            </a:lstStyle>
            <a:p>
              <a:r>
                <a:rPr lang="en-GB" sz="1200" dirty="0"/>
                <a:t>The goal of this session is to secure executive alignment and leadership approval to run the contained integration pilot. By the end of this review, we aim to establish agreement on named resource owners across the Workfront, CTT/Integration, and Marketing Reporting teams, while confirming a shared strategy that accelerates long-term Workfront adoption and builds a safe, data-driven roadmap to decommission CTT</a:t>
              </a:r>
            </a:p>
          </p:txBody>
        </p:sp>
      </p:grpSp>
      <p:sp>
        <p:nvSpPr>
          <p:cNvPr id="30" name="TextBox 29">
            <a:extLst>
              <a:ext uri="{FF2B5EF4-FFF2-40B4-BE49-F238E27FC236}">
                <a16:creationId xmlns:a16="http://schemas.microsoft.com/office/drawing/2014/main" id="{9AE6AABA-B298-6D35-CCDD-5049140C1A21}"/>
              </a:ext>
            </a:extLst>
          </p:cNvPr>
          <p:cNvSpPr txBox="1"/>
          <p:nvPr/>
        </p:nvSpPr>
        <p:spPr>
          <a:xfrm>
            <a:off x="13296800" y="5157192"/>
            <a:ext cx="914400" cy="91440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err="1">
              <a:solidFill>
                <a:schemeClr val="bg1"/>
              </a:solidFill>
              <a:latin typeface="+mn-lt"/>
              <a:ea typeface="ＭＳ Ｐゴシック" charset="0"/>
            </a:endParaRPr>
          </a:p>
        </p:txBody>
      </p:sp>
      <p:grpSp>
        <p:nvGrpSpPr>
          <p:cNvPr id="2" name="Group 1">
            <a:extLst>
              <a:ext uri="{FF2B5EF4-FFF2-40B4-BE49-F238E27FC236}">
                <a16:creationId xmlns:a16="http://schemas.microsoft.com/office/drawing/2014/main" id="{CB5DE390-13EF-A4AC-BD0E-A2FE5ABC2F00}"/>
              </a:ext>
            </a:extLst>
          </p:cNvPr>
          <p:cNvGrpSpPr/>
          <p:nvPr/>
        </p:nvGrpSpPr>
        <p:grpSpPr>
          <a:xfrm>
            <a:off x="4763852" y="4758547"/>
            <a:ext cx="7164796" cy="1306277"/>
            <a:chOff x="4763852" y="4758547"/>
            <a:chExt cx="7164796" cy="1306277"/>
          </a:xfrm>
        </p:grpSpPr>
        <p:sp>
          <p:nvSpPr>
            <p:cNvPr id="20" name="Rectangle: Rounded Corners 19">
              <a:extLst>
                <a:ext uri="{FF2B5EF4-FFF2-40B4-BE49-F238E27FC236}">
                  <a16:creationId xmlns:a16="http://schemas.microsoft.com/office/drawing/2014/main" id="{5542667F-169C-2ECD-5DE4-AAD052B7BF34}"/>
                </a:ext>
              </a:extLst>
            </p:cNvPr>
            <p:cNvSpPr/>
            <p:nvPr/>
          </p:nvSpPr>
          <p:spPr>
            <a:xfrm>
              <a:off x="4763852" y="4863045"/>
              <a:ext cx="2016224" cy="1097280"/>
            </a:xfrm>
            <a:prstGeom prst="roundRect">
              <a:avLst/>
            </a:prstGeom>
            <a:noFill/>
            <a:ln>
              <a:gradFill>
                <a:gsLst>
                  <a:gs pos="37000">
                    <a:srgbClr val="02C8FF"/>
                  </a:gs>
                  <a:gs pos="5000">
                    <a:srgbClr val="0A60FF"/>
                  </a:gs>
                  <a:gs pos="44000">
                    <a:srgbClr val="02C8FF"/>
                  </a:gs>
                  <a:gs pos="75000">
                    <a:srgbClr val="FF007F"/>
                  </a:gs>
                  <a:gs pos="95000">
                    <a:srgbClr val="FF9000"/>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GB" b="1">
                  <a:solidFill>
                    <a:schemeClr val="bg1">
                      <a:lumMod val="50000"/>
                      <a:lumOff val="50000"/>
                    </a:schemeClr>
                  </a:solidFill>
                </a:rPr>
                <a:t>Plan</a:t>
              </a:r>
            </a:p>
          </p:txBody>
        </p:sp>
        <p:sp>
          <p:nvSpPr>
            <p:cNvPr id="31" name="TextBox 30">
              <a:extLst>
                <a:ext uri="{FF2B5EF4-FFF2-40B4-BE49-F238E27FC236}">
                  <a16:creationId xmlns:a16="http://schemas.microsoft.com/office/drawing/2014/main" id="{666C1903-0B90-C2F4-A302-2259874242B7}"/>
                </a:ext>
              </a:extLst>
            </p:cNvPr>
            <p:cNvSpPr txBox="1"/>
            <p:nvPr/>
          </p:nvSpPr>
          <p:spPr>
            <a:xfrm>
              <a:off x="7104112" y="4758547"/>
              <a:ext cx="4824536" cy="1306277"/>
            </a:xfrm>
            <a:prstGeom prst="rect">
              <a:avLst/>
            </a:prstGeom>
            <a:noFill/>
          </p:spPr>
          <p:txBody>
            <a:bodyPr wrap="square" lIns="0" tIns="0" rIns="0" bIns="0" rtlCol="0">
              <a:noAutofit/>
            </a:bodyPr>
            <a:lstStyle>
              <a:defPPr>
                <a:defRPr lang="en-US"/>
              </a:defPPr>
              <a:lvl1pPr>
                <a:defRPr sz="1400" b="1">
                  <a:solidFill>
                    <a:schemeClr val="bg1">
                      <a:lumMod val="75000"/>
                      <a:lumOff val="25000"/>
                    </a:schemeClr>
                  </a:solidFill>
                </a:defRPr>
              </a:lvl1pPr>
            </a:lstStyle>
            <a:p>
              <a:r>
                <a:rPr lang="en-GB" sz="1200" b="0" dirty="0"/>
                <a:t>The session will begin by outlining the burning issue and the immediate risk that the systems transition poses to our FY27 marketing measurement. We will then detail the tactical solution, explaining how the interim CTT bridge works, what the POC will tangibly deliver, and what evidence it will prove. Finally, we will open the floor to secure a formal decision on the requested pilot scope, ownership assignments, and success criteria</a:t>
              </a:r>
            </a:p>
            <a:p>
              <a:endParaRPr lang="en-GB" b="0" dirty="0"/>
            </a:p>
          </p:txBody>
        </p:sp>
      </p:grpSp>
    </p:spTree>
    <p:extLst>
      <p:ext uri="{BB962C8B-B14F-4D97-AF65-F5344CB8AC3E}">
        <p14:creationId xmlns:p14="http://schemas.microsoft.com/office/powerpoint/2010/main" val="436883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BF0ED-2BD4-E09A-69AA-410341DFC76A}"/>
              </a:ext>
            </a:extLst>
          </p:cNvPr>
          <p:cNvSpPr>
            <a:spLocks noGrp="1"/>
          </p:cNvSpPr>
          <p:nvPr>
            <p:ph type="title"/>
          </p:nvPr>
        </p:nvSpPr>
        <p:spPr/>
        <p:txBody>
          <a:bodyPr/>
          <a:lstStyle/>
          <a:p>
            <a:r>
              <a:rPr lang="en-US" dirty="0"/>
              <a:t>The Burning Issue</a:t>
            </a:r>
            <a:endParaRPr lang="en-GB" dirty="0"/>
          </a:p>
        </p:txBody>
      </p:sp>
      <p:grpSp>
        <p:nvGrpSpPr>
          <p:cNvPr id="13" name="Group 12">
            <a:extLst>
              <a:ext uri="{FF2B5EF4-FFF2-40B4-BE49-F238E27FC236}">
                <a16:creationId xmlns:a16="http://schemas.microsoft.com/office/drawing/2014/main" id="{5219766B-7284-196D-5A53-B7152A97690F}"/>
              </a:ext>
            </a:extLst>
          </p:cNvPr>
          <p:cNvGrpSpPr/>
          <p:nvPr/>
        </p:nvGrpSpPr>
        <p:grpSpPr>
          <a:xfrm>
            <a:off x="584034" y="1441838"/>
            <a:ext cx="3506863" cy="4572000"/>
            <a:chOff x="938528" y="1287194"/>
            <a:chExt cx="3506863" cy="4572000"/>
          </a:xfrm>
        </p:grpSpPr>
        <p:sp>
          <p:nvSpPr>
            <p:cNvPr id="3" name="Rectangle: Rounded Corners 2">
              <a:extLst>
                <a:ext uri="{FF2B5EF4-FFF2-40B4-BE49-F238E27FC236}">
                  <a16:creationId xmlns:a16="http://schemas.microsoft.com/office/drawing/2014/main" id="{423C18AB-F7D8-A024-E002-4FCDA2436899}"/>
                </a:ext>
              </a:extLst>
            </p:cNvPr>
            <p:cNvSpPr/>
            <p:nvPr/>
          </p:nvSpPr>
          <p:spPr>
            <a:xfrm>
              <a:off x="938528" y="1287194"/>
              <a:ext cx="3506863" cy="4572000"/>
            </a:xfrm>
            <a:prstGeom prst="roundRect">
              <a:avLst>
                <a:gd name="adj" fmla="val 9371"/>
              </a:avLst>
            </a:prstGeom>
            <a:noFill/>
            <a:ln w="25400">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6" name="TextBox 5">
              <a:extLst>
                <a:ext uri="{FF2B5EF4-FFF2-40B4-BE49-F238E27FC236}">
                  <a16:creationId xmlns:a16="http://schemas.microsoft.com/office/drawing/2014/main" id="{2168B7EC-FCCC-4B5B-58E8-87DA9D80807C}"/>
                </a:ext>
              </a:extLst>
            </p:cNvPr>
            <p:cNvSpPr txBox="1"/>
            <p:nvPr/>
          </p:nvSpPr>
          <p:spPr>
            <a:xfrm>
              <a:off x="1341803" y="1379261"/>
              <a:ext cx="2700312" cy="672349"/>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3200" kern="1200" dirty="0">
                  <a:solidFill>
                    <a:schemeClr val="bg1"/>
                  </a:solidFill>
                  <a:latin typeface="+mn-lt"/>
                  <a:ea typeface="ＭＳ Ｐゴシック" charset="0"/>
                </a:rPr>
                <a:t>The Problem</a:t>
              </a:r>
              <a:endParaRPr lang="en-GB" sz="3200" kern="1200" dirty="0" err="1">
                <a:solidFill>
                  <a:schemeClr val="bg1"/>
                </a:solidFill>
                <a:latin typeface="+mn-lt"/>
                <a:ea typeface="ＭＳ Ｐゴシック" charset="0"/>
              </a:endParaRPr>
            </a:p>
          </p:txBody>
        </p:sp>
        <p:sp>
          <p:nvSpPr>
            <p:cNvPr id="7" name="TextBox 6">
              <a:extLst>
                <a:ext uri="{FF2B5EF4-FFF2-40B4-BE49-F238E27FC236}">
                  <a16:creationId xmlns:a16="http://schemas.microsoft.com/office/drawing/2014/main" id="{0B4F07F0-69A9-2B60-1BEA-70F1B087D652}"/>
                </a:ext>
              </a:extLst>
            </p:cNvPr>
            <p:cNvSpPr txBox="1"/>
            <p:nvPr/>
          </p:nvSpPr>
          <p:spPr>
            <a:xfrm>
              <a:off x="1021161" y="2475234"/>
              <a:ext cx="3341596" cy="3053413"/>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US" sz="1600" dirty="0">
                  <a:solidFill>
                    <a:schemeClr val="bg1"/>
                  </a:solidFill>
                </a:rPr>
                <a:t>Workfront is the destination, but CTT is still embedded in how marketing activities are tagged, enriched, routed and measured today.</a:t>
              </a:r>
            </a:p>
            <a:p>
              <a:pPr marL="182880" indent="-182880" defTabSz="912276" fontAlgn="base">
                <a:spcAft>
                  <a:spcPts val="1000"/>
                </a:spcAft>
                <a:buClr>
                  <a:schemeClr val="bg1"/>
                </a:buClr>
                <a:buSzPct val="100000"/>
                <a:buFont typeface="Arial" panose="020B0604020202020204" pitchFamily="34" charset="0"/>
                <a:buChar char="•"/>
              </a:pPr>
              <a:r>
                <a:rPr lang="en-US" sz="1600" dirty="0">
                  <a:solidFill>
                    <a:schemeClr val="bg1"/>
                  </a:solidFill>
                </a:rPr>
                <a:t>An immediate cutover in reporting to utilize Workfront Data could create a measurement gap before all upstream and downstream dependencies are ready.</a:t>
              </a:r>
            </a:p>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dirty="0" err="1">
                <a:solidFill>
                  <a:schemeClr val="bg1"/>
                </a:solidFill>
                <a:latin typeface="+mn-lt"/>
                <a:ea typeface="ＭＳ Ｐゴシック" charset="0"/>
              </a:endParaRPr>
            </a:p>
          </p:txBody>
        </p:sp>
      </p:grpSp>
      <p:sp>
        <p:nvSpPr>
          <p:cNvPr id="9" name="Rectangle: Rounded Corners 8">
            <a:extLst>
              <a:ext uri="{FF2B5EF4-FFF2-40B4-BE49-F238E27FC236}">
                <a16:creationId xmlns:a16="http://schemas.microsoft.com/office/drawing/2014/main" id="{DF45B706-3568-6EC3-A4E9-D6AFC290E407}"/>
              </a:ext>
            </a:extLst>
          </p:cNvPr>
          <p:cNvSpPr/>
          <p:nvPr/>
        </p:nvSpPr>
        <p:spPr>
          <a:xfrm>
            <a:off x="4457100" y="1438114"/>
            <a:ext cx="3392056" cy="2377440"/>
          </a:xfrm>
          <a:prstGeom prst="roundRect">
            <a:avLst>
              <a:gd name="adj" fmla="val 9753"/>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0" name="Straight Connector 9">
            <a:extLst>
              <a:ext uri="{FF2B5EF4-FFF2-40B4-BE49-F238E27FC236}">
                <a16:creationId xmlns:a16="http://schemas.microsoft.com/office/drawing/2014/main" id="{923456FF-3433-01A3-AD59-8D039E5892AC}"/>
              </a:ext>
            </a:extLst>
          </p:cNvPr>
          <p:cNvCxnSpPr>
            <a:cxnSpLocks/>
          </p:cNvCxnSpPr>
          <p:nvPr/>
        </p:nvCxnSpPr>
        <p:spPr>
          <a:xfrm>
            <a:off x="4456916" y="1946378"/>
            <a:ext cx="339242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1" name="TextBox 10">
            <a:extLst>
              <a:ext uri="{FF2B5EF4-FFF2-40B4-BE49-F238E27FC236}">
                <a16:creationId xmlns:a16="http://schemas.microsoft.com/office/drawing/2014/main" id="{7130EA33-C870-B402-8EF2-D4963BDE6BD5}"/>
              </a:ext>
            </a:extLst>
          </p:cNvPr>
          <p:cNvSpPr txBox="1"/>
          <p:nvPr/>
        </p:nvSpPr>
        <p:spPr>
          <a:xfrm>
            <a:off x="5103428" y="1518189"/>
            <a:ext cx="2099401" cy="341551"/>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Business Impact</a:t>
            </a:r>
            <a:endParaRPr lang="en-GB" sz="1600" kern="1200" dirty="0" err="1">
              <a:solidFill>
                <a:schemeClr val="bg1"/>
              </a:solidFill>
              <a:latin typeface="+mn-lt"/>
              <a:ea typeface="ＭＳ Ｐゴシック" charset="0"/>
            </a:endParaRPr>
          </a:p>
        </p:txBody>
      </p:sp>
      <p:sp>
        <p:nvSpPr>
          <p:cNvPr id="12" name="TextBox 11">
            <a:extLst>
              <a:ext uri="{FF2B5EF4-FFF2-40B4-BE49-F238E27FC236}">
                <a16:creationId xmlns:a16="http://schemas.microsoft.com/office/drawing/2014/main" id="{1F86FDDC-3FA0-3EC2-F75F-6E60BEDD9D28}"/>
              </a:ext>
            </a:extLst>
          </p:cNvPr>
          <p:cNvSpPr txBox="1"/>
          <p:nvPr/>
        </p:nvSpPr>
        <p:spPr>
          <a:xfrm>
            <a:off x="4488928" y="2124743"/>
            <a:ext cx="3328400" cy="1421006"/>
          </a:xfrm>
          <a:prstGeom prst="rect">
            <a:avLst/>
          </a:prstGeom>
          <a:noFill/>
        </p:spPr>
        <p:txBody>
          <a:bodyPr wrap="square" lIns="0" tIns="0" rIns="0" bIns="0" rtlCol="0">
            <a:noAutofit/>
          </a:bodyPr>
          <a:lstStyle>
            <a:defPPr>
              <a:defRPr lang="en-US"/>
            </a:defPPr>
            <a:lvl1pPr marL="182880" indent="-182880" defTabSz="912276" fontAlgn="base">
              <a:spcAft>
                <a:spcPts val="1000"/>
              </a:spcAft>
              <a:buClr>
                <a:schemeClr val="bg1"/>
              </a:buClr>
              <a:buSzPct val="100000"/>
              <a:buFont typeface="Arial" panose="020B0604020202020204" pitchFamily="34" charset="0"/>
              <a:buChar char="•"/>
              <a:defRPr sz="1600">
                <a:solidFill>
                  <a:schemeClr val="bg1"/>
                </a:solidFill>
              </a:defRPr>
            </a:lvl1pPr>
          </a:lstStyle>
          <a:p>
            <a:pPr marL="0" indent="0">
              <a:buNone/>
            </a:pPr>
            <a:r>
              <a:rPr lang="en-US" sz="1100" dirty="0"/>
              <a:t>FY27 reporting data elements may not be captured consistently across all activities.</a:t>
            </a:r>
          </a:p>
          <a:p>
            <a:pPr marL="0" indent="0">
              <a:buNone/>
            </a:pPr>
            <a:r>
              <a:rPr lang="en-US" sz="1100" dirty="0"/>
              <a:t>Marketing may not be able to compare Workfront and non-Workfront activity performance.</a:t>
            </a:r>
          </a:p>
          <a:p>
            <a:pPr marL="0" indent="0">
              <a:buNone/>
            </a:pPr>
            <a:r>
              <a:rPr lang="en-US" sz="1100" dirty="0"/>
              <a:t>Attribution, funnel reporting and operational processes remain exposed to legacy ID dependencies.</a:t>
            </a:r>
          </a:p>
          <a:p>
            <a:pPr marL="0" indent="0">
              <a:buNone/>
            </a:pPr>
            <a:endParaRPr lang="en-US" sz="1100" dirty="0"/>
          </a:p>
        </p:txBody>
      </p:sp>
      <p:sp>
        <p:nvSpPr>
          <p:cNvPr id="16" name="Rectangle: Rounded Corners 15">
            <a:extLst>
              <a:ext uri="{FF2B5EF4-FFF2-40B4-BE49-F238E27FC236}">
                <a16:creationId xmlns:a16="http://schemas.microsoft.com/office/drawing/2014/main" id="{1FD8E76B-C3F0-8BEA-8092-9CB5A6EF912C}"/>
              </a:ext>
            </a:extLst>
          </p:cNvPr>
          <p:cNvSpPr/>
          <p:nvPr/>
        </p:nvSpPr>
        <p:spPr>
          <a:xfrm>
            <a:off x="8215726" y="1393727"/>
            <a:ext cx="3392056" cy="2377440"/>
          </a:xfrm>
          <a:prstGeom prst="roundRect">
            <a:avLst>
              <a:gd name="adj" fmla="val 9753"/>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7" name="Straight Connector 16">
            <a:extLst>
              <a:ext uri="{FF2B5EF4-FFF2-40B4-BE49-F238E27FC236}">
                <a16:creationId xmlns:a16="http://schemas.microsoft.com/office/drawing/2014/main" id="{CB93C035-250F-7A4D-36ED-9EDB061FF7DE}"/>
              </a:ext>
            </a:extLst>
          </p:cNvPr>
          <p:cNvCxnSpPr>
            <a:cxnSpLocks/>
          </p:cNvCxnSpPr>
          <p:nvPr/>
        </p:nvCxnSpPr>
        <p:spPr>
          <a:xfrm>
            <a:off x="8215542" y="1901991"/>
            <a:ext cx="339242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8" name="TextBox 17">
            <a:extLst>
              <a:ext uri="{FF2B5EF4-FFF2-40B4-BE49-F238E27FC236}">
                <a16:creationId xmlns:a16="http://schemas.microsoft.com/office/drawing/2014/main" id="{33FE2B61-29A8-6C6F-943C-1D6662AC83AD}"/>
              </a:ext>
            </a:extLst>
          </p:cNvPr>
          <p:cNvSpPr txBox="1"/>
          <p:nvPr/>
        </p:nvSpPr>
        <p:spPr>
          <a:xfrm>
            <a:off x="8862054" y="1473802"/>
            <a:ext cx="2099401" cy="341551"/>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Transition Risk</a:t>
            </a:r>
            <a:endParaRPr lang="en-GB" sz="1600" kern="1200" dirty="0" err="1">
              <a:solidFill>
                <a:schemeClr val="bg1"/>
              </a:solidFill>
              <a:latin typeface="+mn-lt"/>
              <a:ea typeface="ＭＳ Ｐゴシック" charset="0"/>
            </a:endParaRPr>
          </a:p>
        </p:txBody>
      </p:sp>
      <p:sp>
        <p:nvSpPr>
          <p:cNvPr id="19" name="TextBox 18">
            <a:extLst>
              <a:ext uri="{FF2B5EF4-FFF2-40B4-BE49-F238E27FC236}">
                <a16:creationId xmlns:a16="http://schemas.microsoft.com/office/drawing/2014/main" id="{4A8DA23C-B738-C848-8155-86993B7363AF}"/>
              </a:ext>
            </a:extLst>
          </p:cNvPr>
          <p:cNvSpPr txBox="1"/>
          <p:nvPr/>
        </p:nvSpPr>
        <p:spPr>
          <a:xfrm>
            <a:off x="8247554" y="2080356"/>
            <a:ext cx="3328400" cy="1421006"/>
          </a:xfrm>
          <a:prstGeom prst="rect">
            <a:avLst/>
          </a:prstGeom>
          <a:noFill/>
        </p:spPr>
        <p:txBody>
          <a:bodyPr wrap="square" lIns="0" tIns="0" rIns="0" bIns="0" rtlCol="0">
            <a:noAutofit/>
          </a:bodyPr>
          <a:lstStyle>
            <a:defPPr>
              <a:defRPr lang="en-US"/>
            </a:defPPr>
            <a:lvl1pPr indent="0" defTabSz="912276" fontAlgn="base">
              <a:spcAft>
                <a:spcPts val="1000"/>
              </a:spcAft>
              <a:buClr>
                <a:schemeClr val="bg1"/>
              </a:buClr>
              <a:buSzPct val="100000"/>
              <a:buFont typeface="Arial" panose="020B0604020202020204" pitchFamily="34" charset="0"/>
              <a:buNone/>
              <a:defRPr sz="1100">
                <a:solidFill>
                  <a:schemeClr val="bg1"/>
                </a:solidFill>
              </a:defRPr>
            </a:lvl1pPr>
          </a:lstStyle>
          <a:p>
            <a:r>
              <a:rPr lang="en-US" dirty="0"/>
              <a:t>Teams may delay Workfront adoption if measurement continuity is unclear.</a:t>
            </a:r>
          </a:p>
          <a:p>
            <a:r>
              <a:rPr lang="en-US" dirty="0"/>
              <a:t>CRM/One Cisco CRM work could be pressured by short-term tracking needs.</a:t>
            </a:r>
          </a:p>
          <a:p>
            <a:r>
              <a:rPr lang="en-US" dirty="0"/>
              <a:t>The business could lose visibility into what is and is not working across initiatives.</a:t>
            </a:r>
          </a:p>
          <a:p>
            <a:endParaRPr lang="en-US" dirty="0"/>
          </a:p>
        </p:txBody>
      </p:sp>
      <p:grpSp>
        <p:nvGrpSpPr>
          <p:cNvPr id="25" name="Group 24">
            <a:extLst>
              <a:ext uri="{FF2B5EF4-FFF2-40B4-BE49-F238E27FC236}">
                <a16:creationId xmlns:a16="http://schemas.microsoft.com/office/drawing/2014/main" id="{D2880FBB-0605-BDDF-87F9-EA6E0B7297FD}"/>
              </a:ext>
            </a:extLst>
          </p:cNvPr>
          <p:cNvGrpSpPr/>
          <p:nvPr/>
        </p:nvGrpSpPr>
        <p:grpSpPr>
          <a:xfrm>
            <a:off x="4456916" y="4156584"/>
            <a:ext cx="7150866" cy="1857251"/>
            <a:chOff x="4811410" y="4001940"/>
            <a:chExt cx="7150866" cy="1857251"/>
          </a:xfrm>
        </p:grpSpPr>
        <p:sp>
          <p:nvSpPr>
            <p:cNvPr id="21" name="Rectangle: Rounded Corners 20">
              <a:extLst>
                <a:ext uri="{FF2B5EF4-FFF2-40B4-BE49-F238E27FC236}">
                  <a16:creationId xmlns:a16="http://schemas.microsoft.com/office/drawing/2014/main" id="{0B1B3C07-6ADF-AFF5-E435-9996D791932F}"/>
                </a:ext>
              </a:extLst>
            </p:cNvPr>
            <p:cNvSpPr/>
            <p:nvPr/>
          </p:nvSpPr>
          <p:spPr>
            <a:xfrm>
              <a:off x="4811410" y="4001940"/>
              <a:ext cx="7150866" cy="1857251"/>
            </a:xfrm>
            <a:prstGeom prst="roundRect">
              <a:avLst>
                <a:gd name="adj" fmla="val 9753"/>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2" name="Straight Connector 21">
              <a:extLst>
                <a:ext uri="{FF2B5EF4-FFF2-40B4-BE49-F238E27FC236}">
                  <a16:creationId xmlns:a16="http://schemas.microsoft.com/office/drawing/2014/main" id="{2EA4B2AF-A653-C7B3-FDA4-78C26D57E66A}"/>
                </a:ext>
              </a:extLst>
            </p:cNvPr>
            <p:cNvCxnSpPr>
              <a:cxnSpLocks/>
            </p:cNvCxnSpPr>
            <p:nvPr/>
          </p:nvCxnSpPr>
          <p:spPr>
            <a:xfrm>
              <a:off x="4811539" y="4510204"/>
              <a:ext cx="7150608"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3" name="TextBox 22">
              <a:extLst>
                <a:ext uri="{FF2B5EF4-FFF2-40B4-BE49-F238E27FC236}">
                  <a16:creationId xmlns:a16="http://schemas.microsoft.com/office/drawing/2014/main" id="{51293E12-FCB8-0976-6CF1-A743A84EDC3B}"/>
                </a:ext>
              </a:extLst>
            </p:cNvPr>
            <p:cNvSpPr txBox="1"/>
            <p:nvPr/>
          </p:nvSpPr>
          <p:spPr>
            <a:xfrm>
              <a:off x="6958979" y="4082016"/>
              <a:ext cx="2855728" cy="335344"/>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kern="1200" dirty="0">
                  <a:solidFill>
                    <a:schemeClr val="bg1"/>
                  </a:solidFill>
                  <a:latin typeface="+mn-lt"/>
                  <a:ea typeface="ＭＳ Ｐゴシック" charset="0"/>
                </a:rPr>
                <a:t>Why this matters now</a:t>
              </a:r>
              <a:endParaRPr lang="en-GB" kern="1200" dirty="0" err="1">
                <a:solidFill>
                  <a:schemeClr val="bg1"/>
                </a:solidFill>
                <a:latin typeface="+mn-lt"/>
                <a:ea typeface="ＭＳ Ｐゴシック" charset="0"/>
              </a:endParaRPr>
            </a:p>
          </p:txBody>
        </p:sp>
        <p:sp>
          <p:nvSpPr>
            <p:cNvPr id="24" name="TextBox 23">
              <a:extLst>
                <a:ext uri="{FF2B5EF4-FFF2-40B4-BE49-F238E27FC236}">
                  <a16:creationId xmlns:a16="http://schemas.microsoft.com/office/drawing/2014/main" id="{0E6F6C7C-D454-4EDC-ADC2-2AE8437FA002}"/>
                </a:ext>
              </a:extLst>
            </p:cNvPr>
            <p:cNvSpPr txBox="1"/>
            <p:nvPr/>
          </p:nvSpPr>
          <p:spPr>
            <a:xfrm>
              <a:off x="5068583" y="4746546"/>
              <a:ext cx="6636520" cy="1077515"/>
            </a:xfrm>
            <a:prstGeom prst="rect">
              <a:avLst/>
            </a:prstGeom>
            <a:noFill/>
          </p:spPr>
          <p:txBody>
            <a:bodyPr wrap="square" lIns="0" tIns="0" rIns="0" bIns="0" rtlCol="0">
              <a:noAutofit/>
            </a:bodyPr>
            <a:lstStyle>
              <a:defPPr>
                <a:defRPr lang="en-US"/>
              </a:defPPr>
              <a:lvl1pPr indent="0" defTabSz="912276" fontAlgn="base">
                <a:spcAft>
                  <a:spcPts val="1000"/>
                </a:spcAft>
                <a:buClr>
                  <a:schemeClr val="bg1"/>
                </a:buClr>
                <a:buSzPct val="100000"/>
                <a:buFont typeface="Arial" panose="020B0604020202020204" pitchFamily="34" charset="0"/>
                <a:buNone/>
                <a:defRPr sz="1100">
                  <a:solidFill>
                    <a:schemeClr val="bg1"/>
                  </a:solidFill>
                </a:defRPr>
              </a:lvl1pPr>
            </a:lstStyle>
            <a:p>
              <a:pPr algn="ctr"/>
              <a:r>
                <a:rPr lang="en-US" sz="1600" dirty="0"/>
                <a:t>Marketing teams have defined FY27 reporting data elements. We need a way to capture those data elements for all activities now, while still moving toward Adobe North Star, automation and CTT decommissioning.</a:t>
              </a:r>
            </a:p>
          </p:txBody>
        </p:sp>
      </p:grpSp>
      <p:sp>
        <p:nvSpPr>
          <p:cNvPr id="27" name="TextBox 26">
            <a:extLst>
              <a:ext uri="{FF2B5EF4-FFF2-40B4-BE49-F238E27FC236}">
                <a16:creationId xmlns:a16="http://schemas.microsoft.com/office/drawing/2014/main" id="{4E91429F-93D1-C113-C934-A7959E885809}"/>
              </a:ext>
            </a:extLst>
          </p:cNvPr>
          <p:cNvSpPr txBox="1"/>
          <p:nvPr/>
        </p:nvSpPr>
        <p:spPr>
          <a:xfrm>
            <a:off x="3121670" y="882656"/>
            <a:ext cx="6094878" cy="338554"/>
          </a:xfrm>
          <a:prstGeom prst="rect">
            <a:avLst/>
          </a:prstGeom>
          <a:noFill/>
        </p:spPr>
        <p:txBody>
          <a:bodyPr wrap="square" lIns="0" tIns="0" rIns="0" bIns="0" rtlCol="0">
            <a:noAutofit/>
          </a:bodyPr>
          <a:lstStyle>
            <a:defPPr>
              <a:defRPr lang="en-US"/>
            </a:defPPr>
            <a:lvl1pPr defTabSz="912276" fontAlgn="base">
              <a:lnSpc>
                <a:spcPct val="100000"/>
              </a:lnSpc>
              <a:spcBef>
                <a:spcPts val="0"/>
              </a:spcBef>
              <a:spcAft>
                <a:spcPts val="1000"/>
              </a:spcAft>
              <a:buClr>
                <a:schemeClr val="bg1"/>
              </a:buClr>
              <a:buSzPct val="100000"/>
              <a:defRPr sz="1600">
                <a:solidFill>
                  <a:schemeClr val="accent2"/>
                </a:solidFill>
                <a:ea typeface="ＭＳ Ｐゴシック" charset="0"/>
              </a:defRPr>
            </a:lvl1pPr>
          </a:lstStyle>
          <a:p>
            <a:pPr algn="ctr"/>
            <a:r>
              <a:rPr lang="en-US" dirty="0"/>
              <a:t>Marketing measurement is at risk during the transition</a:t>
            </a:r>
            <a:endParaRPr lang="en-GB" dirty="0"/>
          </a:p>
        </p:txBody>
      </p:sp>
    </p:spTree>
    <p:extLst>
      <p:ext uri="{BB962C8B-B14F-4D97-AF65-F5344CB8AC3E}">
        <p14:creationId xmlns:p14="http://schemas.microsoft.com/office/powerpoint/2010/main" val="2247394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616BA-1CE8-91F2-ED11-5E8B1F4CC6E0}"/>
              </a:ext>
            </a:extLst>
          </p:cNvPr>
          <p:cNvSpPr>
            <a:spLocks noGrp="1"/>
          </p:cNvSpPr>
          <p:nvPr>
            <p:ph type="title"/>
          </p:nvPr>
        </p:nvSpPr>
        <p:spPr/>
        <p:txBody>
          <a:bodyPr/>
          <a:lstStyle/>
          <a:p>
            <a:r>
              <a:rPr lang="en-US" dirty="0"/>
              <a:t>The Overview</a:t>
            </a:r>
            <a:endParaRPr lang="en-GB" dirty="0"/>
          </a:p>
        </p:txBody>
      </p:sp>
      <p:sp>
        <p:nvSpPr>
          <p:cNvPr id="5" name="Rectangle: Rounded Corners 4">
            <a:extLst>
              <a:ext uri="{FF2B5EF4-FFF2-40B4-BE49-F238E27FC236}">
                <a16:creationId xmlns:a16="http://schemas.microsoft.com/office/drawing/2014/main" id="{D412D44E-3BB3-8DEE-C65D-378E89EDFA8E}"/>
              </a:ext>
            </a:extLst>
          </p:cNvPr>
          <p:cNvSpPr/>
          <p:nvPr/>
        </p:nvSpPr>
        <p:spPr>
          <a:xfrm>
            <a:off x="719536" y="1653362"/>
            <a:ext cx="3392056" cy="4023360"/>
          </a:xfrm>
          <a:prstGeom prst="roundRect">
            <a:avLst>
              <a:gd name="adj" fmla="val 9753"/>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6" name="Straight Connector 5">
            <a:extLst>
              <a:ext uri="{FF2B5EF4-FFF2-40B4-BE49-F238E27FC236}">
                <a16:creationId xmlns:a16="http://schemas.microsoft.com/office/drawing/2014/main" id="{C9ACCD2D-A35C-3B9D-9453-DDDF62F2F861}"/>
              </a:ext>
            </a:extLst>
          </p:cNvPr>
          <p:cNvCxnSpPr>
            <a:cxnSpLocks/>
          </p:cNvCxnSpPr>
          <p:nvPr/>
        </p:nvCxnSpPr>
        <p:spPr>
          <a:xfrm>
            <a:off x="719352" y="2322057"/>
            <a:ext cx="339242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7" name="TextBox 6">
            <a:extLst>
              <a:ext uri="{FF2B5EF4-FFF2-40B4-BE49-F238E27FC236}">
                <a16:creationId xmlns:a16="http://schemas.microsoft.com/office/drawing/2014/main" id="{4E171BC8-67BB-D5A2-A2E7-28B11783D4D4}"/>
              </a:ext>
            </a:extLst>
          </p:cNvPr>
          <p:cNvSpPr txBox="1"/>
          <p:nvPr/>
        </p:nvSpPr>
        <p:spPr>
          <a:xfrm>
            <a:off x="1320189" y="1733438"/>
            <a:ext cx="2190750" cy="501484"/>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kern="1200" dirty="0">
                <a:solidFill>
                  <a:schemeClr val="bg1"/>
                </a:solidFill>
                <a:latin typeface="+mn-lt"/>
                <a:ea typeface="ＭＳ Ｐゴシック" charset="0"/>
              </a:rPr>
              <a:t>Recommendation</a:t>
            </a:r>
            <a:endParaRPr lang="en-GB" kern="1200" dirty="0" err="1">
              <a:solidFill>
                <a:schemeClr val="bg1"/>
              </a:solidFill>
              <a:latin typeface="+mn-lt"/>
              <a:ea typeface="ＭＳ Ｐゴシック" charset="0"/>
            </a:endParaRPr>
          </a:p>
        </p:txBody>
      </p:sp>
      <p:sp>
        <p:nvSpPr>
          <p:cNvPr id="8" name="TextBox 7">
            <a:extLst>
              <a:ext uri="{FF2B5EF4-FFF2-40B4-BE49-F238E27FC236}">
                <a16:creationId xmlns:a16="http://schemas.microsoft.com/office/drawing/2014/main" id="{1525E362-0D98-4C79-CEC9-7D5E84BAC26B}"/>
              </a:ext>
            </a:extLst>
          </p:cNvPr>
          <p:cNvSpPr txBox="1"/>
          <p:nvPr/>
        </p:nvSpPr>
        <p:spPr>
          <a:xfrm>
            <a:off x="846848" y="2496600"/>
            <a:ext cx="3137433" cy="2468131"/>
          </a:xfrm>
          <a:prstGeom prst="rect">
            <a:avLst/>
          </a:prstGeom>
          <a:noFill/>
        </p:spPr>
        <p:txBody>
          <a:bodyPr wrap="square" lIns="0" tIns="0" rIns="0" bIns="0" rtlCol="0">
            <a:noAutofit/>
          </a:bodyPr>
          <a:lstStyle>
            <a:defPPr>
              <a:defRPr lang="en-US"/>
            </a:defPPr>
            <a:lvl1pPr marL="182880" indent="-182880" defTabSz="912276" fontAlgn="base">
              <a:lnSpc>
                <a:spcPct val="100000"/>
              </a:lnSpc>
              <a:spcBef>
                <a:spcPts val="0"/>
              </a:spcBef>
              <a:spcAft>
                <a:spcPts val="1000"/>
              </a:spcAft>
              <a:buClr>
                <a:schemeClr val="bg1"/>
              </a:buClr>
              <a:buSzPct val="100000"/>
              <a:buFont typeface="Arial" panose="020B0604020202020204" pitchFamily="34" charset="0"/>
              <a:buChar char="•"/>
              <a:defRPr sz="1600">
                <a:solidFill>
                  <a:schemeClr val="bg1"/>
                </a:solidFill>
                <a:ea typeface="ＭＳ Ｐゴシック" charset="0"/>
              </a:defRPr>
            </a:lvl1pPr>
          </a:lstStyle>
          <a:p>
            <a:r>
              <a:rPr lang="en-US" dirty="0"/>
              <a:t>Approve a focused POC that integrates Workfront with CTT</a:t>
            </a:r>
          </a:p>
          <a:p>
            <a:r>
              <a:rPr lang="en-US" dirty="0"/>
              <a:t>Use CTT Temporarily as a compatibility layer while Workfront adoption expands</a:t>
            </a:r>
          </a:p>
          <a:p>
            <a:r>
              <a:rPr lang="en-US" dirty="0"/>
              <a:t>Automatically create Activity IDs and Offer IDs for selected Workfront activations and write them back to Workfront.</a:t>
            </a:r>
          </a:p>
        </p:txBody>
      </p:sp>
      <p:sp>
        <p:nvSpPr>
          <p:cNvPr id="10" name="Rectangle: Rounded Corners 9">
            <a:extLst>
              <a:ext uri="{FF2B5EF4-FFF2-40B4-BE49-F238E27FC236}">
                <a16:creationId xmlns:a16="http://schemas.microsoft.com/office/drawing/2014/main" id="{852EFF80-3430-30B4-C2CB-4A958077C66B}"/>
              </a:ext>
            </a:extLst>
          </p:cNvPr>
          <p:cNvSpPr/>
          <p:nvPr/>
        </p:nvSpPr>
        <p:spPr>
          <a:xfrm>
            <a:off x="4351920" y="1653362"/>
            <a:ext cx="3392056" cy="4023360"/>
          </a:xfrm>
          <a:prstGeom prst="roundRect">
            <a:avLst>
              <a:gd name="adj" fmla="val 9753"/>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1" name="Straight Connector 10">
            <a:extLst>
              <a:ext uri="{FF2B5EF4-FFF2-40B4-BE49-F238E27FC236}">
                <a16:creationId xmlns:a16="http://schemas.microsoft.com/office/drawing/2014/main" id="{55E8D867-1895-9671-2479-66C59B833BB3}"/>
              </a:ext>
            </a:extLst>
          </p:cNvPr>
          <p:cNvCxnSpPr>
            <a:cxnSpLocks/>
          </p:cNvCxnSpPr>
          <p:nvPr/>
        </p:nvCxnSpPr>
        <p:spPr>
          <a:xfrm>
            <a:off x="4351736" y="2322057"/>
            <a:ext cx="339242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2" name="TextBox 11">
            <a:extLst>
              <a:ext uri="{FF2B5EF4-FFF2-40B4-BE49-F238E27FC236}">
                <a16:creationId xmlns:a16="http://schemas.microsoft.com/office/drawing/2014/main" id="{C9BAD82E-5BE0-953E-3956-99972B45B795}"/>
              </a:ext>
            </a:extLst>
          </p:cNvPr>
          <p:cNvSpPr txBox="1"/>
          <p:nvPr/>
        </p:nvSpPr>
        <p:spPr>
          <a:xfrm>
            <a:off x="4952573" y="1733438"/>
            <a:ext cx="2190750" cy="501484"/>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kern="1200" dirty="0">
                <a:solidFill>
                  <a:schemeClr val="bg1"/>
                </a:solidFill>
                <a:latin typeface="+mn-lt"/>
                <a:ea typeface="ＭＳ Ｐゴシック" charset="0"/>
              </a:rPr>
              <a:t>Not a Detour</a:t>
            </a:r>
            <a:endParaRPr lang="en-GB" kern="1200" dirty="0" err="1">
              <a:solidFill>
                <a:schemeClr val="bg1"/>
              </a:solidFill>
              <a:latin typeface="+mn-lt"/>
              <a:ea typeface="ＭＳ Ｐゴシック" charset="0"/>
            </a:endParaRPr>
          </a:p>
        </p:txBody>
      </p:sp>
      <p:sp>
        <p:nvSpPr>
          <p:cNvPr id="13" name="TextBox 12">
            <a:extLst>
              <a:ext uri="{FF2B5EF4-FFF2-40B4-BE49-F238E27FC236}">
                <a16:creationId xmlns:a16="http://schemas.microsoft.com/office/drawing/2014/main" id="{05C0A85B-030B-2FC2-5269-B61B0DB27810}"/>
              </a:ext>
            </a:extLst>
          </p:cNvPr>
          <p:cNvSpPr txBox="1"/>
          <p:nvPr/>
        </p:nvSpPr>
        <p:spPr>
          <a:xfrm>
            <a:off x="4479232" y="2496600"/>
            <a:ext cx="3137433" cy="2637802"/>
          </a:xfrm>
          <a:prstGeom prst="rect">
            <a:avLst/>
          </a:prstGeom>
          <a:noFill/>
        </p:spPr>
        <p:txBody>
          <a:bodyPr wrap="square" lIns="0" tIns="0" rIns="0" bIns="0" rtlCol="0">
            <a:noAutofit/>
          </a:bodyPr>
          <a:lstStyle>
            <a:defPPr>
              <a:defRPr lang="en-US"/>
            </a:defPPr>
            <a:lvl1pPr marL="182880" indent="-182880" defTabSz="912276" fontAlgn="base">
              <a:lnSpc>
                <a:spcPct val="100000"/>
              </a:lnSpc>
              <a:spcBef>
                <a:spcPts val="0"/>
              </a:spcBef>
              <a:spcAft>
                <a:spcPts val="1000"/>
              </a:spcAft>
              <a:buClr>
                <a:schemeClr val="bg1"/>
              </a:buClr>
              <a:buSzPct val="100000"/>
              <a:buFont typeface="Arial" panose="020B0604020202020204" pitchFamily="34" charset="0"/>
              <a:buChar char="•"/>
              <a:defRPr sz="1600">
                <a:solidFill>
                  <a:schemeClr val="bg1"/>
                </a:solidFill>
                <a:ea typeface="ＭＳ Ｐゴシック" charset="0"/>
              </a:defRPr>
            </a:lvl1pPr>
          </a:lstStyle>
          <a:p>
            <a:r>
              <a:rPr lang="en-US" dirty="0"/>
              <a:t>Workfront, Adobe North Star and automation remain the end goal.</a:t>
            </a:r>
          </a:p>
          <a:p>
            <a:r>
              <a:rPr lang="en-US" dirty="0"/>
              <a:t>CTT is used only as a controlled compatibility layer during transition.</a:t>
            </a:r>
          </a:p>
          <a:p>
            <a:r>
              <a:rPr lang="en-US" dirty="0"/>
              <a:t>Gives evidence to plan the migration and decommission criteria</a:t>
            </a:r>
          </a:p>
        </p:txBody>
      </p:sp>
      <p:sp>
        <p:nvSpPr>
          <p:cNvPr id="15" name="Rectangle: Rounded Corners 14">
            <a:extLst>
              <a:ext uri="{FF2B5EF4-FFF2-40B4-BE49-F238E27FC236}">
                <a16:creationId xmlns:a16="http://schemas.microsoft.com/office/drawing/2014/main" id="{F1713933-C545-6D9A-54D7-327EB51624F6}"/>
              </a:ext>
            </a:extLst>
          </p:cNvPr>
          <p:cNvSpPr/>
          <p:nvPr/>
        </p:nvSpPr>
        <p:spPr>
          <a:xfrm>
            <a:off x="7984304" y="1653362"/>
            <a:ext cx="3392056" cy="4023360"/>
          </a:xfrm>
          <a:prstGeom prst="roundRect">
            <a:avLst>
              <a:gd name="adj" fmla="val 9753"/>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6" name="Straight Connector 15">
            <a:extLst>
              <a:ext uri="{FF2B5EF4-FFF2-40B4-BE49-F238E27FC236}">
                <a16:creationId xmlns:a16="http://schemas.microsoft.com/office/drawing/2014/main" id="{C961B682-C081-CFF9-9368-809627E6985D}"/>
              </a:ext>
            </a:extLst>
          </p:cNvPr>
          <p:cNvCxnSpPr>
            <a:cxnSpLocks/>
          </p:cNvCxnSpPr>
          <p:nvPr/>
        </p:nvCxnSpPr>
        <p:spPr>
          <a:xfrm>
            <a:off x="7984120" y="2322057"/>
            <a:ext cx="339242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7" name="TextBox 16">
            <a:extLst>
              <a:ext uri="{FF2B5EF4-FFF2-40B4-BE49-F238E27FC236}">
                <a16:creationId xmlns:a16="http://schemas.microsoft.com/office/drawing/2014/main" id="{64D13BB7-67EC-FC9E-4D82-ACB4EB44C65E}"/>
              </a:ext>
            </a:extLst>
          </p:cNvPr>
          <p:cNvSpPr txBox="1"/>
          <p:nvPr/>
        </p:nvSpPr>
        <p:spPr>
          <a:xfrm>
            <a:off x="8584957" y="1733438"/>
            <a:ext cx="2190750" cy="501484"/>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kern="1200" dirty="0">
                <a:solidFill>
                  <a:schemeClr val="bg1"/>
                </a:solidFill>
                <a:latin typeface="+mn-lt"/>
                <a:ea typeface="ＭＳ Ｐゴシック" charset="0"/>
              </a:rPr>
              <a:t>Business Benefit</a:t>
            </a:r>
            <a:endParaRPr lang="en-GB" kern="1200" dirty="0" err="1">
              <a:solidFill>
                <a:schemeClr val="bg1"/>
              </a:solidFill>
              <a:latin typeface="+mn-lt"/>
              <a:ea typeface="ＭＳ Ｐゴシック" charset="0"/>
            </a:endParaRPr>
          </a:p>
        </p:txBody>
      </p:sp>
      <p:sp>
        <p:nvSpPr>
          <p:cNvPr id="18" name="TextBox 17">
            <a:extLst>
              <a:ext uri="{FF2B5EF4-FFF2-40B4-BE49-F238E27FC236}">
                <a16:creationId xmlns:a16="http://schemas.microsoft.com/office/drawing/2014/main" id="{57E9A564-77F9-A66C-5C8B-D763AAC7DEDE}"/>
              </a:ext>
            </a:extLst>
          </p:cNvPr>
          <p:cNvSpPr txBox="1"/>
          <p:nvPr/>
        </p:nvSpPr>
        <p:spPr>
          <a:xfrm>
            <a:off x="8111616" y="2496599"/>
            <a:ext cx="3137433" cy="2703453"/>
          </a:xfrm>
          <a:prstGeom prst="rect">
            <a:avLst/>
          </a:prstGeom>
          <a:noFill/>
        </p:spPr>
        <p:txBody>
          <a:bodyPr wrap="square" lIns="0" tIns="0" rIns="0" bIns="0" rtlCol="0">
            <a:noAutofit/>
          </a:bodyPr>
          <a:lstStyle>
            <a:defPPr>
              <a:defRPr lang="en-US"/>
            </a:defPPr>
            <a:lvl1pPr marL="182880" indent="-182880" defTabSz="912276" fontAlgn="base">
              <a:lnSpc>
                <a:spcPct val="100000"/>
              </a:lnSpc>
              <a:spcBef>
                <a:spcPts val="0"/>
              </a:spcBef>
              <a:spcAft>
                <a:spcPts val="1000"/>
              </a:spcAft>
              <a:buClr>
                <a:schemeClr val="bg1"/>
              </a:buClr>
              <a:buSzPct val="100000"/>
              <a:buFont typeface="Arial" panose="020B0604020202020204" pitchFamily="34" charset="0"/>
              <a:buChar char="•"/>
              <a:defRPr sz="1400">
                <a:solidFill>
                  <a:schemeClr val="bg1"/>
                </a:solidFill>
                <a:ea typeface="ＭＳ Ｐゴシック" charset="0"/>
              </a:defRPr>
            </a:lvl1pPr>
          </a:lstStyle>
          <a:p>
            <a:r>
              <a:rPr lang="en-US" sz="1600" dirty="0"/>
              <a:t>Marketing can start measuring FY27 priorities across all activities sooner.</a:t>
            </a:r>
          </a:p>
          <a:p>
            <a:r>
              <a:rPr lang="en-US" sz="1600" dirty="0"/>
              <a:t>Reporting teams get a consistent data model for Workfront and non-Workfront activity.</a:t>
            </a:r>
          </a:p>
          <a:p>
            <a:r>
              <a:rPr lang="en-US" sz="1600" dirty="0"/>
              <a:t>SFDC / One Cisco CRM work is not interrupted by immediate marketing-tracking changes.</a:t>
            </a:r>
          </a:p>
          <a:p>
            <a:r>
              <a:rPr lang="en-US" sz="1600" dirty="0"/>
              <a:t>No impacts on OCC Resources</a:t>
            </a:r>
          </a:p>
        </p:txBody>
      </p:sp>
      <p:sp>
        <p:nvSpPr>
          <p:cNvPr id="19" name="TextBox 18">
            <a:extLst>
              <a:ext uri="{FF2B5EF4-FFF2-40B4-BE49-F238E27FC236}">
                <a16:creationId xmlns:a16="http://schemas.microsoft.com/office/drawing/2014/main" id="{B501BEAB-EF72-6470-8130-22A3911AB900}"/>
              </a:ext>
            </a:extLst>
          </p:cNvPr>
          <p:cNvSpPr txBox="1"/>
          <p:nvPr/>
        </p:nvSpPr>
        <p:spPr>
          <a:xfrm>
            <a:off x="1742515" y="921124"/>
            <a:ext cx="8706971" cy="492442"/>
          </a:xfrm>
          <a:prstGeom prst="rect">
            <a:avLst/>
          </a:prstGeom>
          <a:noFill/>
        </p:spPr>
        <p:txBody>
          <a:bodyPr wrap="square" lIns="0" tIns="0" rIns="0" bIns="0" rtlCol="0">
            <a:noAutofit/>
          </a:bodyPr>
          <a:lstStyle>
            <a:defPPr>
              <a:defRPr lang="en-US"/>
            </a:defPPr>
            <a:lvl1pPr defTabSz="912276" fontAlgn="base">
              <a:lnSpc>
                <a:spcPct val="100000"/>
              </a:lnSpc>
              <a:spcBef>
                <a:spcPts val="0"/>
              </a:spcBef>
              <a:spcAft>
                <a:spcPts val="1000"/>
              </a:spcAft>
              <a:buClr>
                <a:schemeClr val="bg1"/>
              </a:buClr>
              <a:buSzPct val="100000"/>
              <a:defRPr sz="1600">
                <a:solidFill>
                  <a:schemeClr val="accent2"/>
                </a:solidFill>
                <a:ea typeface="ＭＳ Ｐゴシック" charset="0"/>
              </a:defRPr>
            </a:lvl1pPr>
          </a:lstStyle>
          <a:p>
            <a:pPr algn="ctr"/>
            <a:r>
              <a:rPr lang="en-US" dirty="0"/>
              <a:t>Recommendation, guardrails and business benefit. The recommendation is an interim bridge, not a detour from the target architecture.</a:t>
            </a:r>
          </a:p>
          <a:p>
            <a:pPr algn="ctr"/>
            <a:endParaRPr lang="en-GB" dirty="0" err="1"/>
          </a:p>
        </p:txBody>
      </p:sp>
      <p:sp>
        <p:nvSpPr>
          <p:cNvPr id="20" name="TextBox 19">
            <a:extLst>
              <a:ext uri="{FF2B5EF4-FFF2-40B4-BE49-F238E27FC236}">
                <a16:creationId xmlns:a16="http://schemas.microsoft.com/office/drawing/2014/main" id="{92BE77F1-F4ED-18E0-42A5-EAEDBAE4189B}"/>
              </a:ext>
            </a:extLst>
          </p:cNvPr>
          <p:cNvSpPr txBox="1"/>
          <p:nvPr/>
        </p:nvSpPr>
        <p:spPr>
          <a:xfrm>
            <a:off x="952500" y="6044908"/>
            <a:ext cx="10287000" cy="529376"/>
          </a:xfrm>
          <a:prstGeom prst="rect">
            <a:avLst/>
          </a:prstGeom>
          <a:noFill/>
        </p:spPr>
        <p:txBody>
          <a:bodyPr wrap="square" lIns="0" tIns="0" rIns="0" bIns="0" rtlCol="0">
            <a:noAutofit/>
          </a:bodyPr>
          <a:lstStyle>
            <a:defPPr>
              <a:defRPr lang="en-US"/>
            </a:defPPr>
            <a:lvl1pPr algn="ctr" defTabSz="912276" fontAlgn="base">
              <a:lnSpc>
                <a:spcPct val="100000"/>
              </a:lnSpc>
              <a:spcBef>
                <a:spcPts val="0"/>
              </a:spcBef>
              <a:spcAft>
                <a:spcPts val="1000"/>
              </a:spcAft>
              <a:buClr>
                <a:schemeClr val="bg1"/>
              </a:buClr>
              <a:buSzPct val="100000"/>
              <a:defRPr sz="1600">
                <a:solidFill>
                  <a:schemeClr val="accent2"/>
                </a:solidFill>
                <a:ea typeface="ＭＳ Ｐゴシック" charset="0"/>
              </a:defRPr>
            </a:lvl1pPr>
          </a:lstStyle>
          <a:p>
            <a:r>
              <a:rPr lang="en-US" i="1" dirty="0">
                <a:solidFill>
                  <a:schemeClr val="bg1"/>
                </a:solidFill>
              </a:rPr>
              <a:t>B</a:t>
            </a:r>
            <a:r>
              <a:rPr i="1" dirty="0">
                <a:solidFill>
                  <a:schemeClr val="bg1"/>
                </a:solidFill>
              </a:rPr>
              <a:t>ridge safely now, measure FY27 activity consistently, and keep moving toward Workfront + Adobe North Star.</a:t>
            </a:r>
          </a:p>
        </p:txBody>
      </p:sp>
      <p:sp>
        <p:nvSpPr>
          <p:cNvPr id="24" name="TextBox 23">
            <a:extLst>
              <a:ext uri="{FF2B5EF4-FFF2-40B4-BE49-F238E27FC236}">
                <a16:creationId xmlns:a16="http://schemas.microsoft.com/office/drawing/2014/main" id="{80EF1232-B6D7-2C19-7BAD-766FF0B1F809}"/>
              </a:ext>
            </a:extLst>
          </p:cNvPr>
          <p:cNvSpPr txBox="1"/>
          <p:nvPr/>
        </p:nvSpPr>
        <p:spPr>
          <a:xfrm>
            <a:off x="4554424" y="5727668"/>
            <a:ext cx="2397232" cy="317240"/>
          </a:xfrm>
          <a:prstGeom prst="rect">
            <a:avLst/>
          </a:prstGeom>
          <a:noFill/>
        </p:spPr>
        <p:txBody>
          <a:bodyPr wrap="square" lIns="0" tIns="0" rIns="0" bIns="0" rtlCol="0">
            <a:noAutofit/>
          </a:bodyPr>
          <a:lstStyle>
            <a:defPPr>
              <a:defRPr lang="en-US"/>
            </a:defPPr>
            <a:lvl1pPr algn="ctr" defTabSz="912276" fontAlgn="base">
              <a:lnSpc>
                <a:spcPct val="100000"/>
              </a:lnSpc>
              <a:spcBef>
                <a:spcPts val="0"/>
              </a:spcBef>
              <a:spcAft>
                <a:spcPts val="1000"/>
              </a:spcAft>
              <a:buClr>
                <a:schemeClr val="bg1"/>
              </a:buClr>
              <a:buSzPct val="100000"/>
              <a:defRPr sz="1600">
                <a:solidFill>
                  <a:schemeClr val="accent2"/>
                </a:solidFill>
                <a:ea typeface="ＭＳ Ｐゴシック" charset="0"/>
              </a:defRPr>
            </a:lvl1pPr>
          </a:lstStyle>
          <a:p>
            <a:r>
              <a:rPr b="1" i="1" dirty="0">
                <a:solidFill>
                  <a:schemeClr val="bg1"/>
                </a:solidFill>
              </a:rPr>
              <a:t>Simple message</a:t>
            </a:r>
          </a:p>
        </p:txBody>
      </p:sp>
    </p:spTree>
    <p:extLst>
      <p:ext uri="{BB962C8B-B14F-4D97-AF65-F5344CB8AC3E}">
        <p14:creationId xmlns:p14="http://schemas.microsoft.com/office/powerpoint/2010/main" val="881520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B339F-8736-8DBE-E0F9-2904D8C0DF57}"/>
              </a:ext>
            </a:extLst>
          </p:cNvPr>
          <p:cNvSpPr>
            <a:spLocks noGrp="1"/>
          </p:cNvSpPr>
          <p:nvPr>
            <p:ph type="title"/>
          </p:nvPr>
        </p:nvSpPr>
        <p:spPr/>
        <p:txBody>
          <a:bodyPr/>
          <a:lstStyle/>
          <a:p>
            <a:r>
              <a:rPr lang="en-US" dirty="0"/>
              <a:t>The Proposed Solution</a:t>
            </a:r>
            <a:endParaRPr lang="en-GB" dirty="0"/>
          </a:p>
        </p:txBody>
      </p:sp>
      <p:sp>
        <p:nvSpPr>
          <p:cNvPr id="33" name="TextBox 32">
            <a:extLst>
              <a:ext uri="{FF2B5EF4-FFF2-40B4-BE49-F238E27FC236}">
                <a16:creationId xmlns:a16="http://schemas.microsoft.com/office/drawing/2014/main" id="{CD54B3E6-3164-3972-C822-30B780E8D722}"/>
              </a:ext>
            </a:extLst>
          </p:cNvPr>
          <p:cNvSpPr txBox="1"/>
          <p:nvPr/>
        </p:nvSpPr>
        <p:spPr>
          <a:xfrm>
            <a:off x="946861" y="5611584"/>
            <a:ext cx="10332720" cy="292608"/>
          </a:xfrm>
          <a:prstGeom prst="rect">
            <a:avLst/>
          </a:prstGeom>
          <a:noFill/>
        </p:spPr>
        <p:txBody>
          <a:bodyPr wrap="square" lIns="0" tIns="0" rIns="0" bIns="0" rtlCol="0">
            <a:noAutofit/>
          </a:bodyPr>
          <a:lstStyle>
            <a:defPPr>
              <a:defRPr lang="en-US"/>
            </a:defPPr>
            <a:lvl1pPr algn="ctr" defTabSz="912276" fontAlgn="base">
              <a:lnSpc>
                <a:spcPct val="100000"/>
              </a:lnSpc>
              <a:spcBef>
                <a:spcPts val="0"/>
              </a:spcBef>
              <a:spcAft>
                <a:spcPts val="1000"/>
              </a:spcAft>
              <a:buClr>
                <a:schemeClr val="bg1"/>
              </a:buClr>
              <a:buSzPct val="100000"/>
              <a:defRPr sz="1600" b="1" i="1">
                <a:solidFill>
                  <a:schemeClr val="bg1"/>
                </a:solidFill>
                <a:ea typeface="ＭＳ Ｐゴシック" charset="0"/>
              </a:defRPr>
            </a:lvl1pPr>
          </a:lstStyle>
          <a:p>
            <a:r>
              <a:rPr dirty="0"/>
              <a:t>Tangible output</a:t>
            </a:r>
          </a:p>
        </p:txBody>
      </p:sp>
      <p:sp>
        <p:nvSpPr>
          <p:cNvPr id="34" name="TextBox 33">
            <a:extLst>
              <a:ext uri="{FF2B5EF4-FFF2-40B4-BE49-F238E27FC236}">
                <a16:creationId xmlns:a16="http://schemas.microsoft.com/office/drawing/2014/main" id="{27274E92-02DB-81B5-6A76-CD8D1DA878E1}"/>
              </a:ext>
            </a:extLst>
          </p:cNvPr>
          <p:cNvSpPr txBox="1"/>
          <p:nvPr/>
        </p:nvSpPr>
        <p:spPr>
          <a:xfrm>
            <a:off x="969721" y="5898201"/>
            <a:ext cx="10287000" cy="529376"/>
          </a:xfrm>
          <a:prstGeom prst="rect">
            <a:avLst/>
          </a:prstGeom>
          <a:noFill/>
        </p:spPr>
        <p:txBody>
          <a:bodyPr wrap="square" lIns="0" tIns="0" rIns="0" bIns="0" rtlCol="0">
            <a:noAutofit/>
          </a:bodyPr>
          <a:lstStyle>
            <a:defPPr>
              <a:defRPr lang="en-US"/>
            </a:defPPr>
            <a:lvl1pPr algn="ctr" defTabSz="912276" fontAlgn="base">
              <a:lnSpc>
                <a:spcPct val="100000"/>
              </a:lnSpc>
              <a:spcBef>
                <a:spcPts val="0"/>
              </a:spcBef>
              <a:spcAft>
                <a:spcPts val="1000"/>
              </a:spcAft>
              <a:buClr>
                <a:schemeClr val="bg1"/>
              </a:buClr>
              <a:buSzPct val="100000"/>
              <a:defRPr sz="1600" b="1" i="1">
                <a:solidFill>
                  <a:schemeClr val="bg1"/>
                </a:solidFill>
                <a:ea typeface="ＭＳ Ｐゴシック" charset="0"/>
              </a:defRPr>
            </a:lvl1pPr>
          </a:lstStyle>
          <a:p>
            <a:r>
              <a:rPr b="0" dirty="0"/>
              <a:t>A working pilot flow, a small validated dataset, a sample report, and a documented list of what must change before CTT can be decommissioned.</a:t>
            </a:r>
          </a:p>
        </p:txBody>
      </p:sp>
      <p:grpSp>
        <p:nvGrpSpPr>
          <p:cNvPr id="35" name="Group 34">
            <a:extLst>
              <a:ext uri="{FF2B5EF4-FFF2-40B4-BE49-F238E27FC236}">
                <a16:creationId xmlns:a16="http://schemas.microsoft.com/office/drawing/2014/main" id="{A75F79BD-F65D-FBC5-78AB-C66711DB50C3}"/>
              </a:ext>
            </a:extLst>
          </p:cNvPr>
          <p:cNvGrpSpPr/>
          <p:nvPr/>
        </p:nvGrpSpPr>
        <p:grpSpPr>
          <a:xfrm>
            <a:off x="1336407" y="3656126"/>
            <a:ext cx="2615184" cy="1778000"/>
            <a:chOff x="4700015" y="1797050"/>
            <a:chExt cx="2615184" cy="1778000"/>
          </a:xfrm>
        </p:grpSpPr>
        <p:sp>
          <p:nvSpPr>
            <p:cNvPr id="36" name="Rectangle: Rounded Corners 35">
              <a:extLst>
                <a:ext uri="{FF2B5EF4-FFF2-40B4-BE49-F238E27FC236}">
                  <a16:creationId xmlns:a16="http://schemas.microsoft.com/office/drawing/2014/main" id="{65A0FD33-F38A-E243-B3BC-FD5095A2D4D1}"/>
                </a:ext>
              </a:extLst>
            </p:cNvPr>
            <p:cNvSpPr/>
            <p:nvPr/>
          </p:nvSpPr>
          <p:spPr>
            <a:xfrm>
              <a:off x="4702048" y="1797050"/>
              <a:ext cx="2611119" cy="1778000"/>
            </a:xfrm>
            <a:prstGeom prst="roundRect">
              <a:avLst>
                <a:gd name="adj" fmla="val 10596"/>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37" name="Straight Connector 36">
              <a:extLst>
                <a:ext uri="{FF2B5EF4-FFF2-40B4-BE49-F238E27FC236}">
                  <a16:creationId xmlns:a16="http://schemas.microsoft.com/office/drawing/2014/main" id="{7827B69B-8A66-D6DA-DD85-FE0DAEDD7E81}"/>
                </a:ext>
              </a:extLst>
            </p:cNvPr>
            <p:cNvCxnSpPr>
              <a:cxnSpLocks/>
            </p:cNvCxnSpPr>
            <p:nvPr/>
          </p:nvCxnSpPr>
          <p:spPr>
            <a:xfrm>
              <a:off x="4700015" y="2249557"/>
              <a:ext cx="261518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38" name="TextBox 37">
              <a:extLst>
                <a:ext uri="{FF2B5EF4-FFF2-40B4-BE49-F238E27FC236}">
                  <a16:creationId xmlns:a16="http://schemas.microsoft.com/office/drawing/2014/main" id="{21E2ACF3-1F98-DC2B-402F-30E891F3FC27}"/>
                </a:ext>
              </a:extLst>
            </p:cNvPr>
            <p:cNvSpPr txBox="1"/>
            <p:nvPr/>
          </p:nvSpPr>
          <p:spPr>
            <a:xfrm>
              <a:off x="4924933" y="1875659"/>
              <a:ext cx="2165349" cy="295289"/>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Activity IDs</a:t>
              </a:r>
              <a:endParaRPr lang="en-GB" sz="1600" kern="1200" dirty="0" err="1">
                <a:solidFill>
                  <a:schemeClr val="bg1"/>
                </a:solidFill>
                <a:latin typeface="+mn-lt"/>
                <a:ea typeface="ＭＳ Ｐゴシック" charset="0"/>
              </a:endParaRPr>
            </a:p>
          </p:txBody>
        </p:sp>
        <p:sp>
          <p:nvSpPr>
            <p:cNvPr id="39" name="TextBox 38">
              <a:extLst>
                <a:ext uri="{FF2B5EF4-FFF2-40B4-BE49-F238E27FC236}">
                  <a16:creationId xmlns:a16="http://schemas.microsoft.com/office/drawing/2014/main" id="{B8D8F30B-E6B1-750F-4B69-E19C5817B181}"/>
                </a:ext>
              </a:extLst>
            </p:cNvPr>
            <p:cNvSpPr txBox="1"/>
            <p:nvPr/>
          </p:nvSpPr>
          <p:spPr>
            <a:xfrm>
              <a:off x="4810632" y="2298087"/>
              <a:ext cx="2393950" cy="1136650"/>
            </a:xfrm>
            <a:prstGeom prst="rect">
              <a:avLst/>
            </a:prstGeom>
            <a:noFill/>
          </p:spPr>
          <p:txBody>
            <a:bodyPr wrap="square" lIns="0" tIns="0" rIns="0" bIns="0" rtlCol="0" anchor="t">
              <a:noAutofit/>
            </a:bodyPr>
            <a:lstStyle>
              <a:defPPr>
                <a:defRPr lang="en-US"/>
              </a:defPPr>
              <a:lvl1pPr algn="ctr" defTabSz="912276" fontAlgn="base">
                <a:spcAft>
                  <a:spcPts val="1000"/>
                </a:spcAft>
                <a:buClr>
                  <a:schemeClr val="bg1"/>
                </a:buClr>
                <a:buSzPct val="100000"/>
                <a:defRPr sz="1100">
                  <a:solidFill>
                    <a:schemeClr val="bg1"/>
                  </a:solidFill>
                </a:defRPr>
              </a:lvl1pPr>
            </a:lstStyle>
            <a:p>
              <a:r>
                <a:rPr lang="en-US" sz="1400" dirty="0"/>
                <a:t>Automatically created for channel activations so driving initiatives can still be measured while Workfront adoption grows.</a:t>
              </a:r>
            </a:p>
          </p:txBody>
        </p:sp>
      </p:grpSp>
      <p:grpSp>
        <p:nvGrpSpPr>
          <p:cNvPr id="40" name="Group 39">
            <a:extLst>
              <a:ext uri="{FF2B5EF4-FFF2-40B4-BE49-F238E27FC236}">
                <a16:creationId xmlns:a16="http://schemas.microsoft.com/office/drawing/2014/main" id="{2E564DA0-3D1D-C1D1-F951-7A10AB246A59}"/>
              </a:ext>
            </a:extLst>
          </p:cNvPr>
          <p:cNvGrpSpPr/>
          <p:nvPr/>
        </p:nvGrpSpPr>
        <p:grpSpPr>
          <a:xfrm>
            <a:off x="4805652" y="3656126"/>
            <a:ext cx="2615184" cy="1778000"/>
            <a:chOff x="4700015" y="1797050"/>
            <a:chExt cx="2615184" cy="1778000"/>
          </a:xfrm>
        </p:grpSpPr>
        <p:sp>
          <p:nvSpPr>
            <p:cNvPr id="41" name="Rectangle: Rounded Corners 40">
              <a:extLst>
                <a:ext uri="{FF2B5EF4-FFF2-40B4-BE49-F238E27FC236}">
                  <a16:creationId xmlns:a16="http://schemas.microsoft.com/office/drawing/2014/main" id="{C228B1E2-A6C6-3F1F-20F2-B604FB42D210}"/>
                </a:ext>
              </a:extLst>
            </p:cNvPr>
            <p:cNvSpPr/>
            <p:nvPr/>
          </p:nvSpPr>
          <p:spPr>
            <a:xfrm>
              <a:off x="4702048" y="1797050"/>
              <a:ext cx="2611119" cy="1778000"/>
            </a:xfrm>
            <a:prstGeom prst="roundRect">
              <a:avLst>
                <a:gd name="adj" fmla="val 10596"/>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42" name="Straight Connector 41">
              <a:extLst>
                <a:ext uri="{FF2B5EF4-FFF2-40B4-BE49-F238E27FC236}">
                  <a16:creationId xmlns:a16="http://schemas.microsoft.com/office/drawing/2014/main" id="{AC09708A-DD6E-1526-7C02-884606B3B4CD}"/>
                </a:ext>
              </a:extLst>
            </p:cNvPr>
            <p:cNvCxnSpPr>
              <a:cxnSpLocks/>
            </p:cNvCxnSpPr>
            <p:nvPr/>
          </p:nvCxnSpPr>
          <p:spPr>
            <a:xfrm>
              <a:off x="4700015" y="2249557"/>
              <a:ext cx="261518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43" name="TextBox 42">
              <a:extLst>
                <a:ext uri="{FF2B5EF4-FFF2-40B4-BE49-F238E27FC236}">
                  <a16:creationId xmlns:a16="http://schemas.microsoft.com/office/drawing/2014/main" id="{501F7FB1-2F8B-409F-D4C6-8ACCFCE01290}"/>
                </a:ext>
              </a:extLst>
            </p:cNvPr>
            <p:cNvSpPr txBox="1"/>
            <p:nvPr/>
          </p:nvSpPr>
          <p:spPr>
            <a:xfrm>
              <a:off x="4924933" y="1875659"/>
              <a:ext cx="2165349" cy="295289"/>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Offer IDs</a:t>
              </a:r>
              <a:endParaRPr lang="en-GB" sz="1600" kern="1200" dirty="0" err="1">
                <a:solidFill>
                  <a:schemeClr val="bg1"/>
                </a:solidFill>
                <a:latin typeface="+mn-lt"/>
                <a:ea typeface="ＭＳ Ｐゴシック" charset="0"/>
              </a:endParaRPr>
            </a:p>
          </p:txBody>
        </p:sp>
        <p:sp>
          <p:nvSpPr>
            <p:cNvPr id="44" name="TextBox 43">
              <a:extLst>
                <a:ext uri="{FF2B5EF4-FFF2-40B4-BE49-F238E27FC236}">
                  <a16:creationId xmlns:a16="http://schemas.microsoft.com/office/drawing/2014/main" id="{AF637DA1-4612-18D1-269E-8DC429CC4D40}"/>
                </a:ext>
              </a:extLst>
            </p:cNvPr>
            <p:cNvSpPr txBox="1"/>
            <p:nvPr/>
          </p:nvSpPr>
          <p:spPr>
            <a:xfrm>
              <a:off x="4810632" y="2298087"/>
              <a:ext cx="2393950" cy="1136650"/>
            </a:xfrm>
            <a:prstGeom prst="rect">
              <a:avLst/>
            </a:prstGeom>
            <a:noFill/>
          </p:spPr>
          <p:txBody>
            <a:bodyPr wrap="square" lIns="0" tIns="0" rIns="0" bIns="0" rtlCol="0" anchor="t">
              <a:noAutofit/>
            </a:bodyPr>
            <a:lstStyle>
              <a:defPPr>
                <a:defRPr lang="en-US"/>
              </a:defPPr>
              <a:lvl1pPr algn="ctr" defTabSz="912276" fontAlgn="base">
                <a:spcAft>
                  <a:spcPts val="1000"/>
                </a:spcAft>
                <a:buClr>
                  <a:schemeClr val="bg1"/>
                </a:buClr>
                <a:buSzPct val="100000"/>
                <a:defRPr sz="1400">
                  <a:solidFill>
                    <a:schemeClr val="bg1"/>
                  </a:solidFill>
                </a:defRPr>
              </a:lvl1pPr>
            </a:lstStyle>
            <a:p>
              <a:r>
                <a:rPr lang="en-US" dirty="0"/>
                <a:t>Automatically created for content activations so consumed offers remain traceable across forms, leads and reporting.</a:t>
              </a:r>
            </a:p>
          </p:txBody>
        </p:sp>
      </p:grpSp>
      <p:grpSp>
        <p:nvGrpSpPr>
          <p:cNvPr id="45" name="Group 44">
            <a:extLst>
              <a:ext uri="{FF2B5EF4-FFF2-40B4-BE49-F238E27FC236}">
                <a16:creationId xmlns:a16="http://schemas.microsoft.com/office/drawing/2014/main" id="{E8DE3714-635C-B11C-9725-59097535E4B5}"/>
              </a:ext>
            </a:extLst>
          </p:cNvPr>
          <p:cNvGrpSpPr/>
          <p:nvPr/>
        </p:nvGrpSpPr>
        <p:grpSpPr>
          <a:xfrm>
            <a:off x="8274897" y="3656126"/>
            <a:ext cx="2615184" cy="1778000"/>
            <a:chOff x="4700015" y="1797050"/>
            <a:chExt cx="2615184" cy="1778000"/>
          </a:xfrm>
        </p:grpSpPr>
        <p:sp>
          <p:nvSpPr>
            <p:cNvPr id="46" name="Rectangle: Rounded Corners 45">
              <a:extLst>
                <a:ext uri="{FF2B5EF4-FFF2-40B4-BE49-F238E27FC236}">
                  <a16:creationId xmlns:a16="http://schemas.microsoft.com/office/drawing/2014/main" id="{F7A838BB-2B6C-430F-BFE4-472F16DC20F7}"/>
                </a:ext>
              </a:extLst>
            </p:cNvPr>
            <p:cNvSpPr/>
            <p:nvPr/>
          </p:nvSpPr>
          <p:spPr>
            <a:xfrm>
              <a:off x="4702048" y="1797050"/>
              <a:ext cx="2611119" cy="1778000"/>
            </a:xfrm>
            <a:prstGeom prst="roundRect">
              <a:avLst>
                <a:gd name="adj" fmla="val 10596"/>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47" name="Straight Connector 46">
              <a:extLst>
                <a:ext uri="{FF2B5EF4-FFF2-40B4-BE49-F238E27FC236}">
                  <a16:creationId xmlns:a16="http://schemas.microsoft.com/office/drawing/2014/main" id="{E9A0C13A-54DD-24FA-371D-E9FA3543C596}"/>
                </a:ext>
              </a:extLst>
            </p:cNvPr>
            <p:cNvCxnSpPr>
              <a:cxnSpLocks/>
            </p:cNvCxnSpPr>
            <p:nvPr/>
          </p:nvCxnSpPr>
          <p:spPr>
            <a:xfrm>
              <a:off x="4700015" y="2249557"/>
              <a:ext cx="261518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48" name="TextBox 47">
              <a:extLst>
                <a:ext uri="{FF2B5EF4-FFF2-40B4-BE49-F238E27FC236}">
                  <a16:creationId xmlns:a16="http://schemas.microsoft.com/office/drawing/2014/main" id="{6FAF4E2C-57E7-ECB6-A195-880545E39DFA}"/>
                </a:ext>
              </a:extLst>
            </p:cNvPr>
            <p:cNvSpPr txBox="1"/>
            <p:nvPr/>
          </p:nvSpPr>
          <p:spPr>
            <a:xfrm>
              <a:off x="4924933" y="1875659"/>
              <a:ext cx="2165349" cy="295289"/>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Shared Attributes</a:t>
              </a:r>
              <a:endParaRPr lang="en-GB" sz="1600" kern="1200" dirty="0" err="1">
                <a:solidFill>
                  <a:schemeClr val="bg1"/>
                </a:solidFill>
                <a:latin typeface="+mn-lt"/>
                <a:ea typeface="ＭＳ Ｐゴシック" charset="0"/>
              </a:endParaRPr>
            </a:p>
          </p:txBody>
        </p:sp>
        <p:sp>
          <p:nvSpPr>
            <p:cNvPr id="49" name="TextBox 48">
              <a:extLst>
                <a:ext uri="{FF2B5EF4-FFF2-40B4-BE49-F238E27FC236}">
                  <a16:creationId xmlns:a16="http://schemas.microsoft.com/office/drawing/2014/main" id="{8B4873F6-4B86-7C52-04E1-B897269866C3}"/>
                </a:ext>
              </a:extLst>
            </p:cNvPr>
            <p:cNvSpPr txBox="1"/>
            <p:nvPr/>
          </p:nvSpPr>
          <p:spPr>
            <a:xfrm>
              <a:off x="4810632" y="2298087"/>
              <a:ext cx="2393950" cy="1136650"/>
            </a:xfrm>
            <a:prstGeom prst="rect">
              <a:avLst/>
            </a:prstGeom>
            <a:noFill/>
          </p:spPr>
          <p:txBody>
            <a:bodyPr wrap="square" lIns="0" tIns="0" rIns="0" bIns="0" rtlCol="0" anchor="t">
              <a:noAutofit/>
            </a:bodyPr>
            <a:lstStyle>
              <a:defPPr>
                <a:defRPr lang="en-US"/>
              </a:defPPr>
              <a:lvl1pPr algn="ctr" defTabSz="912276" fontAlgn="base">
                <a:spcAft>
                  <a:spcPts val="1000"/>
                </a:spcAft>
                <a:buClr>
                  <a:schemeClr val="bg1"/>
                </a:buClr>
                <a:buSzPct val="100000"/>
                <a:defRPr sz="1400">
                  <a:solidFill>
                    <a:schemeClr val="bg1"/>
                  </a:solidFill>
                </a:defRPr>
              </a:lvl1pPr>
            </a:lstStyle>
            <a:p>
              <a:r>
                <a:rPr lang="en-US" dirty="0"/>
                <a:t>Business priority, stakeholder unit, campaign/program context and Task ID/UTM attributes can be captured consistently.</a:t>
              </a:r>
            </a:p>
            <a:p>
              <a:endParaRPr lang="en-US" dirty="0"/>
            </a:p>
          </p:txBody>
        </p:sp>
      </p:grpSp>
      <p:grpSp>
        <p:nvGrpSpPr>
          <p:cNvPr id="50" name="Group 49">
            <a:extLst>
              <a:ext uri="{FF2B5EF4-FFF2-40B4-BE49-F238E27FC236}">
                <a16:creationId xmlns:a16="http://schemas.microsoft.com/office/drawing/2014/main" id="{333A48F5-2860-80C0-CAD1-175FEE2E84B8}"/>
              </a:ext>
            </a:extLst>
          </p:cNvPr>
          <p:cNvGrpSpPr/>
          <p:nvPr/>
        </p:nvGrpSpPr>
        <p:grpSpPr>
          <a:xfrm>
            <a:off x="1085123" y="1062835"/>
            <a:ext cx="10021754" cy="2323402"/>
            <a:chOff x="1085123" y="1768778"/>
            <a:chExt cx="10021754" cy="2323402"/>
          </a:xfrm>
        </p:grpSpPr>
        <p:sp>
          <p:nvSpPr>
            <p:cNvPr id="51" name="Freeform: Shape 50">
              <a:extLst>
                <a:ext uri="{FF2B5EF4-FFF2-40B4-BE49-F238E27FC236}">
                  <a16:creationId xmlns:a16="http://schemas.microsoft.com/office/drawing/2014/main" id="{D2FDBB5B-0B0D-299D-870F-226B870FCA42}"/>
                </a:ext>
              </a:extLst>
            </p:cNvPr>
            <p:cNvSpPr/>
            <p:nvPr/>
          </p:nvSpPr>
          <p:spPr>
            <a:xfrm>
              <a:off x="1085123" y="1768778"/>
              <a:ext cx="2178642" cy="1177621"/>
            </a:xfrm>
            <a:custGeom>
              <a:avLst/>
              <a:gdLst>
                <a:gd name="csX0" fmla="*/ 0 w 2178642"/>
                <a:gd name="csY0" fmla="*/ 0 h 871456"/>
                <a:gd name="csX1" fmla="*/ 1742914 w 2178642"/>
                <a:gd name="csY1" fmla="*/ 0 h 871456"/>
                <a:gd name="csX2" fmla="*/ 2178642 w 2178642"/>
                <a:gd name="csY2" fmla="*/ 435728 h 871456"/>
                <a:gd name="csX3" fmla="*/ 1742914 w 2178642"/>
                <a:gd name="csY3" fmla="*/ 871456 h 871456"/>
                <a:gd name="csX4" fmla="*/ 0 w 2178642"/>
                <a:gd name="csY4" fmla="*/ 871456 h 871456"/>
                <a:gd name="csX5" fmla="*/ 435728 w 2178642"/>
                <a:gd name="csY5" fmla="*/ 435728 h 871456"/>
                <a:gd name="csX6" fmla="*/ 0 w 2178642"/>
                <a:gd name="csY6" fmla="*/ 0 h 87145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8642" h="871456">
                  <a:moveTo>
                    <a:pt x="0" y="0"/>
                  </a:moveTo>
                  <a:lnTo>
                    <a:pt x="1742914" y="0"/>
                  </a:lnTo>
                  <a:lnTo>
                    <a:pt x="2178642" y="435728"/>
                  </a:lnTo>
                  <a:lnTo>
                    <a:pt x="1742914" y="871456"/>
                  </a:lnTo>
                  <a:lnTo>
                    <a:pt x="0" y="871456"/>
                  </a:lnTo>
                  <a:lnTo>
                    <a:pt x="435728" y="435728"/>
                  </a:lnTo>
                  <a:lnTo>
                    <a:pt x="0" y="0"/>
                  </a:lnTo>
                  <a:close/>
                </a:path>
              </a:pathLst>
            </a:custGeom>
            <a:noFill/>
            <a:ln>
              <a:gradFill>
                <a:gsLst>
                  <a:gs pos="0">
                    <a:srgbClr val="0A60FF"/>
                  </a:gs>
                  <a:gs pos="95000">
                    <a:srgbClr val="02C8FF"/>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09559" fontAlgn="base">
                <a:spcBef>
                  <a:spcPct val="0"/>
                </a:spcBef>
                <a:spcAft>
                  <a:spcPct val="0"/>
                </a:spcAft>
              </a:pPr>
              <a:r>
                <a:rPr lang="en-US" sz="1700" dirty="0">
                  <a:solidFill>
                    <a:schemeClr val="bg1"/>
                  </a:solidFill>
                </a:rPr>
                <a:t>Select Pilot </a:t>
              </a:r>
            </a:p>
            <a:p>
              <a:pPr algn="ctr" defTabSz="609559" fontAlgn="base">
                <a:spcBef>
                  <a:spcPct val="0"/>
                </a:spcBef>
                <a:spcAft>
                  <a:spcPct val="0"/>
                </a:spcAft>
              </a:pPr>
              <a:r>
                <a:rPr lang="en-US" sz="1700" dirty="0">
                  <a:solidFill>
                    <a:schemeClr val="bg1"/>
                  </a:solidFill>
                </a:rPr>
                <a:t>Activity</a:t>
              </a:r>
              <a:endParaRPr lang="en-GB" sz="1700" dirty="0">
                <a:solidFill>
                  <a:schemeClr val="bg1"/>
                </a:solidFill>
              </a:endParaRPr>
            </a:p>
          </p:txBody>
        </p:sp>
        <p:sp>
          <p:nvSpPr>
            <p:cNvPr id="52" name="Freeform: Shape 51">
              <a:extLst>
                <a:ext uri="{FF2B5EF4-FFF2-40B4-BE49-F238E27FC236}">
                  <a16:creationId xmlns:a16="http://schemas.microsoft.com/office/drawing/2014/main" id="{55A50467-9359-B422-9AFC-F7CA927B8AEB}"/>
                </a:ext>
              </a:extLst>
            </p:cNvPr>
            <p:cNvSpPr/>
            <p:nvPr/>
          </p:nvSpPr>
          <p:spPr>
            <a:xfrm>
              <a:off x="3045901" y="1768778"/>
              <a:ext cx="2178642" cy="1177621"/>
            </a:xfrm>
            <a:custGeom>
              <a:avLst/>
              <a:gdLst>
                <a:gd name="csX0" fmla="*/ 0 w 2178642"/>
                <a:gd name="csY0" fmla="*/ 0 h 871456"/>
                <a:gd name="csX1" fmla="*/ 1742914 w 2178642"/>
                <a:gd name="csY1" fmla="*/ 0 h 871456"/>
                <a:gd name="csX2" fmla="*/ 2178642 w 2178642"/>
                <a:gd name="csY2" fmla="*/ 435728 h 871456"/>
                <a:gd name="csX3" fmla="*/ 1742914 w 2178642"/>
                <a:gd name="csY3" fmla="*/ 871456 h 871456"/>
                <a:gd name="csX4" fmla="*/ 0 w 2178642"/>
                <a:gd name="csY4" fmla="*/ 871456 h 871456"/>
                <a:gd name="csX5" fmla="*/ 435728 w 2178642"/>
                <a:gd name="csY5" fmla="*/ 435728 h 871456"/>
                <a:gd name="csX6" fmla="*/ 0 w 2178642"/>
                <a:gd name="csY6" fmla="*/ 0 h 87145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8642" h="871456">
                  <a:moveTo>
                    <a:pt x="0" y="0"/>
                  </a:moveTo>
                  <a:lnTo>
                    <a:pt x="1742914" y="0"/>
                  </a:lnTo>
                  <a:lnTo>
                    <a:pt x="2178642" y="435728"/>
                  </a:lnTo>
                  <a:lnTo>
                    <a:pt x="1742914" y="871456"/>
                  </a:lnTo>
                  <a:lnTo>
                    <a:pt x="0" y="871456"/>
                  </a:lnTo>
                  <a:lnTo>
                    <a:pt x="435728" y="435728"/>
                  </a:lnTo>
                  <a:lnTo>
                    <a:pt x="0" y="0"/>
                  </a:lnTo>
                  <a:close/>
                </a:path>
              </a:pathLst>
            </a:custGeom>
            <a:noFill/>
            <a:ln>
              <a:gradFill>
                <a:gsLst>
                  <a:gs pos="0">
                    <a:srgbClr val="0A60FF"/>
                  </a:gs>
                  <a:gs pos="95000">
                    <a:srgbClr val="02C8FF"/>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09559" fontAlgn="base">
                <a:spcBef>
                  <a:spcPct val="0"/>
                </a:spcBef>
                <a:spcAft>
                  <a:spcPct val="0"/>
                </a:spcAft>
              </a:pPr>
              <a:r>
                <a:rPr lang="en-US" sz="1700" dirty="0">
                  <a:solidFill>
                    <a:schemeClr val="bg1"/>
                  </a:solidFill>
                </a:rPr>
                <a:t>Align FY27 </a:t>
              </a:r>
            </a:p>
            <a:p>
              <a:pPr algn="ctr" defTabSz="609559" fontAlgn="base">
                <a:spcBef>
                  <a:spcPct val="0"/>
                </a:spcBef>
                <a:spcAft>
                  <a:spcPct val="0"/>
                </a:spcAft>
              </a:pPr>
              <a:r>
                <a:rPr lang="en-US" sz="1700" dirty="0">
                  <a:solidFill>
                    <a:schemeClr val="bg1"/>
                  </a:solidFill>
                </a:rPr>
                <a:t>Data Elements</a:t>
              </a:r>
              <a:endParaRPr lang="en-GB" sz="1700" dirty="0">
                <a:solidFill>
                  <a:schemeClr val="bg1"/>
                </a:solidFill>
              </a:endParaRPr>
            </a:p>
          </p:txBody>
        </p:sp>
        <p:sp>
          <p:nvSpPr>
            <p:cNvPr id="53" name="Freeform: Shape 52">
              <a:extLst>
                <a:ext uri="{FF2B5EF4-FFF2-40B4-BE49-F238E27FC236}">
                  <a16:creationId xmlns:a16="http://schemas.microsoft.com/office/drawing/2014/main" id="{6DFF9071-7225-A724-6E49-954E4ABCD089}"/>
                </a:ext>
              </a:extLst>
            </p:cNvPr>
            <p:cNvSpPr/>
            <p:nvPr/>
          </p:nvSpPr>
          <p:spPr>
            <a:xfrm>
              <a:off x="5006679" y="1768778"/>
              <a:ext cx="2178642" cy="1177621"/>
            </a:xfrm>
            <a:custGeom>
              <a:avLst/>
              <a:gdLst>
                <a:gd name="csX0" fmla="*/ 0 w 2178642"/>
                <a:gd name="csY0" fmla="*/ 0 h 871456"/>
                <a:gd name="csX1" fmla="*/ 1742914 w 2178642"/>
                <a:gd name="csY1" fmla="*/ 0 h 871456"/>
                <a:gd name="csX2" fmla="*/ 2178642 w 2178642"/>
                <a:gd name="csY2" fmla="*/ 435728 h 871456"/>
                <a:gd name="csX3" fmla="*/ 1742914 w 2178642"/>
                <a:gd name="csY3" fmla="*/ 871456 h 871456"/>
                <a:gd name="csX4" fmla="*/ 0 w 2178642"/>
                <a:gd name="csY4" fmla="*/ 871456 h 871456"/>
                <a:gd name="csX5" fmla="*/ 435728 w 2178642"/>
                <a:gd name="csY5" fmla="*/ 435728 h 871456"/>
                <a:gd name="csX6" fmla="*/ 0 w 2178642"/>
                <a:gd name="csY6" fmla="*/ 0 h 87145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8642" h="871456">
                  <a:moveTo>
                    <a:pt x="0" y="0"/>
                  </a:moveTo>
                  <a:lnTo>
                    <a:pt x="1742914" y="0"/>
                  </a:lnTo>
                  <a:lnTo>
                    <a:pt x="2178642" y="435728"/>
                  </a:lnTo>
                  <a:lnTo>
                    <a:pt x="1742914" y="871456"/>
                  </a:lnTo>
                  <a:lnTo>
                    <a:pt x="0" y="871456"/>
                  </a:lnTo>
                  <a:lnTo>
                    <a:pt x="435728" y="435728"/>
                  </a:lnTo>
                  <a:lnTo>
                    <a:pt x="0" y="0"/>
                  </a:lnTo>
                  <a:close/>
                </a:path>
              </a:pathLst>
            </a:custGeom>
            <a:noFill/>
            <a:ln>
              <a:gradFill>
                <a:gsLst>
                  <a:gs pos="0">
                    <a:srgbClr val="0A60FF"/>
                  </a:gs>
                  <a:gs pos="95000">
                    <a:srgbClr val="02C8FF"/>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09559" fontAlgn="base">
                <a:spcBef>
                  <a:spcPct val="0"/>
                </a:spcBef>
                <a:spcAft>
                  <a:spcPct val="0"/>
                </a:spcAft>
              </a:pPr>
              <a:r>
                <a:rPr lang="en-US" sz="1700" dirty="0">
                  <a:solidFill>
                    <a:schemeClr val="bg1"/>
                  </a:solidFill>
                </a:rPr>
                <a:t>Configure CTT Bridge Fields</a:t>
              </a:r>
              <a:endParaRPr lang="en-GB" sz="1700" dirty="0">
                <a:solidFill>
                  <a:schemeClr val="bg1"/>
                </a:solidFill>
              </a:endParaRPr>
            </a:p>
          </p:txBody>
        </p:sp>
        <p:sp>
          <p:nvSpPr>
            <p:cNvPr id="54" name="Freeform: Shape 53">
              <a:extLst>
                <a:ext uri="{FF2B5EF4-FFF2-40B4-BE49-F238E27FC236}">
                  <a16:creationId xmlns:a16="http://schemas.microsoft.com/office/drawing/2014/main" id="{80EF0C5E-1C00-C675-551A-0D856DD8CFAA}"/>
                </a:ext>
              </a:extLst>
            </p:cNvPr>
            <p:cNvSpPr/>
            <p:nvPr/>
          </p:nvSpPr>
          <p:spPr>
            <a:xfrm>
              <a:off x="6967457" y="1768778"/>
              <a:ext cx="2178642" cy="1177621"/>
            </a:xfrm>
            <a:custGeom>
              <a:avLst/>
              <a:gdLst>
                <a:gd name="csX0" fmla="*/ 0 w 2178642"/>
                <a:gd name="csY0" fmla="*/ 0 h 871456"/>
                <a:gd name="csX1" fmla="*/ 1742914 w 2178642"/>
                <a:gd name="csY1" fmla="*/ 0 h 871456"/>
                <a:gd name="csX2" fmla="*/ 2178642 w 2178642"/>
                <a:gd name="csY2" fmla="*/ 435728 h 871456"/>
                <a:gd name="csX3" fmla="*/ 1742914 w 2178642"/>
                <a:gd name="csY3" fmla="*/ 871456 h 871456"/>
                <a:gd name="csX4" fmla="*/ 0 w 2178642"/>
                <a:gd name="csY4" fmla="*/ 871456 h 871456"/>
                <a:gd name="csX5" fmla="*/ 435728 w 2178642"/>
                <a:gd name="csY5" fmla="*/ 435728 h 871456"/>
                <a:gd name="csX6" fmla="*/ 0 w 2178642"/>
                <a:gd name="csY6" fmla="*/ 0 h 87145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8642" h="871456">
                  <a:moveTo>
                    <a:pt x="0" y="0"/>
                  </a:moveTo>
                  <a:lnTo>
                    <a:pt x="1742914" y="0"/>
                  </a:lnTo>
                  <a:lnTo>
                    <a:pt x="2178642" y="435728"/>
                  </a:lnTo>
                  <a:lnTo>
                    <a:pt x="1742914" y="871456"/>
                  </a:lnTo>
                  <a:lnTo>
                    <a:pt x="0" y="871456"/>
                  </a:lnTo>
                  <a:lnTo>
                    <a:pt x="435728" y="435728"/>
                  </a:lnTo>
                  <a:lnTo>
                    <a:pt x="0" y="0"/>
                  </a:lnTo>
                  <a:close/>
                </a:path>
              </a:pathLst>
            </a:custGeom>
            <a:noFill/>
            <a:ln>
              <a:gradFill>
                <a:gsLst>
                  <a:gs pos="0">
                    <a:srgbClr val="0A60FF"/>
                  </a:gs>
                  <a:gs pos="95000">
                    <a:srgbClr val="02C8FF"/>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09559" fontAlgn="base">
                <a:spcBef>
                  <a:spcPct val="0"/>
                </a:spcBef>
                <a:spcAft>
                  <a:spcPct val="0"/>
                </a:spcAft>
              </a:pPr>
              <a:r>
                <a:rPr lang="en-US" sz="1700" dirty="0">
                  <a:solidFill>
                    <a:schemeClr val="bg1"/>
                  </a:solidFill>
                </a:rPr>
                <a:t>Write-Back to Workfront</a:t>
              </a:r>
              <a:endParaRPr lang="en-GB" sz="1700" dirty="0">
                <a:solidFill>
                  <a:schemeClr val="bg1"/>
                </a:solidFill>
              </a:endParaRPr>
            </a:p>
          </p:txBody>
        </p:sp>
        <p:sp>
          <p:nvSpPr>
            <p:cNvPr id="55" name="Freeform: Shape 54">
              <a:extLst>
                <a:ext uri="{FF2B5EF4-FFF2-40B4-BE49-F238E27FC236}">
                  <a16:creationId xmlns:a16="http://schemas.microsoft.com/office/drawing/2014/main" id="{14B7C801-0658-6B33-34FC-5CE741EC93F5}"/>
                </a:ext>
              </a:extLst>
            </p:cNvPr>
            <p:cNvSpPr/>
            <p:nvPr/>
          </p:nvSpPr>
          <p:spPr>
            <a:xfrm>
              <a:off x="8928235" y="1768778"/>
              <a:ext cx="2178642" cy="1177621"/>
            </a:xfrm>
            <a:custGeom>
              <a:avLst/>
              <a:gdLst>
                <a:gd name="csX0" fmla="*/ 0 w 2178642"/>
                <a:gd name="csY0" fmla="*/ 0 h 871456"/>
                <a:gd name="csX1" fmla="*/ 1742914 w 2178642"/>
                <a:gd name="csY1" fmla="*/ 0 h 871456"/>
                <a:gd name="csX2" fmla="*/ 2178642 w 2178642"/>
                <a:gd name="csY2" fmla="*/ 435728 h 871456"/>
                <a:gd name="csX3" fmla="*/ 1742914 w 2178642"/>
                <a:gd name="csY3" fmla="*/ 871456 h 871456"/>
                <a:gd name="csX4" fmla="*/ 0 w 2178642"/>
                <a:gd name="csY4" fmla="*/ 871456 h 871456"/>
                <a:gd name="csX5" fmla="*/ 435728 w 2178642"/>
                <a:gd name="csY5" fmla="*/ 435728 h 871456"/>
                <a:gd name="csX6" fmla="*/ 0 w 2178642"/>
                <a:gd name="csY6" fmla="*/ 0 h 87145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8642" h="871456">
                  <a:moveTo>
                    <a:pt x="0" y="0"/>
                  </a:moveTo>
                  <a:lnTo>
                    <a:pt x="1742914" y="0"/>
                  </a:lnTo>
                  <a:lnTo>
                    <a:pt x="2178642" y="435728"/>
                  </a:lnTo>
                  <a:lnTo>
                    <a:pt x="1742914" y="871456"/>
                  </a:lnTo>
                  <a:lnTo>
                    <a:pt x="0" y="871456"/>
                  </a:lnTo>
                  <a:lnTo>
                    <a:pt x="435728" y="435728"/>
                  </a:lnTo>
                  <a:lnTo>
                    <a:pt x="0" y="0"/>
                  </a:lnTo>
                  <a:close/>
                </a:path>
              </a:pathLst>
            </a:custGeom>
            <a:noFill/>
            <a:ln>
              <a:gradFill>
                <a:gsLst>
                  <a:gs pos="0">
                    <a:srgbClr val="0A60FF"/>
                  </a:gs>
                  <a:gs pos="95000">
                    <a:srgbClr val="02C8FF"/>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09559" fontAlgn="base">
                <a:spcBef>
                  <a:spcPct val="0"/>
                </a:spcBef>
                <a:spcAft>
                  <a:spcPct val="0"/>
                </a:spcAft>
              </a:pPr>
              <a:r>
                <a:rPr lang="en-US" sz="1700" dirty="0">
                  <a:solidFill>
                    <a:schemeClr val="bg1"/>
                  </a:solidFill>
                </a:rPr>
                <a:t>Validate Data Output</a:t>
              </a:r>
              <a:endParaRPr lang="en-GB" sz="1700" dirty="0">
                <a:solidFill>
                  <a:schemeClr val="bg1"/>
                </a:solidFill>
              </a:endParaRPr>
            </a:p>
          </p:txBody>
        </p:sp>
        <p:sp>
          <p:nvSpPr>
            <p:cNvPr id="56" name="TextBox 55">
              <a:extLst>
                <a:ext uri="{FF2B5EF4-FFF2-40B4-BE49-F238E27FC236}">
                  <a16:creationId xmlns:a16="http://schemas.microsoft.com/office/drawing/2014/main" id="{0964F230-02DC-1A12-FE0E-17A2555C2370}"/>
                </a:ext>
              </a:extLst>
            </p:cNvPr>
            <p:cNvSpPr txBox="1"/>
            <p:nvPr/>
          </p:nvSpPr>
          <p:spPr>
            <a:xfrm>
              <a:off x="1206704" y="3054350"/>
              <a:ext cx="1554480" cy="884448"/>
            </a:xfrm>
            <a:prstGeom prst="rect">
              <a:avLst/>
            </a:prstGeom>
            <a:noFill/>
          </p:spPr>
          <p:txBody>
            <a:bodyPr wrap="square" lIns="0" tIns="0" rIns="0" bIns="0" rtlCol="0" anchor="t">
              <a:noAutofit/>
            </a:bodyPr>
            <a:lstStyle/>
            <a:p>
              <a:pPr algn="ctr" defTabSz="912276" fontAlgn="base">
                <a:spcAft>
                  <a:spcPts val="1000"/>
                </a:spcAft>
                <a:buClr>
                  <a:schemeClr val="bg1"/>
                </a:buClr>
                <a:buSzPct val="100000"/>
              </a:pPr>
              <a:r>
                <a:rPr lang="en-US" sz="1100" dirty="0">
                  <a:solidFill>
                    <a:schemeClr val="bg1"/>
                  </a:solidFill>
                </a:rPr>
                <a:t>Choose a contained channel/content activation type with known Workfront and CTT dependencies.</a:t>
              </a:r>
            </a:p>
          </p:txBody>
        </p:sp>
        <p:sp>
          <p:nvSpPr>
            <p:cNvPr id="57" name="TextBox 56">
              <a:extLst>
                <a:ext uri="{FF2B5EF4-FFF2-40B4-BE49-F238E27FC236}">
                  <a16:creationId xmlns:a16="http://schemas.microsoft.com/office/drawing/2014/main" id="{A2FE6F43-A9A7-6C44-7EE5-AA03B49BB544}"/>
                </a:ext>
              </a:extLst>
            </p:cNvPr>
            <p:cNvSpPr txBox="1"/>
            <p:nvPr/>
          </p:nvSpPr>
          <p:spPr>
            <a:xfrm>
              <a:off x="3167482" y="3054349"/>
              <a:ext cx="1554480" cy="1037831"/>
            </a:xfrm>
            <a:prstGeom prst="rect">
              <a:avLst/>
            </a:prstGeom>
            <a:noFill/>
          </p:spPr>
          <p:txBody>
            <a:bodyPr wrap="square" lIns="0" tIns="0" rIns="0" bIns="0" rtlCol="0" anchor="t">
              <a:noAutofit/>
            </a:bodyPr>
            <a:lstStyle>
              <a:defPPr>
                <a:defRPr lang="en-US"/>
              </a:defPPr>
              <a:lvl1pPr algn="ctr" defTabSz="912276" fontAlgn="base">
                <a:spcAft>
                  <a:spcPts val="1000"/>
                </a:spcAft>
                <a:buClr>
                  <a:schemeClr val="bg1"/>
                </a:buClr>
                <a:buSzPct val="100000"/>
                <a:defRPr sz="1100">
                  <a:solidFill>
                    <a:schemeClr val="bg1"/>
                  </a:solidFill>
                </a:defRPr>
              </a:lvl1pPr>
            </a:lstStyle>
            <a:p>
              <a:r>
                <a:rPr lang="en-US" dirty="0"/>
                <a:t>Confirm the Marketing-defined attributes required for reporting, such as Business Priority and Stakeholder Unit.</a:t>
              </a:r>
            </a:p>
          </p:txBody>
        </p:sp>
        <p:sp>
          <p:nvSpPr>
            <p:cNvPr id="58" name="TextBox 57">
              <a:extLst>
                <a:ext uri="{FF2B5EF4-FFF2-40B4-BE49-F238E27FC236}">
                  <a16:creationId xmlns:a16="http://schemas.microsoft.com/office/drawing/2014/main" id="{66CCD784-EECE-E61A-AE36-D278FAEEE730}"/>
                </a:ext>
              </a:extLst>
            </p:cNvPr>
            <p:cNvSpPr txBox="1"/>
            <p:nvPr/>
          </p:nvSpPr>
          <p:spPr>
            <a:xfrm>
              <a:off x="5128260" y="3054350"/>
              <a:ext cx="1554480" cy="884448"/>
            </a:xfrm>
            <a:prstGeom prst="rect">
              <a:avLst/>
            </a:prstGeom>
            <a:noFill/>
          </p:spPr>
          <p:txBody>
            <a:bodyPr wrap="square" lIns="0" tIns="0" rIns="0" bIns="0" rtlCol="0" anchor="t">
              <a:noAutofit/>
            </a:bodyPr>
            <a:lstStyle>
              <a:defPPr>
                <a:defRPr lang="en-US"/>
              </a:defPPr>
              <a:lvl1pPr algn="ctr" defTabSz="912276" fontAlgn="base">
                <a:spcAft>
                  <a:spcPts val="1000"/>
                </a:spcAft>
                <a:buClr>
                  <a:schemeClr val="bg1"/>
                </a:buClr>
                <a:buSzPct val="100000"/>
                <a:defRPr sz="1100">
                  <a:solidFill>
                    <a:schemeClr val="bg1"/>
                  </a:solidFill>
                </a:defRPr>
              </a:lvl1pPr>
            </a:lstStyle>
            <a:p>
              <a:r>
                <a:rPr lang="en-US" dirty="0"/>
                <a:t>Add the interim fields needed so CTT can carry the same reporting attributes during transition.</a:t>
              </a:r>
            </a:p>
          </p:txBody>
        </p:sp>
        <p:sp>
          <p:nvSpPr>
            <p:cNvPr id="59" name="TextBox 58">
              <a:extLst>
                <a:ext uri="{FF2B5EF4-FFF2-40B4-BE49-F238E27FC236}">
                  <a16:creationId xmlns:a16="http://schemas.microsoft.com/office/drawing/2014/main" id="{528F53E8-64DE-A5CF-00D3-3808CF7D7E56}"/>
                </a:ext>
              </a:extLst>
            </p:cNvPr>
            <p:cNvSpPr txBox="1"/>
            <p:nvPr/>
          </p:nvSpPr>
          <p:spPr>
            <a:xfrm>
              <a:off x="7089038" y="3054350"/>
              <a:ext cx="1554480" cy="884448"/>
            </a:xfrm>
            <a:prstGeom prst="rect">
              <a:avLst/>
            </a:prstGeom>
            <a:noFill/>
          </p:spPr>
          <p:txBody>
            <a:bodyPr wrap="square" lIns="0" tIns="0" rIns="0" bIns="0" rtlCol="0" anchor="t">
              <a:noAutofit/>
            </a:bodyPr>
            <a:lstStyle>
              <a:defPPr>
                <a:defRPr lang="en-US"/>
              </a:defPPr>
              <a:lvl1pPr algn="ctr" defTabSz="912276" fontAlgn="base">
                <a:spcAft>
                  <a:spcPts val="1000"/>
                </a:spcAft>
                <a:buClr>
                  <a:schemeClr val="bg1"/>
                </a:buClr>
                <a:buSzPct val="100000"/>
                <a:defRPr sz="1100">
                  <a:solidFill>
                    <a:schemeClr val="bg1"/>
                  </a:solidFill>
                </a:defRPr>
              </a:lvl1pPr>
            </a:lstStyle>
            <a:p>
              <a:r>
                <a:rPr lang="en-US" dirty="0"/>
                <a:t>Create Activity ID / Offer ID and write generated IDs plus key attributes back into Workfront.</a:t>
              </a:r>
            </a:p>
          </p:txBody>
        </p:sp>
        <p:sp>
          <p:nvSpPr>
            <p:cNvPr id="60" name="TextBox 59">
              <a:extLst>
                <a:ext uri="{FF2B5EF4-FFF2-40B4-BE49-F238E27FC236}">
                  <a16:creationId xmlns:a16="http://schemas.microsoft.com/office/drawing/2014/main" id="{C5F1D8AC-C5AF-E582-1AD4-47932CB2D3EE}"/>
                </a:ext>
              </a:extLst>
            </p:cNvPr>
            <p:cNvSpPr txBox="1"/>
            <p:nvPr/>
          </p:nvSpPr>
          <p:spPr>
            <a:xfrm>
              <a:off x="9049816" y="3054349"/>
              <a:ext cx="1554480" cy="884447"/>
            </a:xfrm>
            <a:prstGeom prst="rect">
              <a:avLst/>
            </a:prstGeom>
            <a:noFill/>
          </p:spPr>
          <p:txBody>
            <a:bodyPr wrap="square" lIns="0" tIns="0" rIns="0" bIns="0" rtlCol="0" anchor="t">
              <a:noAutofit/>
            </a:bodyPr>
            <a:lstStyle>
              <a:defPPr>
                <a:defRPr lang="en-US"/>
              </a:defPPr>
              <a:lvl1pPr algn="ctr" defTabSz="912276" fontAlgn="base">
                <a:spcAft>
                  <a:spcPts val="1000"/>
                </a:spcAft>
                <a:buClr>
                  <a:schemeClr val="bg1"/>
                </a:buClr>
                <a:buSzPct val="100000"/>
                <a:defRPr sz="1100">
                  <a:solidFill>
                    <a:schemeClr val="bg1"/>
                  </a:solidFill>
                </a:defRPr>
              </a:lvl1pPr>
            </a:lstStyle>
            <a:p>
              <a:r>
                <a:rPr lang="en-US" dirty="0"/>
                <a:t>Compare Workfront-originated and CTT-originated activity using the same FY27 reporting view.</a:t>
              </a:r>
            </a:p>
            <a:p>
              <a:endParaRPr lang="en-GB" dirty="0" err="1"/>
            </a:p>
          </p:txBody>
        </p:sp>
      </p:grpSp>
    </p:spTree>
    <p:extLst>
      <p:ext uri="{BB962C8B-B14F-4D97-AF65-F5344CB8AC3E}">
        <p14:creationId xmlns:p14="http://schemas.microsoft.com/office/powerpoint/2010/main" val="1494612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12DC7-9196-657C-141D-672A695EF8C9}"/>
              </a:ext>
            </a:extLst>
          </p:cNvPr>
          <p:cNvSpPr>
            <a:spLocks noGrp="1"/>
          </p:cNvSpPr>
          <p:nvPr>
            <p:ph type="title"/>
          </p:nvPr>
        </p:nvSpPr>
        <p:spPr/>
        <p:txBody>
          <a:bodyPr/>
          <a:lstStyle/>
          <a:p>
            <a:r>
              <a:rPr lang="en-US" dirty="0"/>
              <a:t>The Payoff</a:t>
            </a:r>
            <a:endParaRPr lang="en-GB" dirty="0"/>
          </a:p>
        </p:txBody>
      </p:sp>
      <p:sp>
        <p:nvSpPr>
          <p:cNvPr id="3" name="TextBox 2">
            <a:extLst>
              <a:ext uri="{FF2B5EF4-FFF2-40B4-BE49-F238E27FC236}">
                <a16:creationId xmlns:a16="http://schemas.microsoft.com/office/drawing/2014/main" id="{5C74D1F5-B701-CEAD-91CF-ADC384CE3D17}"/>
              </a:ext>
            </a:extLst>
          </p:cNvPr>
          <p:cNvSpPr txBox="1"/>
          <p:nvPr/>
        </p:nvSpPr>
        <p:spPr>
          <a:xfrm>
            <a:off x="792480" y="753642"/>
            <a:ext cx="10607040" cy="283154"/>
          </a:xfrm>
          <a:prstGeom prst="rect">
            <a:avLst/>
          </a:prstGeom>
          <a:noFill/>
        </p:spPr>
        <p:txBody>
          <a:bodyPr wrap="square" lIns="0" tIns="0" rIns="0" bIns="0" rtlCol="0">
            <a:noAutofit/>
          </a:bodyPr>
          <a:lstStyle>
            <a:defPPr>
              <a:defRPr lang="en-US"/>
            </a:defPPr>
            <a:lvl1pPr algn="ctr" defTabSz="912276" fontAlgn="base">
              <a:lnSpc>
                <a:spcPct val="100000"/>
              </a:lnSpc>
              <a:spcBef>
                <a:spcPts val="0"/>
              </a:spcBef>
              <a:spcAft>
                <a:spcPts val="1000"/>
              </a:spcAft>
              <a:buClr>
                <a:schemeClr val="bg1"/>
              </a:buClr>
              <a:buSzPct val="100000"/>
              <a:defRPr sz="1600">
                <a:solidFill>
                  <a:schemeClr val="accent2"/>
                </a:solidFill>
                <a:ea typeface="ＭＳ Ｐゴシック" charset="0"/>
              </a:defRPr>
            </a:lvl1pPr>
          </a:lstStyle>
          <a:p>
            <a:r>
              <a:rPr dirty="0"/>
              <a:t>The POC should produce decision-quality evidence, not just a technical demo.</a:t>
            </a:r>
          </a:p>
        </p:txBody>
      </p:sp>
      <p:sp>
        <p:nvSpPr>
          <p:cNvPr id="4" name="TextBox 3">
            <a:extLst>
              <a:ext uri="{FF2B5EF4-FFF2-40B4-BE49-F238E27FC236}">
                <a16:creationId xmlns:a16="http://schemas.microsoft.com/office/drawing/2014/main" id="{BA0B6AE2-B5D3-1932-BDAD-B45872076737}"/>
              </a:ext>
            </a:extLst>
          </p:cNvPr>
          <p:cNvSpPr txBox="1"/>
          <p:nvPr/>
        </p:nvSpPr>
        <p:spPr>
          <a:xfrm>
            <a:off x="1134745" y="6104358"/>
            <a:ext cx="10058400" cy="529376"/>
          </a:xfrm>
          <a:prstGeom prst="rect">
            <a:avLst/>
          </a:prstGeom>
          <a:noFill/>
        </p:spPr>
        <p:txBody>
          <a:bodyPr wrap="square" lIns="0" tIns="0" rIns="0" bIns="0" rtlCol="0">
            <a:noAutofit/>
          </a:bodyPr>
          <a:lstStyle>
            <a:defPPr>
              <a:defRPr lang="en-US"/>
            </a:defPPr>
            <a:lvl1pPr algn="ctr" defTabSz="912276" fontAlgn="base">
              <a:lnSpc>
                <a:spcPct val="100000"/>
              </a:lnSpc>
              <a:spcBef>
                <a:spcPts val="0"/>
              </a:spcBef>
              <a:spcAft>
                <a:spcPts val="1000"/>
              </a:spcAft>
              <a:buClr>
                <a:schemeClr val="bg1"/>
              </a:buClr>
              <a:buSzPct val="100000"/>
              <a:defRPr sz="1600" b="0" i="1">
                <a:solidFill>
                  <a:schemeClr val="bg1"/>
                </a:solidFill>
                <a:ea typeface="ＭＳ Ｐゴシック" charset="0"/>
              </a:defRPr>
            </a:lvl1pPr>
          </a:lstStyle>
          <a:p>
            <a:r>
              <a:rPr lang="en-US" dirty="0"/>
              <a:t>S</a:t>
            </a:r>
            <a:r>
              <a:rPr dirty="0"/>
              <a:t>cale only if the pilot proves reliable data capture, reporting consistency and a credible path to CTT retirement.</a:t>
            </a:r>
          </a:p>
        </p:txBody>
      </p:sp>
      <p:sp>
        <p:nvSpPr>
          <p:cNvPr id="5" name="TextBox 4">
            <a:extLst>
              <a:ext uri="{FF2B5EF4-FFF2-40B4-BE49-F238E27FC236}">
                <a16:creationId xmlns:a16="http://schemas.microsoft.com/office/drawing/2014/main" id="{2954A360-AF8B-0C36-CE00-7D5363EBFF83}"/>
              </a:ext>
            </a:extLst>
          </p:cNvPr>
          <p:cNvSpPr txBox="1"/>
          <p:nvPr/>
        </p:nvSpPr>
        <p:spPr>
          <a:xfrm>
            <a:off x="4732973" y="5818763"/>
            <a:ext cx="2466914" cy="344711"/>
          </a:xfrm>
          <a:prstGeom prst="rect">
            <a:avLst/>
          </a:prstGeom>
          <a:noFill/>
        </p:spPr>
        <p:txBody>
          <a:bodyPr wrap="square" lIns="0" tIns="0" rIns="0" bIns="0" rtlCol="0">
            <a:noAutofit/>
          </a:bodyPr>
          <a:lstStyle>
            <a:defPPr>
              <a:defRPr lang="en-US"/>
            </a:defPPr>
            <a:lvl1pPr algn="ctr" defTabSz="912276" fontAlgn="base">
              <a:lnSpc>
                <a:spcPct val="100000"/>
              </a:lnSpc>
              <a:spcBef>
                <a:spcPts val="0"/>
              </a:spcBef>
              <a:spcAft>
                <a:spcPts val="1000"/>
              </a:spcAft>
              <a:buClr>
                <a:schemeClr val="bg1"/>
              </a:buClr>
              <a:buSzPct val="100000"/>
              <a:defRPr sz="1600" b="0" i="1">
                <a:solidFill>
                  <a:schemeClr val="bg1"/>
                </a:solidFill>
                <a:ea typeface="ＭＳ Ｐゴシック" charset="0"/>
              </a:defRPr>
            </a:lvl1pPr>
          </a:lstStyle>
          <a:p>
            <a:r>
              <a:rPr lang="en-US" b="1" dirty="0"/>
              <a:t>Decision Point</a:t>
            </a:r>
            <a:endParaRPr b="1" dirty="0"/>
          </a:p>
        </p:txBody>
      </p:sp>
      <p:grpSp>
        <p:nvGrpSpPr>
          <p:cNvPr id="6" name="Group 5">
            <a:extLst>
              <a:ext uri="{FF2B5EF4-FFF2-40B4-BE49-F238E27FC236}">
                <a16:creationId xmlns:a16="http://schemas.microsoft.com/office/drawing/2014/main" id="{2E7B1E6C-4BA4-4157-F058-E6DB5C70C9A2}"/>
              </a:ext>
            </a:extLst>
          </p:cNvPr>
          <p:cNvGrpSpPr/>
          <p:nvPr/>
        </p:nvGrpSpPr>
        <p:grpSpPr>
          <a:xfrm>
            <a:off x="1134745" y="1406755"/>
            <a:ext cx="2880360" cy="2012950"/>
            <a:chOff x="1136650" y="1866900"/>
            <a:chExt cx="2880360" cy="2012950"/>
          </a:xfrm>
        </p:grpSpPr>
        <p:sp>
          <p:nvSpPr>
            <p:cNvPr id="7" name="Rectangle: Rounded Corners 6">
              <a:extLst>
                <a:ext uri="{FF2B5EF4-FFF2-40B4-BE49-F238E27FC236}">
                  <a16:creationId xmlns:a16="http://schemas.microsoft.com/office/drawing/2014/main" id="{64F5C65B-452D-6257-A086-3D15A8FE9C61}"/>
                </a:ext>
              </a:extLst>
            </p:cNvPr>
            <p:cNvSpPr/>
            <p:nvPr/>
          </p:nvSpPr>
          <p:spPr>
            <a:xfrm>
              <a:off x="1138555" y="1866900"/>
              <a:ext cx="2876550" cy="2012950"/>
            </a:xfrm>
            <a:prstGeom prst="roundRect">
              <a:avLst>
                <a:gd name="adj" fmla="val 8515"/>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8" name="Straight Connector 7">
              <a:extLst>
                <a:ext uri="{FF2B5EF4-FFF2-40B4-BE49-F238E27FC236}">
                  <a16:creationId xmlns:a16="http://schemas.microsoft.com/office/drawing/2014/main" id="{4AD3A986-386E-CD31-C595-98997C567CD4}"/>
                </a:ext>
              </a:extLst>
            </p:cNvPr>
            <p:cNvCxnSpPr>
              <a:cxnSpLocks/>
            </p:cNvCxnSpPr>
            <p:nvPr/>
          </p:nvCxnSpPr>
          <p:spPr>
            <a:xfrm>
              <a:off x="1136650" y="2312549"/>
              <a:ext cx="288036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9" name="TextBox 8">
              <a:extLst>
                <a:ext uri="{FF2B5EF4-FFF2-40B4-BE49-F238E27FC236}">
                  <a16:creationId xmlns:a16="http://schemas.microsoft.com/office/drawing/2014/main" id="{F6544614-8F62-8939-5B4E-BEB99AB493F8}"/>
                </a:ext>
              </a:extLst>
            </p:cNvPr>
            <p:cNvSpPr txBox="1"/>
            <p:nvPr/>
          </p:nvSpPr>
          <p:spPr>
            <a:xfrm>
              <a:off x="1494156" y="1935508"/>
              <a:ext cx="2165349" cy="295289"/>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Integration Feasibility</a:t>
              </a:r>
              <a:endParaRPr lang="en-GB" sz="1600" kern="1200" dirty="0" err="1">
                <a:solidFill>
                  <a:schemeClr val="bg1"/>
                </a:solidFill>
                <a:latin typeface="+mn-lt"/>
                <a:ea typeface="ＭＳ Ｐゴシック" charset="0"/>
              </a:endParaRPr>
            </a:p>
          </p:txBody>
        </p:sp>
        <p:sp>
          <p:nvSpPr>
            <p:cNvPr id="10" name="TextBox 9">
              <a:extLst>
                <a:ext uri="{FF2B5EF4-FFF2-40B4-BE49-F238E27FC236}">
                  <a16:creationId xmlns:a16="http://schemas.microsoft.com/office/drawing/2014/main" id="{5E6A25F2-0E01-AED1-C3CF-357AB7B1096B}"/>
                </a:ext>
              </a:extLst>
            </p:cNvPr>
            <p:cNvSpPr txBox="1"/>
            <p:nvPr/>
          </p:nvSpPr>
          <p:spPr>
            <a:xfrm>
              <a:off x="1214755" y="2446363"/>
              <a:ext cx="2724150" cy="861774"/>
            </a:xfrm>
            <a:prstGeom prst="rect">
              <a:avLst/>
            </a:prstGeom>
            <a:noFill/>
          </p:spPr>
          <p:txBody>
            <a:bodyPr wrap="square" lIns="0" tIns="0" rIns="0" bIns="0" rtlCol="0" anchor="ctr">
              <a:spAutoFit/>
            </a:bodyPr>
            <a:lstStyle>
              <a:defPPr>
                <a:defRPr lang="en-US"/>
              </a:defPPr>
              <a:lvl1pPr algn="ctr" defTabSz="912276" fontAlgn="base">
                <a:lnSpc>
                  <a:spcPct val="100000"/>
                </a:lnSpc>
                <a:spcBef>
                  <a:spcPts val="0"/>
                </a:spcBef>
                <a:spcAft>
                  <a:spcPts val="1000"/>
                </a:spcAft>
                <a:buClr>
                  <a:schemeClr val="bg1"/>
                </a:buClr>
                <a:buSzPct val="100000"/>
                <a:defRPr sz="1600">
                  <a:solidFill>
                    <a:schemeClr val="bg1"/>
                  </a:solidFill>
                  <a:ea typeface="ＭＳ Ｐゴシック" charset="0"/>
                </a:defRPr>
              </a:lvl1pPr>
            </a:lstStyle>
            <a:p>
              <a:r>
                <a:rPr lang="en-US" sz="1400" dirty="0"/>
                <a:t>Workfront can trigger CTT ID creation and receive generated IDs back as usable data attributes.</a:t>
              </a:r>
            </a:p>
          </p:txBody>
        </p:sp>
      </p:grpSp>
      <p:grpSp>
        <p:nvGrpSpPr>
          <p:cNvPr id="11" name="Group 10">
            <a:extLst>
              <a:ext uri="{FF2B5EF4-FFF2-40B4-BE49-F238E27FC236}">
                <a16:creationId xmlns:a16="http://schemas.microsoft.com/office/drawing/2014/main" id="{012393B4-B4AE-72F8-575F-C5F156AF7E30}"/>
              </a:ext>
            </a:extLst>
          </p:cNvPr>
          <p:cNvGrpSpPr/>
          <p:nvPr/>
        </p:nvGrpSpPr>
        <p:grpSpPr>
          <a:xfrm>
            <a:off x="4654868" y="1406755"/>
            <a:ext cx="2880360" cy="2012950"/>
            <a:chOff x="1136650" y="1866900"/>
            <a:chExt cx="2880360" cy="2012950"/>
          </a:xfrm>
        </p:grpSpPr>
        <p:sp>
          <p:nvSpPr>
            <p:cNvPr id="12" name="Rectangle: Rounded Corners 11">
              <a:extLst>
                <a:ext uri="{FF2B5EF4-FFF2-40B4-BE49-F238E27FC236}">
                  <a16:creationId xmlns:a16="http://schemas.microsoft.com/office/drawing/2014/main" id="{68301C4D-C9D7-60D1-08BD-429D8FF7C95B}"/>
                </a:ext>
              </a:extLst>
            </p:cNvPr>
            <p:cNvSpPr/>
            <p:nvPr/>
          </p:nvSpPr>
          <p:spPr>
            <a:xfrm>
              <a:off x="1138555" y="1866900"/>
              <a:ext cx="2876550" cy="2012950"/>
            </a:xfrm>
            <a:prstGeom prst="roundRect">
              <a:avLst>
                <a:gd name="adj" fmla="val 8515"/>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3" name="Straight Connector 12">
              <a:extLst>
                <a:ext uri="{FF2B5EF4-FFF2-40B4-BE49-F238E27FC236}">
                  <a16:creationId xmlns:a16="http://schemas.microsoft.com/office/drawing/2014/main" id="{FB9A60CE-5686-7E7A-5A3A-5AB2D32E82CA}"/>
                </a:ext>
              </a:extLst>
            </p:cNvPr>
            <p:cNvCxnSpPr>
              <a:cxnSpLocks/>
            </p:cNvCxnSpPr>
            <p:nvPr/>
          </p:nvCxnSpPr>
          <p:spPr>
            <a:xfrm>
              <a:off x="1136650" y="2312549"/>
              <a:ext cx="288036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4" name="TextBox 13">
              <a:extLst>
                <a:ext uri="{FF2B5EF4-FFF2-40B4-BE49-F238E27FC236}">
                  <a16:creationId xmlns:a16="http://schemas.microsoft.com/office/drawing/2014/main" id="{C967ED37-5C5E-3A3C-72B4-63C19C99F129}"/>
                </a:ext>
              </a:extLst>
            </p:cNvPr>
            <p:cNvSpPr txBox="1"/>
            <p:nvPr/>
          </p:nvSpPr>
          <p:spPr>
            <a:xfrm>
              <a:off x="1494156" y="1935508"/>
              <a:ext cx="2165349" cy="295289"/>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Reporting Continuity</a:t>
              </a:r>
              <a:endParaRPr lang="en-GB" sz="1600"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E87CF552-23A7-2EF4-8D4D-5E8351C2F164}"/>
                </a:ext>
              </a:extLst>
            </p:cNvPr>
            <p:cNvSpPr txBox="1"/>
            <p:nvPr/>
          </p:nvSpPr>
          <p:spPr>
            <a:xfrm>
              <a:off x="1214755" y="2604867"/>
              <a:ext cx="2724150" cy="544765"/>
            </a:xfrm>
            <a:prstGeom prst="rect">
              <a:avLst/>
            </a:prstGeom>
            <a:noFill/>
          </p:spPr>
          <p:txBody>
            <a:bodyPr wrap="square" lIns="0" tIns="0" rIns="0" bIns="0" rtlCol="0" anchor="ctr">
              <a:spAutoFit/>
            </a:bodyPr>
            <a:lstStyle>
              <a:defPPr>
                <a:defRPr lang="en-US"/>
              </a:defPPr>
              <a:lvl1pPr algn="ctr" defTabSz="912276" fontAlgn="base">
                <a:lnSpc>
                  <a:spcPct val="100000"/>
                </a:lnSpc>
                <a:spcBef>
                  <a:spcPts val="0"/>
                </a:spcBef>
                <a:spcAft>
                  <a:spcPts val="1000"/>
                </a:spcAft>
                <a:buClr>
                  <a:schemeClr val="bg1"/>
                </a:buClr>
                <a:buSzPct val="100000"/>
                <a:defRPr sz="1400">
                  <a:solidFill>
                    <a:schemeClr val="bg1"/>
                  </a:solidFill>
                  <a:ea typeface="ＭＳ Ｐゴシック" charset="0"/>
                </a:defRPr>
              </a:lvl1pPr>
            </a:lstStyle>
            <a:p>
              <a:r>
                <a:rPr lang="en-US" dirty="0"/>
                <a:t>Workfront-originated and non-Workfront activities can be reported using the same FY27 data elements.</a:t>
              </a:r>
            </a:p>
          </p:txBody>
        </p:sp>
      </p:grpSp>
      <p:grpSp>
        <p:nvGrpSpPr>
          <p:cNvPr id="16" name="Group 15">
            <a:extLst>
              <a:ext uri="{FF2B5EF4-FFF2-40B4-BE49-F238E27FC236}">
                <a16:creationId xmlns:a16="http://schemas.microsoft.com/office/drawing/2014/main" id="{0A195256-1F8F-F9C8-EADA-12F6751BCDE8}"/>
              </a:ext>
            </a:extLst>
          </p:cNvPr>
          <p:cNvGrpSpPr/>
          <p:nvPr/>
        </p:nvGrpSpPr>
        <p:grpSpPr>
          <a:xfrm>
            <a:off x="8173085" y="1406755"/>
            <a:ext cx="2880360" cy="2012950"/>
            <a:chOff x="1136650" y="1866900"/>
            <a:chExt cx="2880360" cy="2012950"/>
          </a:xfrm>
        </p:grpSpPr>
        <p:sp>
          <p:nvSpPr>
            <p:cNvPr id="17" name="Rectangle: Rounded Corners 16">
              <a:extLst>
                <a:ext uri="{FF2B5EF4-FFF2-40B4-BE49-F238E27FC236}">
                  <a16:creationId xmlns:a16="http://schemas.microsoft.com/office/drawing/2014/main" id="{7693311E-5120-8528-6FC0-5920ED0ABD3C}"/>
                </a:ext>
              </a:extLst>
            </p:cNvPr>
            <p:cNvSpPr/>
            <p:nvPr/>
          </p:nvSpPr>
          <p:spPr>
            <a:xfrm>
              <a:off x="1138555" y="1866900"/>
              <a:ext cx="2876550" cy="2012950"/>
            </a:xfrm>
            <a:prstGeom prst="roundRect">
              <a:avLst>
                <a:gd name="adj" fmla="val 8515"/>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8" name="Straight Connector 17">
              <a:extLst>
                <a:ext uri="{FF2B5EF4-FFF2-40B4-BE49-F238E27FC236}">
                  <a16:creationId xmlns:a16="http://schemas.microsoft.com/office/drawing/2014/main" id="{ED9A0965-D11A-298B-1C18-931132630ED9}"/>
                </a:ext>
              </a:extLst>
            </p:cNvPr>
            <p:cNvCxnSpPr>
              <a:cxnSpLocks/>
            </p:cNvCxnSpPr>
            <p:nvPr/>
          </p:nvCxnSpPr>
          <p:spPr>
            <a:xfrm>
              <a:off x="1136650" y="2312549"/>
              <a:ext cx="288036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9" name="TextBox 18">
              <a:extLst>
                <a:ext uri="{FF2B5EF4-FFF2-40B4-BE49-F238E27FC236}">
                  <a16:creationId xmlns:a16="http://schemas.microsoft.com/office/drawing/2014/main" id="{9FEF560D-779F-AC3E-F510-C87EBB1A8DB1}"/>
                </a:ext>
              </a:extLst>
            </p:cNvPr>
            <p:cNvSpPr txBox="1"/>
            <p:nvPr/>
          </p:nvSpPr>
          <p:spPr>
            <a:xfrm>
              <a:off x="1494156" y="1935508"/>
              <a:ext cx="2165349" cy="295289"/>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Operational Fit</a:t>
              </a:r>
              <a:endParaRPr lang="en-GB" sz="1600" kern="1200" dirty="0" err="1">
                <a:solidFill>
                  <a:schemeClr val="bg1"/>
                </a:solidFill>
                <a:latin typeface="+mn-lt"/>
                <a:ea typeface="ＭＳ Ｐゴシック" charset="0"/>
              </a:endParaRPr>
            </a:p>
          </p:txBody>
        </p:sp>
        <p:sp>
          <p:nvSpPr>
            <p:cNvPr id="20" name="TextBox 19">
              <a:extLst>
                <a:ext uri="{FF2B5EF4-FFF2-40B4-BE49-F238E27FC236}">
                  <a16:creationId xmlns:a16="http://schemas.microsoft.com/office/drawing/2014/main" id="{D8E67FE1-2D90-AE64-31B2-6978D6EA4924}"/>
                </a:ext>
              </a:extLst>
            </p:cNvPr>
            <p:cNvSpPr txBox="1"/>
            <p:nvPr/>
          </p:nvSpPr>
          <p:spPr>
            <a:xfrm>
              <a:off x="1214755" y="2600251"/>
              <a:ext cx="2724150" cy="553998"/>
            </a:xfrm>
            <a:prstGeom prst="rect">
              <a:avLst/>
            </a:prstGeom>
            <a:noFill/>
          </p:spPr>
          <p:txBody>
            <a:bodyPr wrap="square" lIns="0" tIns="0" rIns="0" bIns="0" rtlCol="0" anchor="ctr">
              <a:spAutoFit/>
            </a:bodyPr>
            <a:lstStyle>
              <a:defPPr>
                <a:defRPr lang="en-US"/>
              </a:defPPr>
              <a:lvl1pPr algn="ctr" defTabSz="912276" fontAlgn="base">
                <a:lnSpc>
                  <a:spcPct val="100000"/>
                </a:lnSpc>
                <a:spcBef>
                  <a:spcPts val="0"/>
                </a:spcBef>
                <a:spcAft>
                  <a:spcPts val="1000"/>
                </a:spcAft>
                <a:buClr>
                  <a:schemeClr val="bg1"/>
                </a:buClr>
                <a:buSzPct val="100000"/>
                <a:defRPr sz="1400">
                  <a:solidFill>
                    <a:schemeClr val="bg1"/>
                  </a:solidFill>
                  <a:ea typeface="ＭＳ Ｐゴシック" charset="0"/>
                </a:defRPr>
              </a:lvl1pPr>
            </a:lstStyle>
            <a:p>
              <a:r>
                <a:rPr lang="en-US" dirty="0"/>
                <a:t>Pilot users can request or approve activations without adding manual ID administration burden.</a:t>
              </a:r>
            </a:p>
          </p:txBody>
        </p:sp>
      </p:grpSp>
      <p:grpSp>
        <p:nvGrpSpPr>
          <p:cNvPr id="21" name="Group 20">
            <a:extLst>
              <a:ext uri="{FF2B5EF4-FFF2-40B4-BE49-F238E27FC236}">
                <a16:creationId xmlns:a16="http://schemas.microsoft.com/office/drawing/2014/main" id="{884EDAC4-F0C6-23D2-FAC7-15A60C32B49F}"/>
              </a:ext>
            </a:extLst>
          </p:cNvPr>
          <p:cNvGrpSpPr/>
          <p:nvPr/>
        </p:nvGrpSpPr>
        <p:grpSpPr>
          <a:xfrm>
            <a:off x="1134745" y="3737205"/>
            <a:ext cx="2880360" cy="2012950"/>
            <a:chOff x="1136650" y="1866900"/>
            <a:chExt cx="2880360" cy="2012950"/>
          </a:xfrm>
        </p:grpSpPr>
        <p:sp>
          <p:nvSpPr>
            <p:cNvPr id="22" name="Rectangle: Rounded Corners 21">
              <a:extLst>
                <a:ext uri="{FF2B5EF4-FFF2-40B4-BE49-F238E27FC236}">
                  <a16:creationId xmlns:a16="http://schemas.microsoft.com/office/drawing/2014/main" id="{567F0340-E8BF-9923-8D72-384CD7D42B77}"/>
                </a:ext>
              </a:extLst>
            </p:cNvPr>
            <p:cNvSpPr/>
            <p:nvPr/>
          </p:nvSpPr>
          <p:spPr>
            <a:xfrm>
              <a:off x="1138555" y="1866900"/>
              <a:ext cx="2876550" cy="2012950"/>
            </a:xfrm>
            <a:prstGeom prst="roundRect">
              <a:avLst>
                <a:gd name="adj" fmla="val 8515"/>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3" name="Straight Connector 22">
              <a:extLst>
                <a:ext uri="{FF2B5EF4-FFF2-40B4-BE49-F238E27FC236}">
                  <a16:creationId xmlns:a16="http://schemas.microsoft.com/office/drawing/2014/main" id="{405A793A-A27C-4A4C-DA02-2FEFE9121C0D}"/>
                </a:ext>
              </a:extLst>
            </p:cNvPr>
            <p:cNvCxnSpPr>
              <a:cxnSpLocks/>
            </p:cNvCxnSpPr>
            <p:nvPr/>
          </p:nvCxnSpPr>
          <p:spPr>
            <a:xfrm>
              <a:off x="1136650" y="2312549"/>
              <a:ext cx="288036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4" name="TextBox 23">
              <a:extLst>
                <a:ext uri="{FF2B5EF4-FFF2-40B4-BE49-F238E27FC236}">
                  <a16:creationId xmlns:a16="http://schemas.microsoft.com/office/drawing/2014/main" id="{DFB390E3-7742-A07D-4F5E-322DA907231B}"/>
                </a:ext>
              </a:extLst>
            </p:cNvPr>
            <p:cNvSpPr txBox="1"/>
            <p:nvPr/>
          </p:nvSpPr>
          <p:spPr>
            <a:xfrm>
              <a:off x="1494156" y="1935508"/>
              <a:ext cx="2165349" cy="295289"/>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Decommission Readiness</a:t>
              </a:r>
              <a:endParaRPr lang="en-GB" sz="1600" kern="1200" dirty="0" err="1">
                <a:solidFill>
                  <a:schemeClr val="bg1"/>
                </a:solidFill>
                <a:latin typeface="+mn-lt"/>
                <a:ea typeface="ＭＳ Ｐゴシック" charset="0"/>
              </a:endParaRPr>
            </a:p>
          </p:txBody>
        </p:sp>
        <p:sp>
          <p:nvSpPr>
            <p:cNvPr id="25" name="TextBox 24">
              <a:extLst>
                <a:ext uri="{FF2B5EF4-FFF2-40B4-BE49-F238E27FC236}">
                  <a16:creationId xmlns:a16="http://schemas.microsoft.com/office/drawing/2014/main" id="{55428F86-1373-C67B-6BC2-E6BD7CD66606}"/>
                </a:ext>
              </a:extLst>
            </p:cNvPr>
            <p:cNvSpPr txBox="1"/>
            <p:nvPr/>
          </p:nvSpPr>
          <p:spPr>
            <a:xfrm>
              <a:off x="1214755" y="2446363"/>
              <a:ext cx="2724150" cy="861774"/>
            </a:xfrm>
            <a:prstGeom prst="rect">
              <a:avLst/>
            </a:prstGeom>
            <a:noFill/>
          </p:spPr>
          <p:txBody>
            <a:bodyPr wrap="square" lIns="0" tIns="0" rIns="0" bIns="0" rtlCol="0" anchor="ctr">
              <a:spAutoFit/>
            </a:bodyPr>
            <a:lstStyle>
              <a:defPPr>
                <a:defRPr lang="en-US"/>
              </a:defPPr>
              <a:lvl1pPr algn="ctr" defTabSz="912276" fontAlgn="base">
                <a:lnSpc>
                  <a:spcPct val="100000"/>
                </a:lnSpc>
                <a:spcBef>
                  <a:spcPts val="0"/>
                </a:spcBef>
                <a:spcAft>
                  <a:spcPts val="1000"/>
                </a:spcAft>
                <a:buClr>
                  <a:schemeClr val="bg1"/>
                </a:buClr>
                <a:buSzPct val="100000"/>
                <a:defRPr sz="1400">
                  <a:solidFill>
                    <a:schemeClr val="bg1"/>
                  </a:solidFill>
                  <a:ea typeface="ＭＳ Ｐゴシック" charset="0"/>
                </a:defRPr>
              </a:lvl1pPr>
            </a:lstStyle>
            <a:p>
              <a:r>
                <a:rPr lang="en-US" dirty="0"/>
                <a:t>The POC produces a concrete backlog for replacing CTT dependencies and retiring legacy OCIDs.</a:t>
              </a:r>
            </a:p>
          </p:txBody>
        </p:sp>
      </p:grpSp>
      <p:grpSp>
        <p:nvGrpSpPr>
          <p:cNvPr id="26" name="Group 25">
            <a:extLst>
              <a:ext uri="{FF2B5EF4-FFF2-40B4-BE49-F238E27FC236}">
                <a16:creationId xmlns:a16="http://schemas.microsoft.com/office/drawing/2014/main" id="{B1972BA1-44CF-C184-506C-24AE7277DFD1}"/>
              </a:ext>
            </a:extLst>
          </p:cNvPr>
          <p:cNvGrpSpPr/>
          <p:nvPr/>
        </p:nvGrpSpPr>
        <p:grpSpPr>
          <a:xfrm>
            <a:off x="4653915" y="3737205"/>
            <a:ext cx="2880360" cy="2012950"/>
            <a:chOff x="1136650" y="1866900"/>
            <a:chExt cx="2880360" cy="2012950"/>
          </a:xfrm>
        </p:grpSpPr>
        <p:sp>
          <p:nvSpPr>
            <p:cNvPr id="27" name="Rectangle: Rounded Corners 26">
              <a:extLst>
                <a:ext uri="{FF2B5EF4-FFF2-40B4-BE49-F238E27FC236}">
                  <a16:creationId xmlns:a16="http://schemas.microsoft.com/office/drawing/2014/main" id="{1C5D4552-6C89-8B40-534F-AB41567CFF72}"/>
                </a:ext>
              </a:extLst>
            </p:cNvPr>
            <p:cNvSpPr/>
            <p:nvPr/>
          </p:nvSpPr>
          <p:spPr>
            <a:xfrm>
              <a:off x="1138555" y="1866900"/>
              <a:ext cx="2876550" cy="2012950"/>
            </a:xfrm>
            <a:prstGeom prst="roundRect">
              <a:avLst>
                <a:gd name="adj" fmla="val 8515"/>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8" name="Straight Connector 27">
              <a:extLst>
                <a:ext uri="{FF2B5EF4-FFF2-40B4-BE49-F238E27FC236}">
                  <a16:creationId xmlns:a16="http://schemas.microsoft.com/office/drawing/2014/main" id="{11DC56B6-FAAB-3AE6-80E2-15A71839B283}"/>
                </a:ext>
              </a:extLst>
            </p:cNvPr>
            <p:cNvCxnSpPr>
              <a:cxnSpLocks/>
            </p:cNvCxnSpPr>
            <p:nvPr/>
          </p:nvCxnSpPr>
          <p:spPr>
            <a:xfrm>
              <a:off x="1136650" y="2312549"/>
              <a:ext cx="288036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9" name="TextBox 28">
              <a:extLst>
                <a:ext uri="{FF2B5EF4-FFF2-40B4-BE49-F238E27FC236}">
                  <a16:creationId xmlns:a16="http://schemas.microsoft.com/office/drawing/2014/main" id="{15A0460F-80D9-4220-3B0B-FF929DC42AAC}"/>
                </a:ext>
              </a:extLst>
            </p:cNvPr>
            <p:cNvSpPr txBox="1"/>
            <p:nvPr/>
          </p:nvSpPr>
          <p:spPr>
            <a:xfrm>
              <a:off x="1494156" y="1935508"/>
              <a:ext cx="2165349" cy="295289"/>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CRM Protection</a:t>
              </a:r>
              <a:endParaRPr lang="en-GB" sz="1600" kern="1200" dirty="0" err="1">
                <a:solidFill>
                  <a:schemeClr val="bg1"/>
                </a:solidFill>
                <a:latin typeface="+mn-lt"/>
                <a:ea typeface="ＭＳ Ｐゴシック" charset="0"/>
              </a:endParaRPr>
            </a:p>
          </p:txBody>
        </p:sp>
        <p:sp>
          <p:nvSpPr>
            <p:cNvPr id="30" name="TextBox 29">
              <a:extLst>
                <a:ext uri="{FF2B5EF4-FFF2-40B4-BE49-F238E27FC236}">
                  <a16:creationId xmlns:a16="http://schemas.microsoft.com/office/drawing/2014/main" id="{EEAE9BCF-0ED9-8CCA-FC14-3611A1869645}"/>
                </a:ext>
              </a:extLst>
            </p:cNvPr>
            <p:cNvSpPr txBox="1"/>
            <p:nvPr/>
          </p:nvSpPr>
          <p:spPr>
            <a:xfrm>
              <a:off x="1215708" y="2666753"/>
              <a:ext cx="2724150" cy="553998"/>
            </a:xfrm>
            <a:prstGeom prst="rect">
              <a:avLst/>
            </a:prstGeom>
            <a:noFill/>
          </p:spPr>
          <p:txBody>
            <a:bodyPr wrap="square" lIns="0" tIns="0" rIns="0" bIns="0" rtlCol="0" anchor="ctr">
              <a:spAutoFit/>
            </a:bodyPr>
            <a:lstStyle>
              <a:defPPr>
                <a:defRPr lang="en-US"/>
              </a:defPPr>
              <a:lvl1pPr algn="ctr" defTabSz="912276" fontAlgn="base">
                <a:lnSpc>
                  <a:spcPct val="100000"/>
                </a:lnSpc>
                <a:spcBef>
                  <a:spcPts val="0"/>
                </a:spcBef>
                <a:spcAft>
                  <a:spcPts val="1000"/>
                </a:spcAft>
                <a:buClr>
                  <a:schemeClr val="bg1"/>
                </a:buClr>
                <a:buSzPct val="100000"/>
                <a:defRPr sz="1400">
                  <a:solidFill>
                    <a:schemeClr val="bg1"/>
                  </a:solidFill>
                  <a:ea typeface="ＭＳ Ｐゴシック" charset="0"/>
                </a:defRPr>
              </a:lvl1pPr>
            </a:lstStyle>
            <a:p>
              <a:r>
                <a:rPr lang="en-US" dirty="0"/>
                <a:t>Marketing can progress without requiring immediate SFDC / One Cisco CRM tracking changes.</a:t>
              </a:r>
            </a:p>
          </p:txBody>
        </p:sp>
      </p:grpSp>
      <p:grpSp>
        <p:nvGrpSpPr>
          <p:cNvPr id="31" name="Group 30">
            <a:extLst>
              <a:ext uri="{FF2B5EF4-FFF2-40B4-BE49-F238E27FC236}">
                <a16:creationId xmlns:a16="http://schemas.microsoft.com/office/drawing/2014/main" id="{4ED5AF82-1EA8-9188-CB28-44FC6DD737EC}"/>
              </a:ext>
            </a:extLst>
          </p:cNvPr>
          <p:cNvGrpSpPr/>
          <p:nvPr/>
        </p:nvGrpSpPr>
        <p:grpSpPr>
          <a:xfrm>
            <a:off x="8173085" y="3737205"/>
            <a:ext cx="2880360" cy="2012950"/>
            <a:chOff x="1136650" y="1866900"/>
            <a:chExt cx="2880360" cy="2012950"/>
          </a:xfrm>
        </p:grpSpPr>
        <p:sp>
          <p:nvSpPr>
            <p:cNvPr id="32" name="Rectangle: Rounded Corners 31">
              <a:extLst>
                <a:ext uri="{FF2B5EF4-FFF2-40B4-BE49-F238E27FC236}">
                  <a16:creationId xmlns:a16="http://schemas.microsoft.com/office/drawing/2014/main" id="{B175F484-03F3-A120-DEE8-27EB1157046D}"/>
                </a:ext>
              </a:extLst>
            </p:cNvPr>
            <p:cNvSpPr/>
            <p:nvPr/>
          </p:nvSpPr>
          <p:spPr>
            <a:xfrm>
              <a:off x="1138555" y="1866900"/>
              <a:ext cx="2876550" cy="2012950"/>
            </a:xfrm>
            <a:prstGeom prst="roundRect">
              <a:avLst>
                <a:gd name="adj" fmla="val 8515"/>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33" name="Straight Connector 32">
              <a:extLst>
                <a:ext uri="{FF2B5EF4-FFF2-40B4-BE49-F238E27FC236}">
                  <a16:creationId xmlns:a16="http://schemas.microsoft.com/office/drawing/2014/main" id="{2BF673F9-2D0F-C751-5FE8-FF9DB1A399D1}"/>
                </a:ext>
              </a:extLst>
            </p:cNvPr>
            <p:cNvCxnSpPr>
              <a:cxnSpLocks/>
            </p:cNvCxnSpPr>
            <p:nvPr/>
          </p:nvCxnSpPr>
          <p:spPr>
            <a:xfrm>
              <a:off x="1136650" y="2312549"/>
              <a:ext cx="288036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34" name="TextBox 33">
              <a:extLst>
                <a:ext uri="{FF2B5EF4-FFF2-40B4-BE49-F238E27FC236}">
                  <a16:creationId xmlns:a16="http://schemas.microsoft.com/office/drawing/2014/main" id="{F59B8D1A-BA80-66A7-92B6-6C3FB3A8FB35}"/>
                </a:ext>
              </a:extLst>
            </p:cNvPr>
            <p:cNvSpPr txBox="1"/>
            <p:nvPr/>
          </p:nvSpPr>
          <p:spPr>
            <a:xfrm>
              <a:off x="1494156" y="1935508"/>
              <a:ext cx="2165349" cy="295289"/>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Risk Reduction</a:t>
              </a:r>
              <a:endParaRPr lang="en-GB" sz="1600" kern="1200" dirty="0" err="1">
                <a:solidFill>
                  <a:schemeClr val="bg1"/>
                </a:solidFill>
                <a:latin typeface="+mn-lt"/>
                <a:ea typeface="ＭＳ Ｐゴシック" charset="0"/>
              </a:endParaRPr>
            </a:p>
          </p:txBody>
        </p:sp>
        <p:sp>
          <p:nvSpPr>
            <p:cNvPr id="35" name="TextBox 34">
              <a:extLst>
                <a:ext uri="{FF2B5EF4-FFF2-40B4-BE49-F238E27FC236}">
                  <a16:creationId xmlns:a16="http://schemas.microsoft.com/office/drawing/2014/main" id="{83BD952E-910E-3357-5791-61073E0F5B36}"/>
                </a:ext>
              </a:extLst>
            </p:cNvPr>
            <p:cNvSpPr txBox="1"/>
            <p:nvPr/>
          </p:nvSpPr>
          <p:spPr>
            <a:xfrm>
              <a:off x="1214755" y="2600251"/>
              <a:ext cx="2724150" cy="553998"/>
            </a:xfrm>
            <a:prstGeom prst="rect">
              <a:avLst/>
            </a:prstGeom>
            <a:noFill/>
          </p:spPr>
          <p:txBody>
            <a:bodyPr wrap="square" lIns="0" tIns="0" rIns="0" bIns="0" rtlCol="0" anchor="ctr">
              <a:spAutoFit/>
            </a:bodyPr>
            <a:lstStyle>
              <a:defPPr>
                <a:defRPr lang="en-US"/>
              </a:defPPr>
              <a:lvl1pPr algn="ctr" defTabSz="912276" fontAlgn="base">
                <a:lnSpc>
                  <a:spcPct val="100000"/>
                </a:lnSpc>
                <a:spcBef>
                  <a:spcPts val="0"/>
                </a:spcBef>
                <a:spcAft>
                  <a:spcPts val="1000"/>
                </a:spcAft>
                <a:buClr>
                  <a:schemeClr val="bg1"/>
                </a:buClr>
                <a:buSzPct val="100000"/>
                <a:defRPr sz="1400">
                  <a:solidFill>
                    <a:schemeClr val="bg1"/>
                  </a:solidFill>
                  <a:ea typeface="ＭＳ Ｐゴシック" charset="0"/>
                </a:defRPr>
              </a:lvl1pPr>
            </a:lstStyle>
            <a:p>
              <a:r>
                <a:rPr lang="en-US" dirty="0"/>
                <a:t>Teams not yet in Workfront can continue to operate while the company validates the target architecture.</a:t>
              </a:r>
            </a:p>
          </p:txBody>
        </p:sp>
      </p:grpSp>
    </p:spTree>
    <p:extLst>
      <p:ext uri="{BB962C8B-B14F-4D97-AF65-F5344CB8AC3E}">
        <p14:creationId xmlns:p14="http://schemas.microsoft.com/office/powerpoint/2010/main" val="3841075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7F522-9E5A-364A-EBA1-5F4C9F45D0A0}"/>
              </a:ext>
            </a:extLst>
          </p:cNvPr>
          <p:cNvSpPr>
            <a:spLocks noGrp="1"/>
          </p:cNvSpPr>
          <p:nvPr>
            <p:ph type="title"/>
          </p:nvPr>
        </p:nvSpPr>
        <p:spPr/>
        <p:txBody>
          <a:bodyPr/>
          <a:lstStyle/>
          <a:p>
            <a:r>
              <a:rPr lang="en-US" dirty="0"/>
              <a:t>The Scope</a:t>
            </a:r>
            <a:endParaRPr lang="en-GB" dirty="0"/>
          </a:p>
        </p:txBody>
      </p:sp>
      <p:sp>
        <p:nvSpPr>
          <p:cNvPr id="3" name="TextBox 2">
            <a:extLst>
              <a:ext uri="{FF2B5EF4-FFF2-40B4-BE49-F238E27FC236}">
                <a16:creationId xmlns:a16="http://schemas.microsoft.com/office/drawing/2014/main" id="{930E41E4-4E52-7E4F-6596-177D90401FAD}"/>
              </a:ext>
            </a:extLst>
          </p:cNvPr>
          <p:cNvSpPr txBox="1"/>
          <p:nvPr/>
        </p:nvSpPr>
        <p:spPr>
          <a:xfrm>
            <a:off x="701040" y="978408"/>
            <a:ext cx="10789920" cy="347472"/>
          </a:xfrm>
          <a:prstGeom prst="rect">
            <a:avLst/>
          </a:prstGeom>
          <a:noFill/>
        </p:spPr>
        <p:txBody>
          <a:bodyPr wrap="square" lIns="0" tIns="0" rIns="0" bIns="0" rtlCol="0" anchor="ctr">
            <a:noAutofit/>
          </a:bodyPr>
          <a:lstStyle>
            <a:defPPr>
              <a:defRPr lang="en-US"/>
            </a:defPPr>
            <a:lvl1pPr algn="ctr" defTabSz="912276" fontAlgn="base">
              <a:lnSpc>
                <a:spcPct val="100000"/>
              </a:lnSpc>
              <a:spcBef>
                <a:spcPts val="0"/>
              </a:spcBef>
              <a:spcAft>
                <a:spcPts val="1000"/>
              </a:spcAft>
              <a:buClr>
                <a:schemeClr val="bg1"/>
              </a:buClr>
              <a:buSzPct val="100000"/>
              <a:defRPr sz="1600">
                <a:solidFill>
                  <a:schemeClr val="accent2"/>
                </a:solidFill>
                <a:ea typeface="ＭＳ Ｐゴシック" charset="0"/>
              </a:defRPr>
            </a:lvl1pPr>
          </a:lstStyle>
          <a:p>
            <a:r>
              <a:rPr dirty="0"/>
              <a:t>Keep the </a:t>
            </a:r>
            <a:r>
              <a:rPr lang="en-US" dirty="0"/>
              <a:t>POC</a:t>
            </a:r>
            <a:r>
              <a:rPr dirty="0"/>
              <a:t> focused enough to deliver evidence, but broad enough to test the real operating constraints.</a:t>
            </a:r>
          </a:p>
        </p:txBody>
      </p:sp>
      <p:grpSp>
        <p:nvGrpSpPr>
          <p:cNvPr id="10" name="Group 9">
            <a:extLst>
              <a:ext uri="{FF2B5EF4-FFF2-40B4-BE49-F238E27FC236}">
                <a16:creationId xmlns:a16="http://schemas.microsoft.com/office/drawing/2014/main" id="{B90A45DC-90BC-D0E5-BB5B-E35CB99F1969}"/>
              </a:ext>
            </a:extLst>
          </p:cNvPr>
          <p:cNvGrpSpPr/>
          <p:nvPr/>
        </p:nvGrpSpPr>
        <p:grpSpPr>
          <a:xfrm>
            <a:off x="601980" y="1739900"/>
            <a:ext cx="2560320" cy="4139692"/>
            <a:chOff x="601980" y="1739900"/>
            <a:chExt cx="2560320" cy="4139692"/>
          </a:xfrm>
        </p:grpSpPr>
        <p:sp>
          <p:nvSpPr>
            <p:cNvPr id="4" name="Rectangle: Rounded Corners 3">
              <a:extLst>
                <a:ext uri="{FF2B5EF4-FFF2-40B4-BE49-F238E27FC236}">
                  <a16:creationId xmlns:a16="http://schemas.microsoft.com/office/drawing/2014/main" id="{F1F81935-F928-1CB7-BB21-7D7899EF714D}"/>
                </a:ext>
              </a:extLst>
            </p:cNvPr>
            <p:cNvSpPr/>
            <p:nvPr/>
          </p:nvSpPr>
          <p:spPr>
            <a:xfrm>
              <a:off x="602615" y="1739900"/>
              <a:ext cx="2559050" cy="4139692"/>
            </a:xfrm>
            <a:prstGeom prst="roundRect">
              <a:avLst>
                <a:gd name="adj" fmla="val 971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8" name="Straight Connector 7">
              <a:extLst>
                <a:ext uri="{FF2B5EF4-FFF2-40B4-BE49-F238E27FC236}">
                  <a16:creationId xmlns:a16="http://schemas.microsoft.com/office/drawing/2014/main" id="{8D6346F5-EFD7-262D-5382-2A45DCB7AE65}"/>
                </a:ext>
              </a:extLst>
            </p:cNvPr>
            <p:cNvCxnSpPr>
              <a:cxnSpLocks/>
            </p:cNvCxnSpPr>
            <p:nvPr/>
          </p:nvCxnSpPr>
          <p:spPr>
            <a:xfrm>
              <a:off x="601980" y="2236349"/>
              <a:ext cx="256032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2" name="TextBox 11">
              <a:extLst>
                <a:ext uri="{FF2B5EF4-FFF2-40B4-BE49-F238E27FC236}">
                  <a16:creationId xmlns:a16="http://schemas.microsoft.com/office/drawing/2014/main" id="{8DFC9615-C9D4-6588-292E-0EABD6335AD8}"/>
                </a:ext>
              </a:extLst>
            </p:cNvPr>
            <p:cNvSpPr txBox="1"/>
            <p:nvPr/>
          </p:nvSpPr>
          <p:spPr>
            <a:xfrm>
              <a:off x="799466" y="1836307"/>
              <a:ext cx="2165349" cy="295289"/>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Data Model</a:t>
              </a:r>
              <a:endParaRPr lang="en-GB" sz="1600" kern="1200" dirty="0" err="1">
                <a:solidFill>
                  <a:schemeClr val="bg1"/>
                </a:solidFill>
                <a:latin typeface="+mn-lt"/>
                <a:ea typeface="ＭＳ Ｐゴシック" charset="0"/>
              </a:endParaRPr>
            </a:p>
          </p:txBody>
        </p:sp>
        <p:sp>
          <p:nvSpPr>
            <p:cNvPr id="13" name="TextBox 12">
              <a:extLst>
                <a:ext uri="{FF2B5EF4-FFF2-40B4-BE49-F238E27FC236}">
                  <a16:creationId xmlns:a16="http://schemas.microsoft.com/office/drawing/2014/main" id="{927FCD5C-3870-E164-8027-957CBCA08774}"/>
                </a:ext>
              </a:extLst>
            </p:cNvPr>
            <p:cNvSpPr txBox="1"/>
            <p:nvPr/>
          </p:nvSpPr>
          <p:spPr>
            <a:xfrm>
              <a:off x="706755" y="2432267"/>
              <a:ext cx="2350770" cy="3185487"/>
            </a:xfrm>
            <a:prstGeom prst="rect">
              <a:avLst/>
            </a:prstGeom>
            <a:noFill/>
          </p:spPr>
          <p:txBody>
            <a:bodyPr wrap="square" lIns="0" tIns="0" rIns="0" bIns="0" rtlCol="0" anchor="ctr">
              <a:spAutoFit/>
            </a:bodyPr>
            <a:lstStyle>
              <a:defPPr>
                <a:defRPr lang="en-US"/>
              </a:defPPr>
              <a:lvl1pPr algn="ctr" defTabSz="912276" fontAlgn="base">
                <a:lnSpc>
                  <a:spcPct val="100000"/>
                </a:lnSpc>
                <a:spcBef>
                  <a:spcPts val="0"/>
                </a:spcBef>
                <a:spcAft>
                  <a:spcPts val="1000"/>
                </a:spcAft>
                <a:buClr>
                  <a:schemeClr val="bg1"/>
                </a:buClr>
                <a:buSzPct val="100000"/>
                <a:defRPr sz="1400">
                  <a:solidFill>
                    <a:schemeClr val="bg1"/>
                  </a:solidFill>
                  <a:ea typeface="ＭＳ Ｐゴシック" charset="0"/>
                </a:defRPr>
              </a:lvl1pPr>
            </a:lstStyle>
            <a:p>
              <a:pPr marL="285750" indent="-285750" algn="l">
                <a:buFont typeface="Wingdings" panose="05000000000000000000" pitchFamily="2" charset="2"/>
                <a:buChar char="§"/>
              </a:pPr>
              <a:r>
                <a:rPr lang="en-US" dirty="0"/>
                <a:t>Define required Workfront-aligned attributes for FY27 reporting.</a:t>
              </a:r>
            </a:p>
            <a:p>
              <a:pPr marL="285750" indent="-285750" algn="l">
                <a:buFont typeface="Wingdings" panose="05000000000000000000" pitchFamily="2" charset="2"/>
                <a:buChar char="§"/>
              </a:pPr>
              <a:r>
                <a:rPr lang="en-US" dirty="0"/>
                <a:t>Identify which fields must live in CTT during the bridge period.</a:t>
              </a:r>
            </a:p>
            <a:p>
              <a:pPr marL="285750" indent="-285750" algn="l">
                <a:buFont typeface="Wingdings" panose="05000000000000000000" pitchFamily="2" charset="2"/>
                <a:buChar char="§"/>
              </a:pPr>
              <a:r>
                <a:rPr lang="en-US" dirty="0"/>
                <a:t>Document mapping between Workfront Task ID, Activity ID, Offer ID and UTM_ID.</a:t>
              </a:r>
            </a:p>
            <a:p>
              <a:pPr marL="285750" indent="-285750" algn="l">
                <a:buFont typeface="Wingdings" panose="05000000000000000000" pitchFamily="2" charset="2"/>
                <a:buChar char="§"/>
              </a:pPr>
              <a:r>
                <a:rPr lang="en-US" dirty="0"/>
                <a:t>Agree ownership and field governance.</a:t>
              </a:r>
            </a:p>
          </p:txBody>
        </p:sp>
      </p:grpSp>
      <p:grpSp>
        <p:nvGrpSpPr>
          <p:cNvPr id="9" name="Group 8">
            <a:extLst>
              <a:ext uri="{FF2B5EF4-FFF2-40B4-BE49-F238E27FC236}">
                <a16:creationId xmlns:a16="http://schemas.microsoft.com/office/drawing/2014/main" id="{11E8F4E7-CD4B-997A-F6DB-C4A0FC1EF92C}"/>
              </a:ext>
            </a:extLst>
          </p:cNvPr>
          <p:cNvGrpSpPr/>
          <p:nvPr/>
        </p:nvGrpSpPr>
        <p:grpSpPr>
          <a:xfrm>
            <a:off x="3461597" y="1739900"/>
            <a:ext cx="2560320" cy="4139692"/>
            <a:chOff x="3478530" y="1739900"/>
            <a:chExt cx="2560320" cy="4139692"/>
          </a:xfrm>
        </p:grpSpPr>
        <p:sp>
          <p:nvSpPr>
            <p:cNvPr id="17" name="Rectangle: Rounded Corners 16">
              <a:extLst>
                <a:ext uri="{FF2B5EF4-FFF2-40B4-BE49-F238E27FC236}">
                  <a16:creationId xmlns:a16="http://schemas.microsoft.com/office/drawing/2014/main" id="{49C46881-41CB-BF27-7A4C-3F68B7599F81}"/>
                </a:ext>
              </a:extLst>
            </p:cNvPr>
            <p:cNvSpPr/>
            <p:nvPr/>
          </p:nvSpPr>
          <p:spPr>
            <a:xfrm>
              <a:off x="3479165" y="1739900"/>
              <a:ext cx="2559050" cy="4139692"/>
            </a:xfrm>
            <a:prstGeom prst="roundRect">
              <a:avLst>
                <a:gd name="adj" fmla="val 971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8" name="Straight Connector 17">
              <a:extLst>
                <a:ext uri="{FF2B5EF4-FFF2-40B4-BE49-F238E27FC236}">
                  <a16:creationId xmlns:a16="http://schemas.microsoft.com/office/drawing/2014/main" id="{CF9EB2BF-AB66-22E5-63D5-7034DB7AFA17}"/>
                </a:ext>
              </a:extLst>
            </p:cNvPr>
            <p:cNvCxnSpPr>
              <a:cxnSpLocks/>
            </p:cNvCxnSpPr>
            <p:nvPr/>
          </p:nvCxnSpPr>
          <p:spPr>
            <a:xfrm>
              <a:off x="3478530" y="2236349"/>
              <a:ext cx="256032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9" name="TextBox 18">
              <a:extLst>
                <a:ext uri="{FF2B5EF4-FFF2-40B4-BE49-F238E27FC236}">
                  <a16:creationId xmlns:a16="http://schemas.microsoft.com/office/drawing/2014/main" id="{C8415A05-4257-3507-8CF8-128E7E207E28}"/>
                </a:ext>
              </a:extLst>
            </p:cNvPr>
            <p:cNvSpPr txBox="1"/>
            <p:nvPr/>
          </p:nvSpPr>
          <p:spPr>
            <a:xfrm>
              <a:off x="3676016" y="1836307"/>
              <a:ext cx="2165349" cy="295289"/>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Integration</a:t>
              </a:r>
              <a:endParaRPr lang="en-GB" sz="1600" kern="1200" dirty="0" err="1">
                <a:solidFill>
                  <a:schemeClr val="bg1"/>
                </a:solidFill>
                <a:latin typeface="+mn-lt"/>
                <a:ea typeface="ＭＳ Ｐゴシック" charset="0"/>
              </a:endParaRPr>
            </a:p>
          </p:txBody>
        </p:sp>
        <p:sp>
          <p:nvSpPr>
            <p:cNvPr id="20" name="TextBox 19">
              <a:extLst>
                <a:ext uri="{FF2B5EF4-FFF2-40B4-BE49-F238E27FC236}">
                  <a16:creationId xmlns:a16="http://schemas.microsoft.com/office/drawing/2014/main" id="{51F38CC1-BF85-E10C-4DB7-DB8B4F8C9CF1}"/>
                </a:ext>
              </a:extLst>
            </p:cNvPr>
            <p:cNvSpPr txBox="1"/>
            <p:nvPr/>
          </p:nvSpPr>
          <p:spPr>
            <a:xfrm>
              <a:off x="3583305" y="2432267"/>
              <a:ext cx="2350770" cy="1980029"/>
            </a:xfrm>
            <a:prstGeom prst="rect">
              <a:avLst/>
            </a:prstGeom>
            <a:noFill/>
          </p:spPr>
          <p:txBody>
            <a:bodyPr wrap="square" lIns="0" tIns="0" rIns="0" bIns="0" rtlCol="0" anchor="ctr">
              <a:spAutoFit/>
            </a:bodyPr>
            <a:lstStyle>
              <a:defPPr>
                <a:defRPr lang="en-US"/>
              </a:defPPr>
              <a:lvl1pPr marL="285750" indent="-285750" defTabSz="912276" fontAlgn="base">
                <a:lnSpc>
                  <a:spcPct val="100000"/>
                </a:lnSpc>
                <a:spcBef>
                  <a:spcPts val="0"/>
                </a:spcBef>
                <a:spcAft>
                  <a:spcPts val="1000"/>
                </a:spcAft>
                <a:buClr>
                  <a:schemeClr val="bg1"/>
                </a:buClr>
                <a:buSzPct val="100000"/>
                <a:buFont typeface="Arial" panose="020B0604020202020204" pitchFamily="34" charset="0"/>
                <a:buChar char="•"/>
                <a:defRPr sz="1400">
                  <a:solidFill>
                    <a:schemeClr val="bg1"/>
                  </a:solidFill>
                  <a:ea typeface="ＭＳ Ｐゴシック" charset="0"/>
                </a:defRPr>
              </a:lvl1pPr>
            </a:lstStyle>
            <a:p>
              <a:r>
                <a:rPr lang="en-US" dirty="0"/>
                <a:t>Create Activity IDs for selected Workfront channel activations.</a:t>
              </a:r>
            </a:p>
            <a:p>
              <a:r>
                <a:rPr lang="en-US" dirty="0"/>
                <a:t>Create Offer IDs for selected Workfront content activations.</a:t>
              </a:r>
            </a:p>
            <a:p>
              <a:r>
                <a:rPr lang="en-US" dirty="0"/>
                <a:t>Write generated IDs back to Workfront.</a:t>
              </a:r>
            </a:p>
          </p:txBody>
        </p:sp>
      </p:grpSp>
      <p:grpSp>
        <p:nvGrpSpPr>
          <p:cNvPr id="7" name="Group 6">
            <a:extLst>
              <a:ext uri="{FF2B5EF4-FFF2-40B4-BE49-F238E27FC236}">
                <a16:creationId xmlns:a16="http://schemas.microsoft.com/office/drawing/2014/main" id="{67D0CBBD-B279-5541-C691-206244C56D88}"/>
              </a:ext>
            </a:extLst>
          </p:cNvPr>
          <p:cNvGrpSpPr/>
          <p:nvPr/>
        </p:nvGrpSpPr>
        <p:grpSpPr>
          <a:xfrm>
            <a:off x="6321214" y="1739900"/>
            <a:ext cx="2560320" cy="4139692"/>
            <a:chOff x="6355080" y="1739900"/>
            <a:chExt cx="2560320" cy="4139692"/>
          </a:xfrm>
        </p:grpSpPr>
        <p:sp>
          <p:nvSpPr>
            <p:cNvPr id="22" name="Rectangle: Rounded Corners 21">
              <a:extLst>
                <a:ext uri="{FF2B5EF4-FFF2-40B4-BE49-F238E27FC236}">
                  <a16:creationId xmlns:a16="http://schemas.microsoft.com/office/drawing/2014/main" id="{BA9E90E9-CFF9-1208-F8D4-80BF2A4BB9C9}"/>
                </a:ext>
              </a:extLst>
            </p:cNvPr>
            <p:cNvSpPr/>
            <p:nvPr/>
          </p:nvSpPr>
          <p:spPr>
            <a:xfrm>
              <a:off x="6355715" y="1739900"/>
              <a:ext cx="2559050" cy="4139692"/>
            </a:xfrm>
            <a:prstGeom prst="roundRect">
              <a:avLst>
                <a:gd name="adj" fmla="val 971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3" name="Straight Connector 22">
              <a:extLst>
                <a:ext uri="{FF2B5EF4-FFF2-40B4-BE49-F238E27FC236}">
                  <a16:creationId xmlns:a16="http://schemas.microsoft.com/office/drawing/2014/main" id="{5FB12043-9E29-D243-F10C-6731D9394C61}"/>
                </a:ext>
              </a:extLst>
            </p:cNvPr>
            <p:cNvCxnSpPr>
              <a:cxnSpLocks/>
            </p:cNvCxnSpPr>
            <p:nvPr/>
          </p:nvCxnSpPr>
          <p:spPr>
            <a:xfrm>
              <a:off x="6355080" y="2236349"/>
              <a:ext cx="256032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4" name="TextBox 23">
              <a:extLst>
                <a:ext uri="{FF2B5EF4-FFF2-40B4-BE49-F238E27FC236}">
                  <a16:creationId xmlns:a16="http://schemas.microsoft.com/office/drawing/2014/main" id="{8947519A-3F24-AD9B-3FAC-566F3E1218C0}"/>
                </a:ext>
              </a:extLst>
            </p:cNvPr>
            <p:cNvSpPr txBox="1"/>
            <p:nvPr/>
          </p:nvSpPr>
          <p:spPr>
            <a:xfrm>
              <a:off x="6552566" y="1836307"/>
              <a:ext cx="2165349" cy="295289"/>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Reporting Proof</a:t>
              </a:r>
              <a:endParaRPr lang="en-GB" sz="1600" kern="1200" dirty="0" err="1">
                <a:solidFill>
                  <a:schemeClr val="bg1"/>
                </a:solidFill>
                <a:latin typeface="+mn-lt"/>
                <a:ea typeface="ＭＳ Ｐゴシック" charset="0"/>
              </a:endParaRPr>
            </a:p>
          </p:txBody>
        </p:sp>
        <p:sp>
          <p:nvSpPr>
            <p:cNvPr id="25" name="TextBox 24">
              <a:extLst>
                <a:ext uri="{FF2B5EF4-FFF2-40B4-BE49-F238E27FC236}">
                  <a16:creationId xmlns:a16="http://schemas.microsoft.com/office/drawing/2014/main" id="{B621B317-B902-07F5-9986-D1933782ADE0}"/>
                </a:ext>
              </a:extLst>
            </p:cNvPr>
            <p:cNvSpPr txBox="1"/>
            <p:nvPr/>
          </p:nvSpPr>
          <p:spPr>
            <a:xfrm>
              <a:off x="6459855" y="2432267"/>
              <a:ext cx="2350770" cy="2841804"/>
            </a:xfrm>
            <a:prstGeom prst="rect">
              <a:avLst/>
            </a:prstGeom>
            <a:noFill/>
          </p:spPr>
          <p:txBody>
            <a:bodyPr wrap="square" lIns="0" tIns="0" rIns="0" bIns="0" rtlCol="0" anchor="ctr">
              <a:spAutoFit/>
            </a:bodyPr>
            <a:lstStyle>
              <a:defPPr>
                <a:defRPr lang="en-US"/>
              </a:defPPr>
              <a:lvl1pPr marL="285750" indent="-285750" defTabSz="912276" fontAlgn="base">
                <a:lnSpc>
                  <a:spcPct val="100000"/>
                </a:lnSpc>
                <a:spcBef>
                  <a:spcPts val="0"/>
                </a:spcBef>
                <a:spcAft>
                  <a:spcPts val="1000"/>
                </a:spcAft>
                <a:buClr>
                  <a:schemeClr val="bg1"/>
                </a:buClr>
                <a:buSzPct val="100000"/>
                <a:buFont typeface="Arial" panose="020B0604020202020204" pitchFamily="34" charset="0"/>
                <a:buChar char="•"/>
                <a:defRPr sz="1400">
                  <a:solidFill>
                    <a:schemeClr val="bg1"/>
                  </a:solidFill>
                  <a:ea typeface="ＭＳ Ｐゴシック" charset="0"/>
                </a:defRPr>
              </a:lvl1pPr>
            </a:lstStyle>
            <a:p>
              <a:r>
                <a:rPr lang="en-US" dirty="0"/>
                <a:t>Build a pilot dataset path spanning Workfront-originated and CTT-originated activity.</a:t>
              </a:r>
            </a:p>
            <a:p>
              <a:r>
                <a:rPr lang="en-US" dirty="0"/>
                <a:t>Validate that online, offline and non-Workfront activity can be segmented consistently.</a:t>
              </a:r>
            </a:p>
            <a:p>
              <a:r>
                <a:rPr lang="en-US" dirty="0"/>
                <a:t>Compare outputs to current attribution/funnel reporting expectations.</a:t>
              </a:r>
            </a:p>
          </p:txBody>
        </p:sp>
      </p:grpSp>
      <p:grpSp>
        <p:nvGrpSpPr>
          <p:cNvPr id="6" name="Group 5">
            <a:extLst>
              <a:ext uri="{FF2B5EF4-FFF2-40B4-BE49-F238E27FC236}">
                <a16:creationId xmlns:a16="http://schemas.microsoft.com/office/drawing/2014/main" id="{A3050777-DB66-B881-E482-4D3058072C63}"/>
              </a:ext>
            </a:extLst>
          </p:cNvPr>
          <p:cNvGrpSpPr/>
          <p:nvPr/>
        </p:nvGrpSpPr>
        <p:grpSpPr>
          <a:xfrm>
            <a:off x="9180830" y="1739900"/>
            <a:ext cx="2560320" cy="4139692"/>
            <a:chOff x="9180830" y="1739900"/>
            <a:chExt cx="2560320" cy="4139692"/>
          </a:xfrm>
        </p:grpSpPr>
        <p:sp>
          <p:nvSpPr>
            <p:cNvPr id="27" name="Rectangle: Rounded Corners 26">
              <a:extLst>
                <a:ext uri="{FF2B5EF4-FFF2-40B4-BE49-F238E27FC236}">
                  <a16:creationId xmlns:a16="http://schemas.microsoft.com/office/drawing/2014/main" id="{B70DC07D-3EF7-744F-8965-E4B811BFB1C6}"/>
                </a:ext>
              </a:extLst>
            </p:cNvPr>
            <p:cNvSpPr/>
            <p:nvPr/>
          </p:nvSpPr>
          <p:spPr>
            <a:xfrm>
              <a:off x="9181465" y="1739900"/>
              <a:ext cx="2559050" cy="4139692"/>
            </a:xfrm>
            <a:prstGeom prst="roundRect">
              <a:avLst>
                <a:gd name="adj" fmla="val 971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8" name="Straight Connector 27">
              <a:extLst>
                <a:ext uri="{FF2B5EF4-FFF2-40B4-BE49-F238E27FC236}">
                  <a16:creationId xmlns:a16="http://schemas.microsoft.com/office/drawing/2014/main" id="{1646F046-AC8F-40A1-C47B-4474D9470C11}"/>
                </a:ext>
              </a:extLst>
            </p:cNvPr>
            <p:cNvCxnSpPr>
              <a:cxnSpLocks/>
            </p:cNvCxnSpPr>
            <p:nvPr/>
          </p:nvCxnSpPr>
          <p:spPr>
            <a:xfrm>
              <a:off x="9180830" y="2236349"/>
              <a:ext cx="256032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9" name="TextBox 28">
              <a:extLst>
                <a:ext uri="{FF2B5EF4-FFF2-40B4-BE49-F238E27FC236}">
                  <a16:creationId xmlns:a16="http://schemas.microsoft.com/office/drawing/2014/main" id="{8C629987-D24C-AA2F-4B3D-EC498DA1DF91}"/>
                </a:ext>
              </a:extLst>
            </p:cNvPr>
            <p:cNvSpPr txBox="1"/>
            <p:nvPr/>
          </p:nvSpPr>
          <p:spPr>
            <a:xfrm>
              <a:off x="9378316" y="1836307"/>
              <a:ext cx="2165349" cy="295289"/>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Exit Path</a:t>
              </a:r>
              <a:endParaRPr lang="en-GB" sz="1600" kern="1200" dirty="0" err="1">
                <a:solidFill>
                  <a:schemeClr val="bg1"/>
                </a:solidFill>
                <a:latin typeface="+mn-lt"/>
                <a:ea typeface="ＭＳ Ｐゴシック" charset="0"/>
              </a:endParaRPr>
            </a:p>
          </p:txBody>
        </p:sp>
        <p:sp>
          <p:nvSpPr>
            <p:cNvPr id="30" name="TextBox 29">
              <a:extLst>
                <a:ext uri="{FF2B5EF4-FFF2-40B4-BE49-F238E27FC236}">
                  <a16:creationId xmlns:a16="http://schemas.microsoft.com/office/drawing/2014/main" id="{868E4932-D8FF-091E-2107-1EFD59E8FBE6}"/>
                </a:ext>
              </a:extLst>
            </p:cNvPr>
            <p:cNvSpPr txBox="1"/>
            <p:nvPr/>
          </p:nvSpPr>
          <p:spPr>
            <a:xfrm>
              <a:off x="9285605" y="2432267"/>
              <a:ext cx="2350770" cy="1980029"/>
            </a:xfrm>
            <a:prstGeom prst="rect">
              <a:avLst/>
            </a:prstGeom>
            <a:noFill/>
          </p:spPr>
          <p:txBody>
            <a:bodyPr wrap="square" lIns="0" tIns="0" rIns="0" bIns="0" rtlCol="0" anchor="ctr">
              <a:spAutoFit/>
            </a:bodyPr>
            <a:lstStyle>
              <a:defPPr>
                <a:defRPr lang="en-US"/>
              </a:defPPr>
              <a:lvl1pPr marL="285750" indent="-285750" defTabSz="912276" fontAlgn="base">
                <a:lnSpc>
                  <a:spcPct val="100000"/>
                </a:lnSpc>
                <a:spcBef>
                  <a:spcPts val="0"/>
                </a:spcBef>
                <a:spcAft>
                  <a:spcPts val="1000"/>
                </a:spcAft>
                <a:buClr>
                  <a:schemeClr val="bg1"/>
                </a:buClr>
                <a:buSzPct val="100000"/>
                <a:buFont typeface="Arial" panose="020B0604020202020204" pitchFamily="34" charset="0"/>
                <a:buChar char="•"/>
                <a:defRPr sz="1400">
                  <a:solidFill>
                    <a:schemeClr val="bg1"/>
                  </a:solidFill>
                  <a:ea typeface="ＭＳ Ｐゴシック" charset="0"/>
                </a:defRPr>
              </a:lvl1pPr>
            </a:lstStyle>
            <a:p>
              <a:r>
                <a:rPr lang="en-US" dirty="0"/>
                <a:t>Document decommission blockers.</a:t>
              </a:r>
            </a:p>
            <a:p>
              <a:r>
                <a:rPr lang="en-US" dirty="0"/>
                <a:t>Identify downstream dependencies.</a:t>
              </a:r>
            </a:p>
            <a:p>
              <a:r>
                <a:rPr lang="en-US" dirty="0"/>
                <a:t>Recommend scale, pause or stop decision with next-phase backlog.</a:t>
              </a:r>
            </a:p>
          </p:txBody>
        </p:sp>
      </p:grpSp>
    </p:spTree>
    <p:extLst>
      <p:ext uri="{BB962C8B-B14F-4D97-AF65-F5344CB8AC3E}">
        <p14:creationId xmlns:p14="http://schemas.microsoft.com/office/powerpoint/2010/main" val="1918761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035ED-B0D9-CAF5-B3FA-26CEE731BA6C}"/>
              </a:ext>
            </a:extLst>
          </p:cNvPr>
          <p:cNvSpPr>
            <a:spLocks noGrp="1"/>
          </p:cNvSpPr>
          <p:nvPr>
            <p:ph type="title"/>
          </p:nvPr>
        </p:nvSpPr>
        <p:spPr/>
        <p:txBody>
          <a:bodyPr/>
          <a:lstStyle/>
          <a:p>
            <a:r>
              <a:rPr lang="en-US" dirty="0"/>
              <a:t>The Risks</a:t>
            </a:r>
            <a:endParaRPr lang="en-GB" dirty="0"/>
          </a:p>
        </p:txBody>
      </p:sp>
      <p:sp>
        <p:nvSpPr>
          <p:cNvPr id="4" name="TextBox 3">
            <a:extLst>
              <a:ext uri="{FF2B5EF4-FFF2-40B4-BE49-F238E27FC236}">
                <a16:creationId xmlns:a16="http://schemas.microsoft.com/office/drawing/2014/main" id="{2BAD5963-E22C-6884-0669-72FD4643A882}"/>
              </a:ext>
            </a:extLst>
          </p:cNvPr>
          <p:cNvSpPr txBox="1"/>
          <p:nvPr/>
        </p:nvSpPr>
        <p:spPr>
          <a:xfrm>
            <a:off x="1780327" y="880774"/>
            <a:ext cx="8525158" cy="492443"/>
          </a:xfrm>
          <a:prstGeom prst="rect">
            <a:avLst/>
          </a:prstGeom>
          <a:noFill/>
        </p:spPr>
        <p:txBody>
          <a:bodyPr wrap="square" lIns="0" tIns="0" rIns="0" bIns="0" rtlCol="0">
            <a:noAutofit/>
          </a:bodyPr>
          <a:lstStyle>
            <a:defPPr>
              <a:defRPr lang="en-US"/>
            </a:defPPr>
            <a:lvl1pPr algn="ctr" defTabSz="912276" fontAlgn="base">
              <a:lnSpc>
                <a:spcPct val="100000"/>
              </a:lnSpc>
              <a:spcBef>
                <a:spcPts val="0"/>
              </a:spcBef>
              <a:spcAft>
                <a:spcPts val="1000"/>
              </a:spcAft>
              <a:buClr>
                <a:schemeClr val="bg1"/>
              </a:buClr>
              <a:buSzPct val="100000"/>
              <a:defRPr sz="1600">
                <a:solidFill>
                  <a:schemeClr val="accent2"/>
                </a:solidFill>
                <a:ea typeface="ＭＳ Ｐゴシック" charset="0"/>
              </a:defRPr>
            </a:lvl1pPr>
          </a:lstStyle>
          <a:p>
            <a:r>
              <a:rPr dirty="0"/>
              <a:t>FY27 reporting requires consistent marketing data elements across all activity types, </a:t>
            </a:r>
            <a:r>
              <a:rPr lang="en-US" dirty="0"/>
              <a:t>not only </a:t>
            </a:r>
            <a:r>
              <a:rPr lang="en-GB" dirty="0"/>
              <a:t>those</a:t>
            </a:r>
            <a:r>
              <a:rPr dirty="0"/>
              <a:t> already in Workfront.</a:t>
            </a:r>
            <a:r>
              <a:rPr lang="en-US" dirty="0"/>
              <a:t> 	</a:t>
            </a:r>
            <a:endParaRPr dirty="0"/>
          </a:p>
        </p:txBody>
      </p:sp>
      <p:grpSp>
        <p:nvGrpSpPr>
          <p:cNvPr id="8" name="Group 7">
            <a:extLst>
              <a:ext uri="{FF2B5EF4-FFF2-40B4-BE49-F238E27FC236}">
                <a16:creationId xmlns:a16="http://schemas.microsoft.com/office/drawing/2014/main" id="{27119D45-BE13-5A12-5451-C2C9ECBBF31D}"/>
              </a:ext>
            </a:extLst>
          </p:cNvPr>
          <p:cNvGrpSpPr/>
          <p:nvPr/>
        </p:nvGrpSpPr>
        <p:grpSpPr>
          <a:xfrm>
            <a:off x="663781" y="1935305"/>
            <a:ext cx="3447638" cy="3638550"/>
            <a:chOff x="731521" y="2387600"/>
            <a:chExt cx="3447638" cy="3638550"/>
          </a:xfrm>
        </p:grpSpPr>
        <p:sp>
          <p:nvSpPr>
            <p:cNvPr id="9" name="Rectangle: Rounded Corners 8">
              <a:extLst>
                <a:ext uri="{FF2B5EF4-FFF2-40B4-BE49-F238E27FC236}">
                  <a16:creationId xmlns:a16="http://schemas.microsoft.com/office/drawing/2014/main" id="{C4B8259F-E309-EC17-793C-BCAEC0AC8A16}"/>
                </a:ext>
              </a:extLst>
            </p:cNvPr>
            <p:cNvSpPr/>
            <p:nvPr/>
          </p:nvSpPr>
          <p:spPr>
            <a:xfrm>
              <a:off x="731521" y="2387600"/>
              <a:ext cx="3447638" cy="3638550"/>
            </a:xfrm>
            <a:prstGeom prst="roundRect">
              <a:avLst>
                <a:gd name="adj" fmla="val 837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algn="l"/>
              <a:endParaRPr lang="en-GB" sz="1600" dirty="0">
                <a:solidFill>
                  <a:schemeClr val="bg1"/>
                </a:solidFill>
              </a:endParaRPr>
            </a:p>
          </p:txBody>
        </p:sp>
        <p:cxnSp>
          <p:nvCxnSpPr>
            <p:cNvPr id="10" name="Straight Connector 9">
              <a:extLst>
                <a:ext uri="{FF2B5EF4-FFF2-40B4-BE49-F238E27FC236}">
                  <a16:creationId xmlns:a16="http://schemas.microsoft.com/office/drawing/2014/main" id="{3DDE5D51-2469-F6A4-156F-F8401CC1F5D3}"/>
                </a:ext>
              </a:extLst>
            </p:cNvPr>
            <p:cNvCxnSpPr>
              <a:cxnSpLocks/>
            </p:cNvCxnSpPr>
            <p:nvPr/>
          </p:nvCxnSpPr>
          <p:spPr>
            <a:xfrm>
              <a:off x="731696" y="2909957"/>
              <a:ext cx="3447288"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1" name="TextBox 10">
              <a:extLst>
                <a:ext uri="{FF2B5EF4-FFF2-40B4-BE49-F238E27FC236}">
                  <a16:creationId xmlns:a16="http://schemas.microsoft.com/office/drawing/2014/main" id="{CDFA4FA4-F200-3973-F95B-9293E40D5EB8}"/>
                </a:ext>
              </a:extLst>
            </p:cNvPr>
            <p:cNvSpPr txBox="1"/>
            <p:nvPr/>
          </p:nvSpPr>
          <p:spPr>
            <a:xfrm>
              <a:off x="855140" y="2436054"/>
              <a:ext cx="3200400" cy="444500"/>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The Risk if we Wait</a:t>
              </a:r>
              <a:endParaRPr lang="en-GB" sz="1600" kern="1200" dirty="0" err="1">
                <a:solidFill>
                  <a:schemeClr val="bg1"/>
                </a:solidFill>
                <a:latin typeface="+mn-lt"/>
                <a:ea typeface="ＭＳ Ｐゴシック" charset="0"/>
              </a:endParaRPr>
            </a:p>
          </p:txBody>
        </p:sp>
        <p:sp>
          <p:nvSpPr>
            <p:cNvPr id="12" name="TextBox 11">
              <a:extLst>
                <a:ext uri="{FF2B5EF4-FFF2-40B4-BE49-F238E27FC236}">
                  <a16:creationId xmlns:a16="http://schemas.microsoft.com/office/drawing/2014/main" id="{2E35904B-D549-27FA-7547-1B05E58A9320}"/>
                </a:ext>
              </a:extLst>
            </p:cNvPr>
            <p:cNvSpPr txBox="1"/>
            <p:nvPr/>
          </p:nvSpPr>
          <p:spPr>
            <a:xfrm>
              <a:off x="797990" y="3039304"/>
              <a:ext cx="3314700" cy="2705802"/>
            </a:xfrm>
            <a:prstGeom prst="rect">
              <a:avLst/>
            </a:prstGeom>
            <a:noFill/>
          </p:spPr>
          <p:txBody>
            <a:bodyPr wrap="square" lIns="0" tIns="0" rIns="0" bIns="0" rtlCol="0">
              <a:noAutofit/>
            </a:bodyPr>
            <a:lstStyle>
              <a:defPPr>
                <a:defRPr lang="en-US"/>
              </a:defPPr>
              <a:lvl1pPr marL="182880" indent="-182880" defTabSz="912276" fontAlgn="base">
                <a:lnSpc>
                  <a:spcPct val="100000"/>
                </a:lnSpc>
                <a:spcBef>
                  <a:spcPts val="0"/>
                </a:spcBef>
                <a:spcAft>
                  <a:spcPts val="1000"/>
                </a:spcAft>
                <a:buClr>
                  <a:schemeClr val="bg1"/>
                </a:buClr>
                <a:buSzPct val="100000"/>
                <a:buFont typeface="Arial" panose="020B0604020202020204" pitchFamily="34" charset="0"/>
                <a:buChar char="•"/>
                <a:defRPr sz="1400">
                  <a:solidFill>
                    <a:schemeClr val="bg1"/>
                  </a:solidFill>
                  <a:ea typeface="ＭＳ Ｐゴシック" charset="0"/>
                </a:defRPr>
              </a:lvl1pPr>
            </a:lstStyle>
            <a:p>
              <a:r>
                <a:rPr lang="en-US" dirty="0"/>
                <a:t>Marketing cannot consistently measure all FY27 initiatives.</a:t>
              </a:r>
            </a:p>
            <a:p>
              <a:r>
                <a:rPr lang="en-US" dirty="0"/>
                <a:t>Online, offline and non-Workfront activities may be reported differently.</a:t>
              </a:r>
            </a:p>
            <a:p>
              <a:r>
                <a:rPr lang="en-US" dirty="0"/>
                <a:t>Teams may slow Workfront adoption if reporting continuity is unclear.</a:t>
              </a:r>
            </a:p>
            <a:p>
              <a:r>
                <a:rPr lang="en-US" dirty="0"/>
                <a:t>Attribution and funnel reporting may remain dependent on legacy structures.</a:t>
              </a:r>
            </a:p>
          </p:txBody>
        </p:sp>
      </p:grpSp>
      <p:grpSp>
        <p:nvGrpSpPr>
          <p:cNvPr id="13" name="Group 12">
            <a:extLst>
              <a:ext uri="{FF2B5EF4-FFF2-40B4-BE49-F238E27FC236}">
                <a16:creationId xmlns:a16="http://schemas.microsoft.com/office/drawing/2014/main" id="{80E2115B-15D0-B55C-D6E7-251A6A7F2F39}"/>
              </a:ext>
            </a:extLst>
          </p:cNvPr>
          <p:cNvGrpSpPr/>
          <p:nvPr/>
        </p:nvGrpSpPr>
        <p:grpSpPr>
          <a:xfrm>
            <a:off x="4372181" y="1935305"/>
            <a:ext cx="3447638" cy="3638550"/>
            <a:chOff x="731521" y="2387600"/>
            <a:chExt cx="3447638" cy="3638550"/>
          </a:xfrm>
        </p:grpSpPr>
        <p:sp>
          <p:nvSpPr>
            <p:cNvPr id="14" name="Rectangle: Rounded Corners 13">
              <a:extLst>
                <a:ext uri="{FF2B5EF4-FFF2-40B4-BE49-F238E27FC236}">
                  <a16:creationId xmlns:a16="http://schemas.microsoft.com/office/drawing/2014/main" id="{D8404F3C-A516-C53D-171E-DABFC113A6BA}"/>
                </a:ext>
              </a:extLst>
            </p:cNvPr>
            <p:cNvSpPr/>
            <p:nvPr/>
          </p:nvSpPr>
          <p:spPr>
            <a:xfrm>
              <a:off x="731521" y="2387600"/>
              <a:ext cx="3447638" cy="3638550"/>
            </a:xfrm>
            <a:prstGeom prst="roundRect">
              <a:avLst>
                <a:gd name="adj" fmla="val 837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algn="l"/>
              <a:endParaRPr lang="en-GB" sz="1600" dirty="0">
                <a:solidFill>
                  <a:schemeClr val="bg1"/>
                </a:solidFill>
              </a:endParaRPr>
            </a:p>
          </p:txBody>
        </p:sp>
        <p:cxnSp>
          <p:nvCxnSpPr>
            <p:cNvPr id="15" name="Straight Connector 14">
              <a:extLst>
                <a:ext uri="{FF2B5EF4-FFF2-40B4-BE49-F238E27FC236}">
                  <a16:creationId xmlns:a16="http://schemas.microsoft.com/office/drawing/2014/main" id="{FA36B8F4-EC9A-8F4E-8EE1-7A399B883D99}"/>
                </a:ext>
              </a:extLst>
            </p:cNvPr>
            <p:cNvCxnSpPr>
              <a:cxnSpLocks/>
            </p:cNvCxnSpPr>
            <p:nvPr/>
          </p:nvCxnSpPr>
          <p:spPr>
            <a:xfrm>
              <a:off x="731696" y="2909957"/>
              <a:ext cx="3447288"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6" name="TextBox 15">
              <a:extLst>
                <a:ext uri="{FF2B5EF4-FFF2-40B4-BE49-F238E27FC236}">
                  <a16:creationId xmlns:a16="http://schemas.microsoft.com/office/drawing/2014/main" id="{5A914479-62B3-0960-5838-F2C5B50CF2E1}"/>
                </a:ext>
              </a:extLst>
            </p:cNvPr>
            <p:cNvSpPr txBox="1"/>
            <p:nvPr/>
          </p:nvSpPr>
          <p:spPr>
            <a:xfrm>
              <a:off x="855140" y="2436054"/>
              <a:ext cx="3200400" cy="444500"/>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The Opportunity Now</a:t>
              </a:r>
              <a:endParaRPr lang="en-GB" sz="1600" kern="1200" dirty="0" err="1">
                <a:solidFill>
                  <a:schemeClr val="bg1"/>
                </a:solidFill>
                <a:latin typeface="+mn-lt"/>
                <a:ea typeface="ＭＳ Ｐゴシック" charset="0"/>
              </a:endParaRPr>
            </a:p>
          </p:txBody>
        </p:sp>
        <p:sp>
          <p:nvSpPr>
            <p:cNvPr id="17" name="TextBox 16">
              <a:extLst>
                <a:ext uri="{FF2B5EF4-FFF2-40B4-BE49-F238E27FC236}">
                  <a16:creationId xmlns:a16="http://schemas.microsoft.com/office/drawing/2014/main" id="{C7A0DAD5-2BC4-6A9B-9D6E-D529D686964F}"/>
                </a:ext>
              </a:extLst>
            </p:cNvPr>
            <p:cNvSpPr txBox="1"/>
            <p:nvPr/>
          </p:nvSpPr>
          <p:spPr>
            <a:xfrm>
              <a:off x="797990" y="3039304"/>
              <a:ext cx="3314700" cy="2705802"/>
            </a:xfrm>
            <a:prstGeom prst="rect">
              <a:avLst/>
            </a:prstGeom>
            <a:noFill/>
          </p:spPr>
          <p:txBody>
            <a:bodyPr wrap="square" lIns="0" tIns="0" rIns="0" bIns="0" rtlCol="0">
              <a:noAutofit/>
            </a:bodyPr>
            <a:lstStyle>
              <a:defPPr>
                <a:defRPr lang="en-US"/>
              </a:defPPr>
              <a:lvl1pPr marL="182880" indent="-182880" defTabSz="912276" fontAlgn="base">
                <a:lnSpc>
                  <a:spcPct val="100000"/>
                </a:lnSpc>
                <a:spcBef>
                  <a:spcPts val="0"/>
                </a:spcBef>
                <a:spcAft>
                  <a:spcPts val="1000"/>
                </a:spcAft>
                <a:buClr>
                  <a:schemeClr val="bg1"/>
                </a:buClr>
                <a:buSzPct val="100000"/>
                <a:buFont typeface="Arial" panose="020B0604020202020204" pitchFamily="34" charset="0"/>
                <a:buChar char="•"/>
                <a:defRPr sz="1400">
                  <a:solidFill>
                    <a:schemeClr val="bg1"/>
                  </a:solidFill>
                  <a:ea typeface="ＭＳ Ｐゴシック" charset="0"/>
                </a:defRPr>
              </a:lvl1pPr>
            </a:lstStyle>
            <a:p>
              <a:r>
                <a:rPr lang="en-US" dirty="0"/>
                <a:t>Add the FY27 data elements into CTT during transition.</a:t>
              </a:r>
            </a:p>
            <a:p>
              <a:r>
                <a:rPr lang="en-US" dirty="0"/>
                <a:t>Connect Workfront-originated activity to CTT IDs automatically.</a:t>
              </a:r>
            </a:p>
            <a:p>
              <a:r>
                <a:rPr lang="en-US" dirty="0"/>
                <a:t>Write those IDs and attributes back into Workfront.</a:t>
              </a:r>
            </a:p>
            <a:p>
              <a:r>
                <a:rPr lang="en-US" dirty="0"/>
                <a:t>Create a consistent data foundation before full decommission.</a:t>
              </a:r>
            </a:p>
          </p:txBody>
        </p:sp>
      </p:grpSp>
      <p:grpSp>
        <p:nvGrpSpPr>
          <p:cNvPr id="18" name="Group 17">
            <a:extLst>
              <a:ext uri="{FF2B5EF4-FFF2-40B4-BE49-F238E27FC236}">
                <a16:creationId xmlns:a16="http://schemas.microsoft.com/office/drawing/2014/main" id="{0E74B909-DDE1-7822-1A5E-C8FDA3B94563}"/>
              </a:ext>
            </a:extLst>
          </p:cNvPr>
          <p:cNvGrpSpPr/>
          <p:nvPr/>
        </p:nvGrpSpPr>
        <p:grpSpPr>
          <a:xfrm>
            <a:off x="8080581" y="1932959"/>
            <a:ext cx="3447638" cy="3638550"/>
            <a:chOff x="731521" y="2387600"/>
            <a:chExt cx="3447638" cy="3638550"/>
          </a:xfrm>
        </p:grpSpPr>
        <p:sp>
          <p:nvSpPr>
            <p:cNvPr id="19" name="Rectangle: Rounded Corners 18">
              <a:extLst>
                <a:ext uri="{FF2B5EF4-FFF2-40B4-BE49-F238E27FC236}">
                  <a16:creationId xmlns:a16="http://schemas.microsoft.com/office/drawing/2014/main" id="{2C8E716A-14F6-6D3E-E1E7-AA0E680BC857}"/>
                </a:ext>
              </a:extLst>
            </p:cNvPr>
            <p:cNvSpPr/>
            <p:nvPr/>
          </p:nvSpPr>
          <p:spPr>
            <a:xfrm>
              <a:off x="731521" y="2387600"/>
              <a:ext cx="3447638" cy="3638550"/>
            </a:xfrm>
            <a:prstGeom prst="roundRect">
              <a:avLst>
                <a:gd name="adj" fmla="val 837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algn="l"/>
              <a:endParaRPr lang="en-GB" sz="1600" dirty="0">
                <a:solidFill>
                  <a:schemeClr val="bg1"/>
                </a:solidFill>
              </a:endParaRPr>
            </a:p>
          </p:txBody>
        </p:sp>
        <p:cxnSp>
          <p:nvCxnSpPr>
            <p:cNvPr id="20" name="Straight Connector 19">
              <a:extLst>
                <a:ext uri="{FF2B5EF4-FFF2-40B4-BE49-F238E27FC236}">
                  <a16:creationId xmlns:a16="http://schemas.microsoft.com/office/drawing/2014/main" id="{8C941206-5447-CBD6-2F6C-8474E9CD4F19}"/>
                </a:ext>
              </a:extLst>
            </p:cNvPr>
            <p:cNvCxnSpPr>
              <a:cxnSpLocks/>
            </p:cNvCxnSpPr>
            <p:nvPr/>
          </p:nvCxnSpPr>
          <p:spPr>
            <a:xfrm>
              <a:off x="731696" y="2909957"/>
              <a:ext cx="3447288"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1" name="TextBox 20">
              <a:extLst>
                <a:ext uri="{FF2B5EF4-FFF2-40B4-BE49-F238E27FC236}">
                  <a16:creationId xmlns:a16="http://schemas.microsoft.com/office/drawing/2014/main" id="{88258625-774A-A733-0823-EF1B9B5CEF94}"/>
                </a:ext>
              </a:extLst>
            </p:cNvPr>
            <p:cNvSpPr txBox="1"/>
            <p:nvPr/>
          </p:nvSpPr>
          <p:spPr>
            <a:xfrm>
              <a:off x="855140" y="2436054"/>
              <a:ext cx="3200400" cy="444500"/>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The Business Outcome</a:t>
              </a:r>
              <a:endParaRPr lang="en-GB" sz="1600" kern="1200" dirty="0" err="1">
                <a:solidFill>
                  <a:schemeClr val="bg1"/>
                </a:solidFill>
                <a:latin typeface="+mn-lt"/>
                <a:ea typeface="ＭＳ Ｐゴシック" charset="0"/>
              </a:endParaRPr>
            </a:p>
          </p:txBody>
        </p:sp>
        <p:sp>
          <p:nvSpPr>
            <p:cNvPr id="22" name="TextBox 21">
              <a:extLst>
                <a:ext uri="{FF2B5EF4-FFF2-40B4-BE49-F238E27FC236}">
                  <a16:creationId xmlns:a16="http://schemas.microsoft.com/office/drawing/2014/main" id="{3C3EAB5E-87F9-481A-E3AE-80552D6C0035}"/>
                </a:ext>
              </a:extLst>
            </p:cNvPr>
            <p:cNvSpPr txBox="1"/>
            <p:nvPr/>
          </p:nvSpPr>
          <p:spPr>
            <a:xfrm>
              <a:off x="797990" y="3039304"/>
              <a:ext cx="3314700" cy="2705802"/>
            </a:xfrm>
            <a:prstGeom prst="rect">
              <a:avLst/>
            </a:prstGeom>
            <a:noFill/>
          </p:spPr>
          <p:txBody>
            <a:bodyPr wrap="square" lIns="0" tIns="0" rIns="0" bIns="0" rtlCol="0">
              <a:noAutofit/>
            </a:bodyPr>
            <a:lstStyle>
              <a:defPPr>
                <a:defRPr lang="en-US"/>
              </a:defPPr>
              <a:lvl1pPr marL="182880" indent="-182880" defTabSz="912276" fontAlgn="base">
                <a:lnSpc>
                  <a:spcPct val="100000"/>
                </a:lnSpc>
                <a:spcBef>
                  <a:spcPts val="0"/>
                </a:spcBef>
                <a:spcAft>
                  <a:spcPts val="1000"/>
                </a:spcAft>
                <a:buClr>
                  <a:schemeClr val="bg1"/>
                </a:buClr>
                <a:buSzPct val="100000"/>
                <a:buFont typeface="Arial" panose="020B0604020202020204" pitchFamily="34" charset="0"/>
                <a:buChar char="•"/>
                <a:defRPr sz="1400">
                  <a:solidFill>
                    <a:schemeClr val="bg1"/>
                  </a:solidFill>
                  <a:ea typeface="ＭＳ Ｐゴシック" charset="0"/>
                </a:defRPr>
              </a:lvl1pPr>
            </a:lstStyle>
            <a:p>
              <a:r>
                <a:rPr lang="en-US" dirty="0"/>
                <a:t>Marketing can measure activity performance sooner.</a:t>
              </a:r>
            </a:p>
            <a:p>
              <a:r>
                <a:rPr lang="en-US" dirty="0"/>
                <a:t>Reporting teams can use a common set of data elements.</a:t>
              </a:r>
            </a:p>
            <a:p>
              <a:r>
                <a:rPr lang="en-US" dirty="0"/>
                <a:t>Workfront migration can progress without creating a measurement gap.</a:t>
              </a:r>
            </a:p>
            <a:p>
              <a:r>
                <a:rPr lang="en-US" dirty="0"/>
                <a:t>CTT is prepared for decommission instead of left as a separate legacy path.</a:t>
              </a:r>
            </a:p>
            <a:p>
              <a:r>
                <a:rPr lang="en-US" dirty="0"/>
                <a:t>No impacts on OCC Resources</a:t>
              </a:r>
            </a:p>
            <a:p>
              <a:endParaRPr lang="en-GB" dirty="0" err="1"/>
            </a:p>
          </p:txBody>
        </p:sp>
      </p:grpSp>
    </p:spTree>
    <p:extLst>
      <p:ext uri="{BB962C8B-B14F-4D97-AF65-F5344CB8AC3E}">
        <p14:creationId xmlns:p14="http://schemas.microsoft.com/office/powerpoint/2010/main" val="3568398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4DEAC-9F42-5B25-B0A1-35F601855668}"/>
              </a:ext>
            </a:extLst>
          </p:cNvPr>
          <p:cNvSpPr>
            <a:spLocks noGrp="1"/>
          </p:cNvSpPr>
          <p:nvPr>
            <p:ph type="title"/>
          </p:nvPr>
        </p:nvSpPr>
        <p:spPr/>
        <p:txBody>
          <a:bodyPr/>
          <a:lstStyle/>
          <a:p>
            <a:r>
              <a:rPr lang="en-US" dirty="0"/>
              <a:t>The Ask</a:t>
            </a:r>
            <a:endParaRPr lang="en-GB" dirty="0"/>
          </a:p>
        </p:txBody>
      </p:sp>
      <p:sp>
        <p:nvSpPr>
          <p:cNvPr id="3" name="TextBox 2">
            <a:extLst>
              <a:ext uri="{FF2B5EF4-FFF2-40B4-BE49-F238E27FC236}">
                <a16:creationId xmlns:a16="http://schemas.microsoft.com/office/drawing/2014/main" id="{5040F95A-0BEA-B5AD-11A7-6AEC66292EBB}"/>
              </a:ext>
            </a:extLst>
          </p:cNvPr>
          <p:cNvSpPr txBox="1"/>
          <p:nvPr/>
        </p:nvSpPr>
        <p:spPr>
          <a:xfrm>
            <a:off x="663780" y="787585"/>
            <a:ext cx="10797969" cy="1007743"/>
          </a:xfrm>
          <a:prstGeom prst="rect">
            <a:avLst/>
          </a:prstGeom>
          <a:noFill/>
        </p:spPr>
        <p:txBody>
          <a:bodyPr wrap="square" lIns="0" tIns="0" rIns="0" bIns="0" rtlCol="0">
            <a:noAutofit/>
          </a:bodyPr>
          <a:lstStyle>
            <a:defPPr>
              <a:defRPr lang="en-US"/>
            </a:defPPr>
            <a:lvl1pPr algn="ctr" defTabSz="912276" fontAlgn="base">
              <a:lnSpc>
                <a:spcPct val="100000"/>
              </a:lnSpc>
              <a:spcBef>
                <a:spcPts val="0"/>
              </a:spcBef>
              <a:spcAft>
                <a:spcPts val="1000"/>
              </a:spcAft>
              <a:buClr>
                <a:schemeClr val="bg1"/>
              </a:buClr>
              <a:buSzPct val="100000"/>
              <a:defRPr sz="1600">
                <a:solidFill>
                  <a:schemeClr val="accent2"/>
                </a:solidFill>
                <a:ea typeface="ＭＳ Ｐゴシック" charset="0"/>
              </a:defRPr>
            </a:lvl1pPr>
          </a:lstStyle>
          <a:p>
            <a:r>
              <a:rPr lang="en-US" dirty="0"/>
              <a:t>Approve a Proof of Concept to integrate Workfront and CTT as an interim bridge, so Marketing can capture the FY27 reporting data elements it has defined across all activities while we continue moving toward Workfront, Adobe North Star and automation. The POC should avoid disrupting SFDC / One Cisco CRM work and should produce the evidence needed to plan CTT decommissioning safely</a:t>
            </a:r>
          </a:p>
        </p:txBody>
      </p:sp>
      <p:grpSp>
        <p:nvGrpSpPr>
          <p:cNvPr id="19" name="Group 18">
            <a:extLst>
              <a:ext uri="{FF2B5EF4-FFF2-40B4-BE49-F238E27FC236}">
                <a16:creationId xmlns:a16="http://schemas.microsoft.com/office/drawing/2014/main" id="{A962B48F-388F-0783-A145-1E217E19DCD6}"/>
              </a:ext>
            </a:extLst>
          </p:cNvPr>
          <p:cNvGrpSpPr/>
          <p:nvPr/>
        </p:nvGrpSpPr>
        <p:grpSpPr>
          <a:xfrm>
            <a:off x="663781" y="1994387"/>
            <a:ext cx="3447638" cy="3883711"/>
            <a:chOff x="663781" y="1534242"/>
            <a:chExt cx="3447638" cy="3883711"/>
          </a:xfrm>
        </p:grpSpPr>
        <p:sp>
          <p:nvSpPr>
            <p:cNvPr id="6" name="Rectangle: Rounded Corners 5">
              <a:extLst>
                <a:ext uri="{FF2B5EF4-FFF2-40B4-BE49-F238E27FC236}">
                  <a16:creationId xmlns:a16="http://schemas.microsoft.com/office/drawing/2014/main" id="{7872C8A5-11A3-7FDB-5FDF-5BB185B8C5AE}"/>
                </a:ext>
              </a:extLst>
            </p:cNvPr>
            <p:cNvSpPr/>
            <p:nvPr/>
          </p:nvSpPr>
          <p:spPr>
            <a:xfrm>
              <a:off x="663781" y="1534242"/>
              <a:ext cx="3447638" cy="3883711"/>
            </a:xfrm>
            <a:prstGeom prst="roundRect">
              <a:avLst>
                <a:gd name="adj" fmla="val 837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algn="l"/>
              <a:endParaRPr lang="en-GB" sz="1600" dirty="0">
                <a:solidFill>
                  <a:schemeClr val="bg1"/>
                </a:solidFill>
              </a:endParaRPr>
            </a:p>
          </p:txBody>
        </p:sp>
        <p:cxnSp>
          <p:nvCxnSpPr>
            <p:cNvPr id="7" name="Straight Connector 6">
              <a:extLst>
                <a:ext uri="{FF2B5EF4-FFF2-40B4-BE49-F238E27FC236}">
                  <a16:creationId xmlns:a16="http://schemas.microsoft.com/office/drawing/2014/main" id="{07603110-768D-0205-36DE-9F3E1E2620B3}"/>
                </a:ext>
              </a:extLst>
            </p:cNvPr>
            <p:cNvCxnSpPr>
              <a:cxnSpLocks/>
            </p:cNvCxnSpPr>
            <p:nvPr/>
          </p:nvCxnSpPr>
          <p:spPr>
            <a:xfrm>
              <a:off x="663956" y="2056600"/>
              <a:ext cx="3447288"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8" name="TextBox 7">
              <a:extLst>
                <a:ext uri="{FF2B5EF4-FFF2-40B4-BE49-F238E27FC236}">
                  <a16:creationId xmlns:a16="http://schemas.microsoft.com/office/drawing/2014/main" id="{E0FA2817-81BD-A7E6-83F7-2D1D00AB1724}"/>
                </a:ext>
              </a:extLst>
            </p:cNvPr>
            <p:cNvSpPr txBox="1"/>
            <p:nvPr/>
          </p:nvSpPr>
          <p:spPr>
            <a:xfrm>
              <a:off x="787400" y="1582697"/>
              <a:ext cx="3200400" cy="444500"/>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mn-lt"/>
                  <a:ea typeface="ＭＳ Ｐゴシック" charset="0"/>
                </a:rPr>
                <a:t>Approve</a:t>
              </a:r>
              <a:endParaRPr lang="en-GB" sz="2000" kern="1200" dirty="0" err="1">
                <a:solidFill>
                  <a:schemeClr val="bg1"/>
                </a:solidFill>
                <a:latin typeface="+mn-lt"/>
                <a:ea typeface="ＭＳ Ｐゴシック" charset="0"/>
              </a:endParaRPr>
            </a:p>
          </p:txBody>
        </p:sp>
        <p:sp>
          <p:nvSpPr>
            <p:cNvPr id="9" name="TextBox 8">
              <a:extLst>
                <a:ext uri="{FF2B5EF4-FFF2-40B4-BE49-F238E27FC236}">
                  <a16:creationId xmlns:a16="http://schemas.microsoft.com/office/drawing/2014/main" id="{823668F0-A99E-96B4-EEE8-D80250F7D797}"/>
                </a:ext>
              </a:extLst>
            </p:cNvPr>
            <p:cNvSpPr txBox="1"/>
            <p:nvPr/>
          </p:nvSpPr>
          <p:spPr>
            <a:xfrm>
              <a:off x="730250" y="2185947"/>
              <a:ext cx="3314700" cy="2705802"/>
            </a:xfrm>
            <a:prstGeom prst="rect">
              <a:avLst/>
            </a:prstGeom>
            <a:noFill/>
          </p:spPr>
          <p:txBody>
            <a:bodyPr wrap="square" lIns="0" tIns="0" rIns="0" bIns="0" rtlCol="0">
              <a:noAutofit/>
            </a:bodyPr>
            <a:lstStyle>
              <a:defPPr>
                <a:defRPr lang="en-US"/>
              </a:defPPr>
              <a:lvl1pPr marL="182880" indent="-182880" defTabSz="912276" fontAlgn="base">
                <a:lnSpc>
                  <a:spcPct val="100000"/>
                </a:lnSpc>
                <a:spcBef>
                  <a:spcPts val="0"/>
                </a:spcBef>
                <a:spcAft>
                  <a:spcPts val="1000"/>
                </a:spcAft>
                <a:buClr>
                  <a:schemeClr val="bg1"/>
                </a:buClr>
                <a:buSzPct val="100000"/>
                <a:buFont typeface="Arial" panose="020B0604020202020204" pitchFamily="34" charset="0"/>
                <a:buChar char="•"/>
                <a:defRPr>
                  <a:solidFill>
                    <a:schemeClr val="bg1"/>
                  </a:solidFill>
                  <a:ea typeface="ＭＳ Ｐゴシック" charset="0"/>
                </a:defRPr>
              </a:lvl1pPr>
            </a:lstStyle>
            <a:p>
              <a:r>
                <a:rPr lang="en-US" dirty="0"/>
                <a:t>Agreement to run a Workfront + CTT integration POC.</a:t>
              </a:r>
            </a:p>
            <a:p>
              <a:r>
                <a:rPr lang="en-US" dirty="0"/>
                <a:t>Confirmation that this is an interim bridge, with CTT still on the decommission path.</a:t>
              </a:r>
            </a:p>
            <a:p>
              <a:r>
                <a:rPr lang="en-US" dirty="0"/>
                <a:t>A pilot activity type or business area to test.</a:t>
              </a:r>
            </a:p>
          </p:txBody>
        </p:sp>
      </p:grpSp>
      <p:grpSp>
        <p:nvGrpSpPr>
          <p:cNvPr id="18" name="Group 17">
            <a:extLst>
              <a:ext uri="{FF2B5EF4-FFF2-40B4-BE49-F238E27FC236}">
                <a16:creationId xmlns:a16="http://schemas.microsoft.com/office/drawing/2014/main" id="{E0EC9DCD-CD66-FD77-EDED-FEA4EA06F18B}"/>
              </a:ext>
            </a:extLst>
          </p:cNvPr>
          <p:cNvGrpSpPr/>
          <p:nvPr/>
        </p:nvGrpSpPr>
        <p:grpSpPr>
          <a:xfrm>
            <a:off x="4372181" y="1994387"/>
            <a:ext cx="3447638" cy="3883711"/>
            <a:chOff x="4372181" y="1534242"/>
            <a:chExt cx="3447638" cy="3883711"/>
          </a:xfrm>
        </p:grpSpPr>
        <p:sp>
          <p:nvSpPr>
            <p:cNvPr id="10" name="Rectangle: Rounded Corners 9">
              <a:extLst>
                <a:ext uri="{FF2B5EF4-FFF2-40B4-BE49-F238E27FC236}">
                  <a16:creationId xmlns:a16="http://schemas.microsoft.com/office/drawing/2014/main" id="{ECA18BCD-7F16-7AE9-C3B7-CCE384E5280B}"/>
                </a:ext>
              </a:extLst>
            </p:cNvPr>
            <p:cNvSpPr/>
            <p:nvPr/>
          </p:nvSpPr>
          <p:spPr>
            <a:xfrm>
              <a:off x="4372181" y="1534242"/>
              <a:ext cx="3447638" cy="3883711"/>
            </a:xfrm>
            <a:prstGeom prst="roundRect">
              <a:avLst>
                <a:gd name="adj" fmla="val 837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algn="l"/>
              <a:endParaRPr lang="en-GB" sz="1600" dirty="0">
                <a:solidFill>
                  <a:schemeClr val="bg1"/>
                </a:solidFill>
              </a:endParaRPr>
            </a:p>
          </p:txBody>
        </p:sp>
        <p:cxnSp>
          <p:nvCxnSpPr>
            <p:cNvPr id="11" name="Straight Connector 10">
              <a:extLst>
                <a:ext uri="{FF2B5EF4-FFF2-40B4-BE49-F238E27FC236}">
                  <a16:creationId xmlns:a16="http://schemas.microsoft.com/office/drawing/2014/main" id="{CC73C037-207F-45AD-9D52-5DDE458C9209}"/>
                </a:ext>
              </a:extLst>
            </p:cNvPr>
            <p:cNvCxnSpPr>
              <a:cxnSpLocks/>
            </p:cNvCxnSpPr>
            <p:nvPr/>
          </p:nvCxnSpPr>
          <p:spPr>
            <a:xfrm>
              <a:off x="4372356" y="2056600"/>
              <a:ext cx="3447288"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2" name="TextBox 11">
              <a:extLst>
                <a:ext uri="{FF2B5EF4-FFF2-40B4-BE49-F238E27FC236}">
                  <a16:creationId xmlns:a16="http://schemas.microsoft.com/office/drawing/2014/main" id="{341A013D-4E39-A302-EC91-04AB6AA5E8FD}"/>
                </a:ext>
              </a:extLst>
            </p:cNvPr>
            <p:cNvSpPr txBox="1"/>
            <p:nvPr/>
          </p:nvSpPr>
          <p:spPr>
            <a:xfrm>
              <a:off x="4495800" y="1582697"/>
              <a:ext cx="3200400" cy="444500"/>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mn-lt"/>
                  <a:ea typeface="ＭＳ Ｐゴシック" charset="0"/>
                </a:rPr>
                <a:t>Assign</a:t>
              </a:r>
              <a:endParaRPr lang="en-GB" sz="2000" kern="1200" dirty="0" err="1">
                <a:solidFill>
                  <a:schemeClr val="bg1"/>
                </a:solidFill>
                <a:latin typeface="+mn-lt"/>
                <a:ea typeface="ＭＳ Ｐゴシック" charset="0"/>
              </a:endParaRPr>
            </a:p>
          </p:txBody>
        </p:sp>
        <p:sp>
          <p:nvSpPr>
            <p:cNvPr id="13" name="TextBox 12">
              <a:extLst>
                <a:ext uri="{FF2B5EF4-FFF2-40B4-BE49-F238E27FC236}">
                  <a16:creationId xmlns:a16="http://schemas.microsoft.com/office/drawing/2014/main" id="{15E73CAA-B2AF-1E14-9A49-4F740B602E37}"/>
                </a:ext>
              </a:extLst>
            </p:cNvPr>
            <p:cNvSpPr txBox="1"/>
            <p:nvPr/>
          </p:nvSpPr>
          <p:spPr>
            <a:xfrm>
              <a:off x="4438650" y="2185947"/>
              <a:ext cx="3314700" cy="2705802"/>
            </a:xfrm>
            <a:prstGeom prst="rect">
              <a:avLst/>
            </a:prstGeom>
            <a:noFill/>
          </p:spPr>
          <p:txBody>
            <a:bodyPr wrap="square" lIns="0" tIns="0" rIns="0" bIns="0" rtlCol="0">
              <a:noAutofit/>
            </a:bodyPr>
            <a:lstStyle>
              <a:defPPr>
                <a:defRPr lang="en-US"/>
              </a:defPPr>
              <a:lvl1pPr marL="182880" indent="-182880" defTabSz="912276" fontAlgn="base">
                <a:lnSpc>
                  <a:spcPct val="100000"/>
                </a:lnSpc>
                <a:spcBef>
                  <a:spcPts val="0"/>
                </a:spcBef>
                <a:spcAft>
                  <a:spcPts val="1000"/>
                </a:spcAft>
                <a:buClr>
                  <a:schemeClr val="bg1"/>
                </a:buClr>
                <a:buSzPct val="100000"/>
                <a:buFont typeface="Arial" panose="020B0604020202020204" pitchFamily="34" charset="0"/>
                <a:buChar char="•"/>
                <a:defRPr>
                  <a:solidFill>
                    <a:schemeClr val="bg1"/>
                  </a:solidFill>
                  <a:ea typeface="ＭＳ Ｐゴシック" charset="0"/>
                </a:defRPr>
              </a:lvl1pPr>
            </a:lstStyle>
            <a:p>
              <a:r>
                <a:rPr lang="en-US" dirty="0"/>
                <a:t>Workfront owner for task fields and pilot configuration.</a:t>
              </a:r>
            </a:p>
            <a:p>
              <a:r>
                <a:rPr lang="en-US" dirty="0"/>
                <a:t>CTT/integration owner for ID creation and write-back flow.</a:t>
              </a:r>
            </a:p>
            <a:p>
              <a:r>
                <a:rPr lang="en-US" dirty="0"/>
                <a:t>Marketing reporting owner to validate FY27 data elements and outputs.</a:t>
              </a:r>
            </a:p>
            <a:p>
              <a:endParaRPr lang="en-GB" dirty="0" err="1"/>
            </a:p>
          </p:txBody>
        </p:sp>
      </p:grpSp>
      <p:grpSp>
        <p:nvGrpSpPr>
          <p:cNvPr id="5" name="Group 4">
            <a:extLst>
              <a:ext uri="{FF2B5EF4-FFF2-40B4-BE49-F238E27FC236}">
                <a16:creationId xmlns:a16="http://schemas.microsoft.com/office/drawing/2014/main" id="{12FA16EC-B7A9-7F47-7BB5-A4215295B559}"/>
              </a:ext>
            </a:extLst>
          </p:cNvPr>
          <p:cNvGrpSpPr/>
          <p:nvPr/>
        </p:nvGrpSpPr>
        <p:grpSpPr>
          <a:xfrm>
            <a:off x="8080581" y="1992041"/>
            <a:ext cx="3447638" cy="3883711"/>
            <a:chOff x="8080581" y="1531896"/>
            <a:chExt cx="3447638" cy="3883711"/>
          </a:xfrm>
        </p:grpSpPr>
        <p:sp>
          <p:nvSpPr>
            <p:cNvPr id="14" name="Rectangle: Rounded Corners 13">
              <a:extLst>
                <a:ext uri="{FF2B5EF4-FFF2-40B4-BE49-F238E27FC236}">
                  <a16:creationId xmlns:a16="http://schemas.microsoft.com/office/drawing/2014/main" id="{1D9191CC-490C-A255-2345-C55B930713AE}"/>
                </a:ext>
              </a:extLst>
            </p:cNvPr>
            <p:cNvSpPr/>
            <p:nvPr/>
          </p:nvSpPr>
          <p:spPr>
            <a:xfrm>
              <a:off x="8080581" y="1531896"/>
              <a:ext cx="3447638" cy="3883711"/>
            </a:xfrm>
            <a:prstGeom prst="roundRect">
              <a:avLst>
                <a:gd name="adj" fmla="val 837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algn="l"/>
              <a:endParaRPr lang="en-GB" sz="1600" dirty="0">
                <a:solidFill>
                  <a:schemeClr val="bg1"/>
                </a:solidFill>
              </a:endParaRPr>
            </a:p>
          </p:txBody>
        </p:sp>
        <p:cxnSp>
          <p:nvCxnSpPr>
            <p:cNvPr id="15" name="Straight Connector 14">
              <a:extLst>
                <a:ext uri="{FF2B5EF4-FFF2-40B4-BE49-F238E27FC236}">
                  <a16:creationId xmlns:a16="http://schemas.microsoft.com/office/drawing/2014/main" id="{EF889BD1-95A1-1D3E-7F3E-BB09211EB53A}"/>
                </a:ext>
              </a:extLst>
            </p:cNvPr>
            <p:cNvCxnSpPr>
              <a:cxnSpLocks/>
            </p:cNvCxnSpPr>
            <p:nvPr/>
          </p:nvCxnSpPr>
          <p:spPr>
            <a:xfrm>
              <a:off x="8080756" y="2054254"/>
              <a:ext cx="3447288"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6" name="TextBox 15">
              <a:extLst>
                <a:ext uri="{FF2B5EF4-FFF2-40B4-BE49-F238E27FC236}">
                  <a16:creationId xmlns:a16="http://schemas.microsoft.com/office/drawing/2014/main" id="{B0BCDEC8-BE7D-29BB-8EBD-3BADCA726355}"/>
                </a:ext>
              </a:extLst>
            </p:cNvPr>
            <p:cNvSpPr txBox="1"/>
            <p:nvPr/>
          </p:nvSpPr>
          <p:spPr>
            <a:xfrm>
              <a:off x="8204200" y="1580351"/>
              <a:ext cx="3200400" cy="444500"/>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000" dirty="0">
                  <a:solidFill>
                    <a:schemeClr val="bg1"/>
                  </a:solidFill>
                  <a:ea typeface="ＭＳ Ｐゴシック" charset="0"/>
                </a:rPr>
                <a:t>Measure</a:t>
              </a:r>
              <a:endParaRPr lang="en-GB" sz="2000" kern="1200" dirty="0" err="1">
                <a:solidFill>
                  <a:schemeClr val="bg1"/>
                </a:solidFill>
                <a:latin typeface="+mn-lt"/>
                <a:ea typeface="ＭＳ Ｐゴシック" charset="0"/>
              </a:endParaRPr>
            </a:p>
          </p:txBody>
        </p:sp>
        <p:sp>
          <p:nvSpPr>
            <p:cNvPr id="17" name="TextBox 16">
              <a:extLst>
                <a:ext uri="{FF2B5EF4-FFF2-40B4-BE49-F238E27FC236}">
                  <a16:creationId xmlns:a16="http://schemas.microsoft.com/office/drawing/2014/main" id="{44B74BEC-CE16-D45D-5A27-25D1C5B7B378}"/>
                </a:ext>
              </a:extLst>
            </p:cNvPr>
            <p:cNvSpPr txBox="1"/>
            <p:nvPr/>
          </p:nvSpPr>
          <p:spPr>
            <a:xfrm>
              <a:off x="8147050" y="2183600"/>
              <a:ext cx="3314700" cy="2986843"/>
            </a:xfrm>
            <a:prstGeom prst="rect">
              <a:avLst/>
            </a:prstGeom>
            <a:noFill/>
          </p:spPr>
          <p:txBody>
            <a:bodyPr wrap="square" lIns="0" tIns="0" rIns="0" bIns="0" rtlCol="0">
              <a:noAutofit/>
            </a:bodyPr>
            <a:lstStyle>
              <a:defPPr>
                <a:defRPr lang="en-US"/>
              </a:defPPr>
              <a:lvl1pPr marL="182880" indent="-182880" defTabSz="912276" fontAlgn="base">
                <a:lnSpc>
                  <a:spcPct val="100000"/>
                </a:lnSpc>
                <a:spcBef>
                  <a:spcPts val="0"/>
                </a:spcBef>
                <a:spcAft>
                  <a:spcPts val="1000"/>
                </a:spcAft>
                <a:buClr>
                  <a:schemeClr val="bg1"/>
                </a:buClr>
                <a:buSzPct val="100000"/>
                <a:buFont typeface="Arial" panose="020B0604020202020204" pitchFamily="34" charset="0"/>
                <a:buChar char="•"/>
                <a:defRPr>
                  <a:solidFill>
                    <a:schemeClr val="bg1"/>
                  </a:solidFill>
                  <a:ea typeface="ＭＳ Ｐゴシック" charset="0"/>
                </a:defRPr>
              </a:lvl1pPr>
            </a:lstStyle>
            <a:p>
              <a:r>
                <a:rPr lang="en-US" dirty="0"/>
                <a:t>Pilot coverage: selected activations receive expected IDs.</a:t>
              </a:r>
            </a:p>
            <a:p>
              <a:r>
                <a:rPr lang="en-US" dirty="0"/>
                <a:t>Data quality: required FY27 attributes are populated consistently.</a:t>
              </a:r>
            </a:p>
            <a:p>
              <a:r>
                <a:rPr lang="en-US" dirty="0"/>
                <a:t>Decision output: scale/decommission recommendation with blockers and next steps..</a:t>
              </a:r>
            </a:p>
          </p:txBody>
        </p:sp>
      </p:grpSp>
    </p:spTree>
    <p:extLst>
      <p:ext uri="{BB962C8B-B14F-4D97-AF65-F5344CB8AC3E}">
        <p14:creationId xmlns:p14="http://schemas.microsoft.com/office/powerpoint/2010/main" val="1439107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52EC08-0F14-7A54-ABC4-D4B3D7C21C38}"/>
              </a:ext>
            </a:extLst>
          </p:cNvPr>
          <p:cNvSpPr>
            <a:spLocks noGrp="1"/>
          </p:cNvSpPr>
          <p:nvPr>
            <p:ph type="title"/>
          </p:nvPr>
        </p:nvSpPr>
        <p:spPr>
          <a:xfrm>
            <a:off x="323850" y="3114675"/>
            <a:ext cx="3150870" cy="867389"/>
          </a:xfrm>
        </p:spPr>
        <p:txBody>
          <a:bodyPr/>
          <a:lstStyle/>
          <a:p>
            <a:r>
              <a:rPr lang="en-US" dirty="0"/>
              <a:t>Thank You</a:t>
            </a:r>
            <a:endParaRPr lang="en-GB" dirty="0"/>
          </a:p>
        </p:txBody>
      </p:sp>
    </p:spTree>
    <p:extLst>
      <p:ext uri="{BB962C8B-B14F-4D97-AF65-F5344CB8AC3E}">
        <p14:creationId xmlns:p14="http://schemas.microsoft.com/office/powerpoint/2010/main" val="3887413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4389CC-1549-C9D4-E83A-2B78E9D43B36}"/>
              </a:ext>
            </a:extLst>
          </p:cNvPr>
          <p:cNvSpPr>
            <a:spLocks noGrp="1"/>
          </p:cNvSpPr>
          <p:nvPr>
            <p:ph type="title"/>
          </p:nvPr>
        </p:nvSpPr>
        <p:spPr/>
        <p:txBody>
          <a:bodyPr/>
          <a:lstStyle/>
          <a:p>
            <a:r>
              <a:rPr lang="en-US" dirty="0"/>
              <a:t>Backup Slides</a:t>
            </a:r>
            <a:endParaRPr lang="en-GB" dirty="0"/>
          </a:p>
        </p:txBody>
      </p:sp>
    </p:spTree>
    <p:extLst>
      <p:ext uri="{BB962C8B-B14F-4D97-AF65-F5344CB8AC3E}">
        <p14:creationId xmlns:p14="http://schemas.microsoft.com/office/powerpoint/2010/main" val="673668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FCC63-B862-C6FA-E261-2FF0EF438CF4}"/>
              </a:ext>
            </a:extLst>
          </p:cNvPr>
          <p:cNvSpPr>
            <a:spLocks noGrp="1"/>
          </p:cNvSpPr>
          <p:nvPr>
            <p:ph type="title"/>
          </p:nvPr>
        </p:nvSpPr>
        <p:spPr/>
        <p:txBody>
          <a:bodyPr/>
          <a:lstStyle/>
          <a:p>
            <a:r>
              <a:rPr lang="en-US" dirty="0"/>
              <a:t>The Reality – Workfront vs CTT</a:t>
            </a:r>
            <a:endParaRPr lang="en-GB" dirty="0"/>
          </a:p>
        </p:txBody>
      </p:sp>
      <p:sp>
        <p:nvSpPr>
          <p:cNvPr id="4" name="Rectangle: Rounded Corners 3">
            <a:extLst>
              <a:ext uri="{FF2B5EF4-FFF2-40B4-BE49-F238E27FC236}">
                <a16:creationId xmlns:a16="http://schemas.microsoft.com/office/drawing/2014/main" id="{B30783E4-C48F-5985-DC50-FD488B0BE085}"/>
              </a:ext>
            </a:extLst>
          </p:cNvPr>
          <p:cNvSpPr/>
          <p:nvPr/>
        </p:nvSpPr>
        <p:spPr>
          <a:xfrm>
            <a:off x="717140" y="1004939"/>
            <a:ext cx="1805203" cy="371659"/>
          </a:xfrm>
          <a:prstGeom prst="roundRect">
            <a:avLst/>
          </a:prstGeom>
          <a:gradFill flip="none" rotWithShape="1">
            <a:gsLst>
              <a:gs pos="5000">
                <a:srgbClr val="0A60FF"/>
              </a:gs>
              <a:gs pos="95000">
                <a:srgbClr val="02C8FF"/>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t>Position</a:t>
            </a:r>
            <a:endParaRPr lang="en-GB" dirty="0"/>
          </a:p>
        </p:txBody>
      </p:sp>
      <p:sp>
        <p:nvSpPr>
          <p:cNvPr id="5" name="TextBox 4">
            <a:extLst>
              <a:ext uri="{FF2B5EF4-FFF2-40B4-BE49-F238E27FC236}">
                <a16:creationId xmlns:a16="http://schemas.microsoft.com/office/drawing/2014/main" id="{3C7988E1-6D95-FB75-4D8E-78A19247D7DE}"/>
              </a:ext>
            </a:extLst>
          </p:cNvPr>
          <p:cNvSpPr txBox="1"/>
          <p:nvPr/>
        </p:nvSpPr>
        <p:spPr>
          <a:xfrm>
            <a:off x="798379" y="1544657"/>
            <a:ext cx="10595242" cy="584775"/>
          </a:xfrm>
          <a:prstGeom prst="rect">
            <a:avLst/>
          </a:prstGeom>
          <a:noFill/>
        </p:spPr>
        <p:txBody>
          <a:bodyPr wrap="square" lIns="0" tIns="0" rIns="0" bIns="0" rtlCol="0">
            <a:noAutofit/>
          </a:bodyPr>
          <a:lstStyle>
            <a:defPPr>
              <a:defRPr lang="en-US"/>
            </a:defPPr>
            <a:lvl1pPr algn="ctr" defTabSz="912276" fontAlgn="base">
              <a:lnSpc>
                <a:spcPct val="100000"/>
              </a:lnSpc>
              <a:spcBef>
                <a:spcPts val="0"/>
              </a:spcBef>
              <a:spcAft>
                <a:spcPts val="1000"/>
              </a:spcAft>
              <a:buClr>
                <a:schemeClr val="bg1"/>
              </a:buClr>
              <a:buSzPct val="100000"/>
              <a:defRPr sz="1600">
                <a:solidFill>
                  <a:schemeClr val="bg1"/>
                </a:solidFill>
                <a:ea typeface="ＭＳ Ｐゴシック" charset="0"/>
              </a:defRPr>
            </a:lvl1pPr>
          </a:lstStyle>
          <a:p>
            <a:r>
              <a:rPr lang="en-US" dirty="0"/>
              <a:t>Workfront is the destination, but CTT is still the operating model and a direct cutover risks breaking measurement before all upstream and downstream dependencies are ready</a:t>
            </a:r>
          </a:p>
        </p:txBody>
      </p:sp>
      <p:grpSp>
        <p:nvGrpSpPr>
          <p:cNvPr id="15" name="Group 14">
            <a:extLst>
              <a:ext uri="{FF2B5EF4-FFF2-40B4-BE49-F238E27FC236}">
                <a16:creationId xmlns:a16="http://schemas.microsoft.com/office/drawing/2014/main" id="{04F3E2F3-F750-60BD-2B6B-E725F05F1F2E}"/>
              </a:ext>
            </a:extLst>
          </p:cNvPr>
          <p:cNvGrpSpPr/>
          <p:nvPr/>
        </p:nvGrpSpPr>
        <p:grpSpPr>
          <a:xfrm>
            <a:off x="663781" y="2387600"/>
            <a:ext cx="3447638" cy="3638550"/>
            <a:chOff x="731521" y="2387600"/>
            <a:chExt cx="3447638" cy="3638550"/>
          </a:xfrm>
        </p:grpSpPr>
        <p:sp>
          <p:nvSpPr>
            <p:cNvPr id="7" name="Rectangle: Rounded Corners 6">
              <a:extLst>
                <a:ext uri="{FF2B5EF4-FFF2-40B4-BE49-F238E27FC236}">
                  <a16:creationId xmlns:a16="http://schemas.microsoft.com/office/drawing/2014/main" id="{27AD45BD-02CC-8DE7-EC94-CC28CB112D62}"/>
                </a:ext>
              </a:extLst>
            </p:cNvPr>
            <p:cNvSpPr/>
            <p:nvPr/>
          </p:nvSpPr>
          <p:spPr>
            <a:xfrm>
              <a:off x="731521" y="2387600"/>
              <a:ext cx="3447638" cy="3638550"/>
            </a:xfrm>
            <a:prstGeom prst="roundRect">
              <a:avLst>
                <a:gd name="adj" fmla="val 837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algn="l"/>
              <a:endParaRPr lang="en-GB" sz="1600" dirty="0">
                <a:solidFill>
                  <a:schemeClr val="bg1"/>
                </a:solidFill>
              </a:endParaRPr>
            </a:p>
          </p:txBody>
        </p:sp>
        <p:cxnSp>
          <p:nvCxnSpPr>
            <p:cNvPr id="10" name="Straight Connector 9">
              <a:extLst>
                <a:ext uri="{FF2B5EF4-FFF2-40B4-BE49-F238E27FC236}">
                  <a16:creationId xmlns:a16="http://schemas.microsoft.com/office/drawing/2014/main" id="{9EECEFF8-D9C0-A4E3-4A50-9600C8C8FD02}"/>
                </a:ext>
              </a:extLst>
            </p:cNvPr>
            <p:cNvCxnSpPr>
              <a:cxnSpLocks/>
            </p:cNvCxnSpPr>
            <p:nvPr/>
          </p:nvCxnSpPr>
          <p:spPr>
            <a:xfrm>
              <a:off x="731696" y="2909957"/>
              <a:ext cx="3447288"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1" name="TextBox 10">
              <a:extLst>
                <a:ext uri="{FF2B5EF4-FFF2-40B4-BE49-F238E27FC236}">
                  <a16:creationId xmlns:a16="http://schemas.microsoft.com/office/drawing/2014/main" id="{A8BFEA6B-DCC7-E53E-633F-BF1C65E49E1C}"/>
                </a:ext>
              </a:extLst>
            </p:cNvPr>
            <p:cNvSpPr txBox="1"/>
            <p:nvPr/>
          </p:nvSpPr>
          <p:spPr>
            <a:xfrm>
              <a:off x="855140" y="2436054"/>
              <a:ext cx="3200400" cy="444500"/>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Known Constraints</a:t>
              </a:r>
              <a:endParaRPr lang="en-GB" sz="1600" kern="1200" dirty="0" err="1">
                <a:solidFill>
                  <a:schemeClr val="bg1"/>
                </a:solidFill>
                <a:latin typeface="+mn-lt"/>
                <a:ea typeface="ＭＳ Ｐゴシック" charset="0"/>
              </a:endParaRPr>
            </a:p>
          </p:txBody>
        </p:sp>
        <p:sp>
          <p:nvSpPr>
            <p:cNvPr id="12" name="TextBox 11">
              <a:extLst>
                <a:ext uri="{FF2B5EF4-FFF2-40B4-BE49-F238E27FC236}">
                  <a16:creationId xmlns:a16="http://schemas.microsoft.com/office/drawing/2014/main" id="{796BECDB-9767-FEE2-8A4A-49242A773874}"/>
                </a:ext>
              </a:extLst>
            </p:cNvPr>
            <p:cNvSpPr txBox="1"/>
            <p:nvPr/>
          </p:nvSpPr>
          <p:spPr>
            <a:xfrm>
              <a:off x="797990" y="3039304"/>
              <a:ext cx="3314700" cy="2705802"/>
            </a:xfrm>
            <a:prstGeom prst="rect">
              <a:avLst/>
            </a:prstGeom>
            <a:noFill/>
          </p:spPr>
          <p:txBody>
            <a:bodyPr wrap="squar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r>
                <a:rPr lang="en-US" sz="1400" kern="1200" dirty="0">
                  <a:solidFill>
                    <a:schemeClr val="bg1"/>
                  </a:solidFill>
                  <a:latin typeface="+mn-lt"/>
                  <a:ea typeface="ＭＳ Ｐゴシック" charset="0"/>
                </a:rPr>
                <a:t>Not all marketing activities pass through Workfront Today</a:t>
              </a:r>
            </a:p>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r>
                <a:rPr lang="en-US" sz="1400" dirty="0">
                  <a:solidFill>
                    <a:schemeClr val="bg1"/>
                  </a:solidFill>
                  <a:ea typeface="ＭＳ Ｐゴシック" charset="0"/>
                </a:rPr>
                <a:t>Current SFDC change constraints limit how quickly new tracking parameters can be adopted downstream</a:t>
              </a:r>
            </a:p>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r>
                <a:rPr lang="en-US" sz="1400" dirty="0">
                  <a:solidFill>
                    <a:schemeClr val="bg1"/>
                  </a:solidFill>
                  <a:ea typeface="ＭＳ Ｐゴシック" charset="0"/>
                </a:rPr>
                <a:t>Attribution models and funnel reports still use CTT IDs</a:t>
              </a:r>
            </a:p>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r>
                <a:rPr lang="en-US" sz="1400" kern="1200" dirty="0">
                  <a:solidFill>
                    <a:schemeClr val="bg1"/>
                  </a:solidFill>
                  <a:latin typeface="+mn-lt"/>
                  <a:ea typeface="ＭＳ Ｐゴシック" charset="0"/>
                </a:rPr>
                <a:t>Future </a:t>
              </a:r>
              <a:r>
                <a:rPr lang="en-US" sz="1400" dirty="0">
                  <a:solidFill>
                    <a:schemeClr val="bg1"/>
                  </a:solidFill>
                  <a:ea typeface="ＭＳ Ｐゴシック" charset="0"/>
                </a:rPr>
                <a:t>marketing automation tooling and data lake creation is not fully settled</a:t>
              </a:r>
              <a:endParaRPr lang="en-GB" sz="1400" kern="1200" dirty="0" err="1">
                <a:solidFill>
                  <a:schemeClr val="bg1"/>
                </a:solidFill>
                <a:latin typeface="+mn-lt"/>
                <a:ea typeface="ＭＳ Ｐゴシック" charset="0"/>
              </a:endParaRPr>
            </a:p>
          </p:txBody>
        </p:sp>
      </p:grpSp>
      <p:grpSp>
        <p:nvGrpSpPr>
          <p:cNvPr id="16" name="Group 15">
            <a:extLst>
              <a:ext uri="{FF2B5EF4-FFF2-40B4-BE49-F238E27FC236}">
                <a16:creationId xmlns:a16="http://schemas.microsoft.com/office/drawing/2014/main" id="{68F3A72C-D827-0787-9578-DB2F014F169B}"/>
              </a:ext>
            </a:extLst>
          </p:cNvPr>
          <p:cNvGrpSpPr/>
          <p:nvPr/>
        </p:nvGrpSpPr>
        <p:grpSpPr>
          <a:xfrm>
            <a:off x="4372181" y="2387600"/>
            <a:ext cx="3447638" cy="3638550"/>
            <a:chOff x="731521" y="2387600"/>
            <a:chExt cx="3447638" cy="3638550"/>
          </a:xfrm>
        </p:grpSpPr>
        <p:sp>
          <p:nvSpPr>
            <p:cNvPr id="17" name="Rectangle: Rounded Corners 16">
              <a:extLst>
                <a:ext uri="{FF2B5EF4-FFF2-40B4-BE49-F238E27FC236}">
                  <a16:creationId xmlns:a16="http://schemas.microsoft.com/office/drawing/2014/main" id="{58892526-6BFD-4AA9-89AC-77C8E9AC55D9}"/>
                </a:ext>
              </a:extLst>
            </p:cNvPr>
            <p:cNvSpPr/>
            <p:nvPr/>
          </p:nvSpPr>
          <p:spPr>
            <a:xfrm>
              <a:off x="731521" y="2387600"/>
              <a:ext cx="3447638" cy="3638550"/>
            </a:xfrm>
            <a:prstGeom prst="roundRect">
              <a:avLst>
                <a:gd name="adj" fmla="val 837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algn="l"/>
              <a:endParaRPr lang="en-GB" sz="1600" dirty="0">
                <a:solidFill>
                  <a:schemeClr val="bg1"/>
                </a:solidFill>
              </a:endParaRPr>
            </a:p>
          </p:txBody>
        </p:sp>
        <p:cxnSp>
          <p:nvCxnSpPr>
            <p:cNvPr id="18" name="Straight Connector 17">
              <a:extLst>
                <a:ext uri="{FF2B5EF4-FFF2-40B4-BE49-F238E27FC236}">
                  <a16:creationId xmlns:a16="http://schemas.microsoft.com/office/drawing/2014/main" id="{D8462E22-0301-0510-B669-64DB9BC97342}"/>
                </a:ext>
              </a:extLst>
            </p:cNvPr>
            <p:cNvCxnSpPr>
              <a:cxnSpLocks/>
            </p:cNvCxnSpPr>
            <p:nvPr/>
          </p:nvCxnSpPr>
          <p:spPr>
            <a:xfrm>
              <a:off x="731696" y="2909957"/>
              <a:ext cx="3447288"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9" name="TextBox 18">
              <a:extLst>
                <a:ext uri="{FF2B5EF4-FFF2-40B4-BE49-F238E27FC236}">
                  <a16:creationId xmlns:a16="http://schemas.microsoft.com/office/drawing/2014/main" id="{43F5C2B3-75AD-2F42-D784-41E4F41B5E77}"/>
                </a:ext>
              </a:extLst>
            </p:cNvPr>
            <p:cNvSpPr txBox="1"/>
            <p:nvPr/>
          </p:nvSpPr>
          <p:spPr>
            <a:xfrm>
              <a:off x="855140" y="2436054"/>
              <a:ext cx="3200400" cy="444500"/>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Embedded CTT Role</a:t>
              </a:r>
              <a:endParaRPr lang="en-GB" sz="1600" kern="1200" dirty="0" err="1">
                <a:solidFill>
                  <a:schemeClr val="bg1"/>
                </a:solidFill>
                <a:latin typeface="+mn-lt"/>
                <a:ea typeface="ＭＳ Ｐゴシック" charset="0"/>
              </a:endParaRPr>
            </a:p>
          </p:txBody>
        </p:sp>
        <p:sp>
          <p:nvSpPr>
            <p:cNvPr id="20" name="TextBox 19">
              <a:extLst>
                <a:ext uri="{FF2B5EF4-FFF2-40B4-BE49-F238E27FC236}">
                  <a16:creationId xmlns:a16="http://schemas.microsoft.com/office/drawing/2014/main" id="{AFA808F4-536E-1658-7AF0-56D46B2B1F2C}"/>
                </a:ext>
              </a:extLst>
            </p:cNvPr>
            <p:cNvSpPr txBox="1"/>
            <p:nvPr/>
          </p:nvSpPr>
          <p:spPr>
            <a:xfrm>
              <a:off x="797990" y="3039304"/>
              <a:ext cx="3314700" cy="2705802"/>
            </a:xfrm>
            <a:prstGeom prst="rect">
              <a:avLst/>
            </a:prstGeom>
            <a:noFill/>
          </p:spPr>
          <p:txBody>
            <a:bodyPr wrap="squar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r>
                <a:rPr lang="en-US" sz="1400" kern="1200" dirty="0">
                  <a:solidFill>
                    <a:schemeClr val="bg1"/>
                  </a:solidFill>
                  <a:latin typeface="+mn-lt"/>
                  <a:ea typeface="ＭＳ Ｐゴシック" charset="0"/>
                </a:rPr>
                <a:t>Activity ID tracks marketing activities and program alignment</a:t>
              </a:r>
            </a:p>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r>
                <a:rPr lang="en-US" sz="1400" dirty="0">
                  <a:solidFill>
                    <a:schemeClr val="bg1"/>
                  </a:solidFill>
                  <a:ea typeface="ＭＳ Ｐゴシック" charset="0"/>
                </a:rPr>
                <a:t>Offer ID tracks content consumed by customers</a:t>
              </a:r>
            </a:p>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r>
                <a:rPr lang="en-US" sz="1400" kern="1200" dirty="0">
                  <a:solidFill>
                    <a:schemeClr val="bg1"/>
                  </a:solidFill>
                  <a:latin typeface="+mn-lt"/>
                  <a:ea typeface="ＭＳ Ｐゴシック" charset="0"/>
                </a:rPr>
                <a:t>Drive to ID tracks the channel that delivered th</a:t>
              </a:r>
              <a:r>
                <a:rPr lang="en-US" sz="1400" dirty="0">
                  <a:solidFill>
                    <a:schemeClr val="bg1"/>
                  </a:solidFill>
                  <a:ea typeface="ＭＳ Ｐゴシック" charset="0"/>
                </a:rPr>
                <a:t>e touchpoint</a:t>
              </a:r>
            </a:p>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r>
                <a:rPr lang="en-US" sz="1400" kern="1200" dirty="0">
                  <a:solidFill>
                    <a:schemeClr val="bg1"/>
                  </a:solidFill>
                  <a:latin typeface="+mn-lt"/>
                  <a:ea typeface="ＭＳ Ｐゴシック" charset="0"/>
                </a:rPr>
                <a:t>CTT attributes are used across lead enrichment, lead creation, routing and reporting</a:t>
              </a:r>
              <a:endParaRPr lang="en-GB" sz="1400" kern="1200" dirty="0" err="1">
                <a:solidFill>
                  <a:schemeClr val="bg1"/>
                </a:solidFill>
                <a:latin typeface="+mn-lt"/>
                <a:ea typeface="ＭＳ Ｐゴシック" charset="0"/>
              </a:endParaRPr>
            </a:p>
          </p:txBody>
        </p:sp>
      </p:grpSp>
      <p:grpSp>
        <p:nvGrpSpPr>
          <p:cNvPr id="22" name="Group 21">
            <a:extLst>
              <a:ext uri="{FF2B5EF4-FFF2-40B4-BE49-F238E27FC236}">
                <a16:creationId xmlns:a16="http://schemas.microsoft.com/office/drawing/2014/main" id="{19D07CBE-E359-AC46-1B24-ADDC2C3C4665}"/>
              </a:ext>
            </a:extLst>
          </p:cNvPr>
          <p:cNvGrpSpPr/>
          <p:nvPr/>
        </p:nvGrpSpPr>
        <p:grpSpPr>
          <a:xfrm>
            <a:off x="8080581" y="2385254"/>
            <a:ext cx="3447638" cy="3638550"/>
            <a:chOff x="731521" y="2387600"/>
            <a:chExt cx="3447638" cy="3638550"/>
          </a:xfrm>
        </p:grpSpPr>
        <p:sp>
          <p:nvSpPr>
            <p:cNvPr id="23" name="Rectangle: Rounded Corners 22">
              <a:extLst>
                <a:ext uri="{FF2B5EF4-FFF2-40B4-BE49-F238E27FC236}">
                  <a16:creationId xmlns:a16="http://schemas.microsoft.com/office/drawing/2014/main" id="{5369F9B0-E64D-64EA-4E57-8F7B7F747E45}"/>
                </a:ext>
              </a:extLst>
            </p:cNvPr>
            <p:cNvSpPr/>
            <p:nvPr/>
          </p:nvSpPr>
          <p:spPr>
            <a:xfrm>
              <a:off x="731521" y="2387600"/>
              <a:ext cx="3447638" cy="3638550"/>
            </a:xfrm>
            <a:prstGeom prst="roundRect">
              <a:avLst>
                <a:gd name="adj" fmla="val 837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algn="l"/>
              <a:endParaRPr lang="en-GB" sz="1600" dirty="0">
                <a:solidFill>
                  <a:schemeClr val="bg1"/>
                </a:solidFill>
              </a:endParaRPr>
            </a:p>
          </p:txBody>
        </p:sp>
        <p:cxnSp>
          <p:nvCxnSpPr>
            <p:cNvPr id="24" name="Straight Connector 23">
              <a:extLst>
                <a:ext uri="{FF2B5EF4-FFF2-40B4-BE49-F238E27FC236}">
                  <a16:creationId xmlns:a16="http://schemas.microsoft.com/office/drawing/2014/main" id="{CF94EA6F-9D06-CBB0-4FEE-C0F5FD9DD197}"/>
                </a:ext>
              </a:extLst>
            </p:cNvPr>
            <p:cNvCxnSpPr>
              <a:cxnSpLocks/>
            </p:cNvCxnSpPr>
            <p:nvPr/>
          </p:nvCxnSpPr>
          <p:spPr>
            <a:xfrm>
              <a:off x="731696" y="2909957"/>
              <a:ext cx="3447288"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5" name="TextBox 24">
              <a:extLst>
                <a:ext uri="{FF2B5EF4-FFF2-40B4-BE49-F238E27FC236}">
                  <a16:creationId xmlns:a16="http://schemas.microsoft.com/office/drawing/2014/main" id="{B954BDCF-E15A-703D-E7BE-C8167E07027A}"/>
                </a:ext>
              </a:extLst>
            </p:cNvPr>
            <p:cNvSpPr txBox="1"/>
            <p:nvPr/>
          </p:nvSpPr>
          <p:spPr>
            <a:xfrm>
              <a:off x="855140" y="2436054"/>
              <a:ext cx="3200400" cy="444500"/>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Business Implication</a:t>
              </a:r>
              <a:endParaRPr lang="en-GB" sz="1600" kern="1200" dirty="0" err="1">
                <a:solidFill>
                  <a:schemeClr val="bg1"/>
                </a:solidFill>
                <a:latin typeface="+mn-lt"/>
                <a:ea typeface="ＭＳ Ｐゴシック" charset="0"/>
              </a:endParaRPr>
            </a:p>
          </p:txBody>
        </p:sp>
        <p:sp>
          <p:nvSpPr>
            <p:cNvPr id="26" name="TextBox 25">
              <a:extLst>
                <a:ext uri="{FF2B5EF4-FFF2-40B4-BE49-F238E27FC236}">
                  <a16:creationId xmlns:a16="http://schemas.microsoft.com/office/drawing/2014/main" id="{EA1B3FFA-3EC6-E534-8FE3-02E037C4195D}"/>
                </a:ext>
              </a:extLst>
            </p:cNvPr>
            <p:cNvSpPr txBox="1"/>
            <p:nvPr/>
          </p:nvSpPr>
          <p:spPr>
            <a:xfrm>
              <a:off x="797990" y="3039304"/>
              <a:ext cx="3314700" cy="2705802"/>
            </a:xfrm>
            <a:prstGeom prst="rect">
              <a:avLst/>
            </a:prstGeom>
            <a:noFill/>
          </p:spPr>
          <p:txBody>
            <a:bodyPr wrap="squar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r>
                <a:rPr lang="en-US" sz="1400" kern="1200" dirty="0">
                  <a:solidFill>
                    <a:schemeClr val="bg1"/>
                  </a:solidFill>
                  <a:latin typeface="+mn-lt"/>
                  <a:ea typeface="ＭＳ Ｐゴシック" charset="0"/>
                </a:rPr>
                <a:t>If CTT is removed before readiness is proven, teams may move to Workfront without reliable reporting</a:t>
              </a:r>
            </a:p>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r>
                <a:rPr lang="en-US" sz="1400" dirty="0">
                  <a:solidFill>
                    <a:schemeClr val="bg1"/>
                  </a:solidFill>
                  <a:ea typeface="ＭＳ Ｐゴシック" charset="0"/>
                </a:rPr>
                <a:t>Marketing performance insight could be fragmented between online &amp; offline and non-Workfront activities</a:t>
              </a:r>
            </a:p>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r>
                <a:rPr lang="en-US" sz="1400" dirty="0">
                  <a:solidFill>
                    <a:schemeClr val="bg1"/>
                  </a:solidFill>
                  <a:ea typeface="ＭＳ Ｐゴシック" charset="0"/>
                </a:rPr>
                <a:t>The transition may be slow due to higher priority projects that are still “in flight”</a:t>
              </a:r>
            </a:p>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400" kern="1200" dirty="0" err="1">
                <a:solidFill>
                  <a:schemeClr val="bg1"/>
                </a:solidFill>
                <a:latin typeface="+mn-lt"/>
                <a:ea typeface="ＭＳ Ｐゴシック" charset="0"/>
              </a:endParaRPr>
            </a:p>
          </p:txBody>
        </p:sp>
      </p:grpSp>
    </p:spTree>
    <p:extLst>
      <p:ext uri="{BB962C8B-B14F-4D97-AF65-F5344CB8AC3E}">
        <p14:creationId xmlns:p14="http://schemas.microsoft.com/office/powerpoint/2010/main" val="3847057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10975-B070-30C5-913D-8DADEA82E848}"/>
              </a:ext>
            </a:extLst>
          </p:cNvPr>
          <p:cNvSpPr>
            <a:spLocks noGrp="1"/>
          </p:cNvSpPr>
          <p:nvPr>
            <p:ph type="title"/>
          </p:nvPr>
        </p:nvSpPr>
        <p:spPr/>
        <p:txBody>
          <a:bodyPr/>
          <a:lstStyle/>
          <a:p>
            <a:r>
              <a:rPr lang="en-US" dirty="0"/>
              <a:t>Why the Bridge Matters</a:t>
            </a:r>
            <a:endParaRPr lang="en-GB" dirty="0"/>
          </a:p>
        </p:txBody>
      </p:sp>
      <p:sp>
        <p:nvSpPr>
          <p:cNvPr id="4" name="TextBox 3">
            <a:extLst>
              <a:ext uri="{FF2B5EF4-FFF2-40B4-BE49-F238E27FC236}">
                <a16:creationId xmlns:a16="http://schemas.microsoft.com/office/drawing/2014/main" id="{848572AE-843C-BFE4-78EE-11CDE3ABDF2D}"/>
              </a:ext>
            </a:extLst>
          </p:cNvPr>
          <p:cNvSpPr txBox="1"/>
          <p:nvPr/>
        </p:nvSpPr>
        <p:spPr>
          <a:xfrm>
            <a:off x="1177065" y="881299"/>
            <a:ext cx="9837871" cy="376002"/>
          </a:xfrm>
          <a:prstGeom prst="rect">
            <a:avLst/>
          </a:prstGeom>
          <a:noFill/>
        </p:spPr>
        <p:txBody>
          <a:bodyPr wrap="square" lIns="0" tIns="0" rIns="0" bIns="0" rtlCol="0" anchor="ctr">
            <a:noAutofit/>
          </a:bodyPr>
          <a:lstStyle>
            <a:defPPr>
              <a:defRPr lang="en-US"/>
            </a:defPPr>
            <a:lvl1pPr defTabSz="912276" fontAlgn="base">
              <a:lnSpc>
                <a:spcPct val="100000"/>
              </a:lnSpc>
              <a:spcBef>
                <a:spcPts val="0"/>
              </a:spcBef>
              <a:spcAft>
                <a:spcPts val="1000"/>
              </a:spcAft>
              <a:buClr>
                <a:schemeClr val="bg1"/>
              </a:buClr>
              <a:buSzPct val="100000"/>
              <a:defRPr sz="1600">
                <a:solidFill>
                  <a:schemeClr val="accent2"/>
                </a:solidFill>
                <a:ea typeface="ＭＳ Ｐゴシック" charset="0"/>
              </a:defRPr>
            </a:lvl1pPr>
          </a:lstStyle>
          <a:p>
            <a:pPr algn="ctr"/>
            <a:r>
              <a:rPr lang="en-US" dirty="0"/>
              <a:t>CTT Dependencies are broad and business critical</a:t>
            </a:r>
          </a:p>
        </p:txBody>
      </p:sp>
      <p:sp>
        <p:nvSpPr>
          <p:cNvPr id="9" name="Rectangle: Rounded Corners 8">
            <a:extLst>
              <a:ext uri="{FF2B5EF4-FFF2-40B4-BE49-F238E27FC236}">
                <a16:creationId xmlns:a16="http://schemas.microsoft.com/office/drawing/2014/main" id="{10AA1AEE-9B53-315B-A57C-57390F51DF26}"/>
              </a:ext>
            </a:extLst>
          </p:cNvPr>
          <p:cNvSpPr/>
          <p:nvPr/>
        </p:nvSpPr>
        <p:spPr>
          <a:xfrm>
            <a:off x="938528" y="1797050"/>
            <a:ext cx="2611119" cy="3803650"/>
          </a:xfrm>
          <a:prstGeom prst="roundRect">
            <a:avLst>
              <a:gd name="adj" fmla="val 9371"/>
            </a:avLst>
          </a:prstGeom>
          <a:noFill/>
          <a:ln w="158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2" name="TextBox 11">
            <a:extLst>
              <a:ext uri="{FF2B5EF4-FFF2-40B4-BE49-F238E27FC236}">
                <a16:creationId xmlns:a16="http://schemas.microsoft.com/office/drawing/2014/main" id="{1BF41E69-F02B-E1B4-EBE4-0431DEDB46E4}"/>
              </a:ext>
            </a:extLst>
          </p:cNvPr>
          <p:cNvSpPr txBox="1"/>
          <p:nvPr/>
        </p:nvSpPr>
        <p:spPr>
          <a:xfrm>
            <a:off x="3848100" y="2489200"/>
            <a:ext cx="1041400" cy="1689100"/>
          </a:xfrm>
          <a:prstGeom prst="rect">
            <a:avLst/>
          </a:prstGeom>
          <a:noFill/>
        </p:spPr>
        <p:txBody>
          <a:bodyPr wrap="squar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dirty="0" err="1">
              <a:solidFill>
                <a:schemeClr val="bg1"/>
              </a:solidFill>
              <a:latin typeface="+mn-lt"/>
              <a:ea typeface="ＭＳ Ｐゴシック" charset="0"/>
            </a:endParaRPr>
          </a:p>
        </p:txBody>
      </p:sp>
      <p:grpSp>
        <p:nvGrpSpPr>
          <p:cNvPr id="15" name="Group 14">
            <a:extLst>
              <a:ext uri="{FF2B5EF4-FFF2-40B4-BE49-F238E27FC236}">
                <a16:creationId xmlns:a16="http://schemas.microsoft.com/office/drawing/2014/main" id="{3E4B7919-79C2-6E90-11E9-DCD7DAEDB25D}"/>
              </a:ext>
            </a:extLst>
          </p:cNvPr>
          <p:cNvGrpSpPr/>
          <p:nvPr/>
        </p:nvGrpSpPr>
        <p:grpSpPr>
          <a:xfrm>
            <a:off x="4700015" y="1797050"/>
            <a:ext cx="2615184" cy="1778000"/>
            <a:chOff x="4700015" y="1797050"/>
            <a:chExt cx="2615184" cy="1778000"/>
          </a:xfrm>
        </p:grpSpPr>
        <p:sp>
          <p:nvSpPr>
            <p:cNvPr id="5" name="Rectangle: Rounded Corners 4">
              <a:extLst>
                <a:ext uri="{FF2B5EF4-FFF2-40B4-BE49-F238E27FC236}">
                  <a16:creationId xmlns:a16="http://schemas.microsoft.com/office/drawing/2014/main" id="{F5F753BF-4524-D54F-6043-C4BF8CA8FCB5}"/>
                </a:ext>
              </a:extLst>
            </p:cNvPr>
            <p:cNvSpPr/>
            <p:nvPr/>
          </p:nvSpPr>
          <p:spPr>
            <a:xfrm>
              <a:off x="4702048" y="1797050"/>
              <a:ext cx="2611119" cy="1778000"/>
            </a:xfrm>
            <a:prstGeom prst="roundRect">
              <a:avLst>
                <a:gd name="adj" fmla="val 10596"/>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0" name="Straight Connector 9">
              <a:extLst>
                <a:ext uri="{FF2B5EF4-FFF2-40B4-BE49-F238E27FC236}">
                  <a16:creationId xmlns:a16="http://schemas.microsoft.com/office/drawing/2014/main" id="{D0213638-E387-257D-5F78-65211E81090B}"/>
                </a:ext>
              </a:extLst>
            </p:cNvPr>
            <p:cNvCxnSpPr>
              <a:cxnSpLocks/>
            </p:cNvCxnSpPr>
            <p:nvPr/>
          </p:nvCxnSpPr>
          <p:spPr>
            <a:xfrm>
              <a:off x="4700015" y="2249557"/>
              <a:ext cx="261518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1" name="TextBox 10">
              <a:extLst>
                <a:ext uri="{FF2B5EF4-FFF2-40B4-BE49-F238E27FC236}">
                  <a16:creationId xmlns:a16="http://schemas.microsoft.com/office/drawing/2014/main" id="{F2A39E8B-5C9E-2240-B1A5-C9AC6E9B8EA4}"/>
                </a:ext>
              </a:extLst>
            </p:cNvPr>
            <p:cNvSpPr txBox="1"/>
            <p:nvPr/>
          </p:nvSpPr>
          <p:spPr>
            <a:xfrm>
              <a:off x="4924933" y="1875659"/>
              <a:ext cx="2165349" cy="295289"/>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Leads &amp; Routing</a:t>
              </a:r>
              <a:endParaRPr lang="en-GB" sz="1600" kern="1200" dirty="0" err="1">
                <a:solidFill>
                  <a:schemeClr val="bg1"/>
                </a:solidFill>
                <a:latin typeface="+mn-lt"/>
                <a:ea typeface="ＭＳ Ｐゴシック" charset="0"/>
              </a:endParaRPr>
            </a:p>
          </p:txBody>
        </p:sp>
        <p:sp>
          <p:nvSpPr>
            <p:cNvPr id="13" name="TextBox 12">
              <a:extLst>
                <a:ext uri="{FF2B5EF4-FFF2-40B4-BE49-F238E27FC236}">
                  <a16:creationId xmlns:a16="http://schemas.microsoft.com/office/drawing/2014/main" id="{954B9025-A8C1-E2CA-3B92-3E4C6329AF6F}"/>
                </a:ext>
              </a:extLst>
            </p:cNvPr>
            <p:cNvSpPr txBox="1"/>
            <p:nvPr/>
          </p:nvSpPr>
          <p:spPr>
            <a:xfrm>
              <a:off x="4810632" y="2373383"/>
              <a:ext cx="2393950" cy="1136650"/>
            </a:xfrm>
            <a:prstGeom prst="rect">
              <a:avLst/>
            </a:prstGeom>
            <a:noFill/>
          </p:spPr>
          <p:txBody>
            <a:bodyPr wrap="square" lIns="0" tIns="0" rIns="0" bIns="0" rtlCol="0">
              <a:noAutofit/>
            </a:bodyPr>
            <a:lstStyle>
              <a:defPPr>
                <a:defRPr lang="en-US"/>
              </a:defPPr>
              <a:lvl1pPr marL="182880" indent="-182880" defTabSz="912276" fontAlgn="base">
                <a:lnSpc>
                  <a:spcPct val="100000"/>
                </a:lnSpc>
                <a:spcBef>
                  <a:spcPts val="0"/>
                </a:spcBef>
                <a:spcAft>
                  <a:spcPts val="1000"/>
                </a:spcAft>
                <a:buClr>
                  <a:schemeClr val="bg1"/>
                </a:buClr>
                <a:buSzPct val="100000"/>
                <a:buFont typeface="Arial" panose="020B0604020202020204" pitchFamily="34" charset="0"/>
                <a:buChar char="•"/>
                <a:defRPr sz="1600">
                  <a:solidFill>
                    <a:schemeClr val="bg1"/>
                  </a:solidFill>
                  <a:ea typeface="ＭＳ Ｐゴシック" charset="0"/>
                </a:defRPr>
              </a:lvl1pPr>
            </a:lstStyle>
            <a:p>
              <a:r>
                <a:rPr lang="en-US" sz="1400" dirty="0"/>
                <a:t>SFDC lead creation</a:t>
              </a:r>
            </a:p>
            <a:p>
              <a:r>
                <a:rPr lang="en-US" sz="1400" dirty="0"/>
                <a:t>Lean Data</a:t>
              </a:r>
            </a:p>
            <a:p>
              <a:r>
                <a:rPr lang="en-US" sz="1400" dirty="0"/>
                <a:t>Outreach / Gong Engage</a:t>
              </a:r>
            </a:p>
          </p:txBody>
        </p:sp>
      </p:grpSp>
      <p:grpSp>
        <p:nvGrpSpPr>
          <p:cNvPr id="16" name="Group 15">
            <a:extLst>
              <a:ext uri="{FF2B5EF4-FFF2-40B4-BE49-F238E27FC236}">
                <a16:creationId xmlns:a16="http://schemas.microsoft.com/office/drawing/2014/main" id="{8EE025FF-BB6D-67AF-115E-204A4796EA9F}"/>
              </a:ext>
            </a:extLst>
          </p:cNvPr>
          <p:cNvGrpSpPr/>
          <p:nvPr/>
        </p:nvGrpSpPr>
        <p:grpSpPr>
          <a:xfrm>
            <a:off x="8065515" y="1790700"/>
            <a:ext cx="2615184" cy="1778000"/>
            <a:chOff x="4700015" y="1797050"/>
            <a:chExt cx="2615184" cy="1778000"/>
          </a:xfrm>
        </p:grpSpPr>
        <p:sp>
          <p:nvSpPr>
            <p:cNvPr id="17" name="Rectangle: Rounded Corners 16">
              <a:extLst>
                <a:ext uri="{FF2B5EF4-FFF2-40B4-BE49-F238E27FC236}">
                  <a16:creationId xmlns:a16="http://schemas.microsoft.com/office/drawing/2014/main" id="{DE1464EC-A123-A6C7-8A20-BFBCE7335CE4}"/>
                </a:ext>
              </a:extLst>
            </p:cNvPr>
            <p:cNvSpPr/>
            <p:nvPr/>
          </p:nvSpPr>
          <p:spPr>
            <a:xfrm>
              <a:off x="4702048" y="1797050"/>
              <a:ext cx="2611119" cy="1778000"/>
            </a:xfrm>
            <a:prstGeom prst="roundRect">
              <a:avLst>
                <a:gd name="adj" fmla="val 10596"/>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18" name="Straight Connector 17">
              <a:extLst>
                <a:ext uri="{FF2B5EF4-FFF2-40B4-BE49-F238E27FC236}">
                  <a16:creationId xmlns:a16="http://schemas.microsoft.com/office/drawing/2014/main" id="{8F946DA8-FB24-2C08-F8AA-7984FB0D6D90}"/>
                </a:ext>
              </a:extLst>
            </p:cNvPr>
            <p:cNvCxnSpPr>
              <a:cxnSpLocks/>
            </p:cNvCxnSpPr>
            <p:nvPr/>
          </p:nvCxnSpPr>
          <p:spPr>
            <a:xfrm>
              <a:off x="4700015" y="2249557"/>
              <a:ext cx="261518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9" name="TextBox 18">
              <a:extLst>
                <a:ext uri="{FF2B5EF4-FFF2-40B4-BE49-F238E27FC236}">
                  <a16:creationId xmlns:a16="http://schemas.microsoft.com/office/drawing/2014/main" id="{B12C0065-4E80-ED30-502F-B88B3AB881F7}"/>
                </a:ext>
              </a:extLst>
            </p:cNvPr>
            <p:cNvSpPr txBox="1"/>
            <p:nvPr/>
          </p:nvSpPr>
          <p:spPr>
            <a:xfrm>
              <a:off x="4924933" y="1875659"/>
              <a:ext cx="2165349" cy="295289"/>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Automation</a:t>
              </a:r>
              <a:endParaRPr lang="en-GB" sz="1600" kern="1200" dirty="0" err="1">
                <a:solidFill>
                  <a:schemeClr val="bg1"/>
                </a:solidFill>
                <a:latin typeface="+mn-lt"/>
                <a:ea typeface="ＭＳ Ｐゴシック" charset="0"/>
              </a:endParaRPr>
            </a:p>
          </p:txBody>
        </p:sp>
        <p:sp>
          <p:nvSpPr>
            <p:cNvPr id="20" name="TextBox 19">
              <a:extLst>
                <a:ext uri="{FF2B5EF4-FFF2-40B4-BE49-F238E27FC236}">
                  <a16:creationId xmlns:a16="http://schemas.microsoft.com/office/drawing/2014/main" id="{56FD1E8F-5C4A-45BC-D13C-178A7704E6B6}"/>
                </a:ext>
              </a:extLst>
            </p:cNvPr>
            <p:cNvSpPr txBox="1"/>
            <p:nvPr/>
          </p:nvSpPr>
          <p:spPr>
            <a:xfrm>
              <a:off x="4810632" y="2373383"/>
              <a:ext cx="2393950" cy="1136650"/>
            </a:xfrm>
            <a:prstGeom prst="rect">
              <a:avLst/>
            </a:prstGeom>
            <a:noFill/>
          </p:spPr>
          <p:txBody>
            <a:bodyPr wrap="square" lIns="0" tIns="0" rIns="0" bIns="0" rtlCol="0">
              <a:noAutofit/>
            </a:bodyPr>
            <a:lstStyle>
              <a:defPPr>
                <a:defRPr lang="en-US"/>
              </a:defPPr>
              <a:lvl1pPr marL="182880" indent="-182880" defTabSz="912276" fontAlgn="base">
                <a:lnSpc>
                  <a:spcPct val="100000"/>
                </a:lnSpc>
                <a:spcBef>
                  <a:spcPts val="0"/>
                </a:spcBef>
                <a:spcAft>
                  <a:spcPts val="1000"/>
                </a:spcAft>
                <a:buClr>
                  <a:schemeClr val="bg1"/>
                </a:buClr>
                <a:buSzPct val="100000"/>
                <a:buFont typeface="Arial" panose="020B0604020202020204" pitchFamily="34" charset="0"/>
                <a:buChar char="•"/>
                <a:defRPr sz="1600">
                  <a:solidFill>
                    <a:schemeClr val="bg1"/>
                  </a:solidFill>
                  <a:ea typeface="ＭＳ Ｐゴシック" charset="0"/>
                </a:defRPr>
              </a:lvl1pPr>
            </a:lstStyle>
            <a:p>
              <a:r>
                <a:rPr lang="en-US" sz="1400" dirty="0"/>
                <a:t>Eloqua Forms</a:t>
              </a:r>
            </a:p>
            <a:p>
              <a:r>
                <a:rPr lang="en-US" sz="1400" dirty="0"/>
                <a:t>Always On/Nurture Journeys</a:t>
              </a:r>
            </a:p>
            <a:p>
              <a:r>
                <a:rPr lang="en-US" sz="1400" dirty="0"/>
                <a:t>App Cloud Lite Processing</a:t>
              </a:r>
            </a:p>
          </p:txBody>
        </p:sp>
      </p:grpSp>
      <p:grpSp>
        <p:nvGrpSpPr>
          <p:cNvPr id="21" name="Group 20">
            <a:extLst>
              <a:ext uri="{FF2B5EF4-FFF2-40B4-BE49-F238E27FC236}">
                <a16:creationId xmlns:a16="http://schemas.microsoft.com/office/drawing/2014/main" id="{FA31B057-38C5-9B8F-2654-B96439D14407}"/>
              </a:ext>
            </a:extLst>
          </p:cNvPr>
          <p:cNvGrpSpPr/>
          <p:nvPr/>
        </p:nvGrpSpPr>
        <p:grpSpPr>
          <a:xfrm>
            <a:off x="4700015" y="3852932"/>
            <a:ext cx="2615184" cy="1778000"/>
            <a:chOff x="4700015" y="1797050"/>
            <a:chExt cx="2615184" cy="1778000"/>
          </a:xfrm>
        </p:grpSpPr>
        <p:sp>
          <p:nvSpPr>
            <p:cNvPr id="22" name="Rectangle: Rounded Corners 21">
              <a:extLst>
                <a:ext uri="{FF2B5EF4-FFF2-40B4-BE49-F238E27FC236}">
                  <a16:creationId xmlns:a16="http://schemas.microsoft.com/office/drawing/2014/main" id="{92EBB3D1-6988-F6E3-A11C-6CB113D66E9F}"/>
                </a:ext>
              </a:extLst>
            </p:cNvPr>
            <p:cNvSpPr/>
            <p:nvPr/>
          </p:nvSpPr>
          <p:spPr>
            <a:xfrm>
              <a:off x="4702048" y="1797050"/>
              <a:ext cx="2611119" cy="1778000"/>
            </a:xfrm>
            <a:prstGeom prst="roundRect">
              <a:avLst>
                <a:gd name="adj" fmla="val 10596"/>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3" name="Straight Connector 22">
              <a:extLst>
                <a:ext uri="{FF2B5EF4-FFF2-40B4-BE49-F238E27FC236}">
                  <a16:creationId xmlns:a16="http://schemas.microsoft.com/office/drawing/2014/main" id="{46313210-F63B-D110-8BD4-D393B1B961F1}"/>
                </a:ext>
              </a:extLst>
            </p:cNvPr>
            <p:cNvCxnSpPr>
              <a:cxnSpLocks/>
            </p:cNvCxnSpPr>
            <p:nvPr/>
          </p:nvCxnSpPr>
          <p:spPr>
            <a:xfrm>
              <a:off x="4700015" y="2249557"/>
              <a:ext cx="261518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4" name="TextBox 23">
              <a:extLst>
                <a:ext uri="{FF2B5EF4-FFF2-40B4-BE49-F238E27FC236}">
                  <a16:creationId xmlns:a16="http://schemas.microsoft.com/office/drawing/2014/main" id="{C5EDB777-5428-97F7-43E7-33BEE77ABCD7}"/>
                </a:ext>
              </a:extLst>
            </p:cNvPr>
            <p:cNvSpPr txBox="1"/>
            <p:nvPr/>
          </p:nvSpPr>
          <p:spPr>
            <a:xfrm>
              <a:off x="4924933" y="1875659"/>
              <a:ext cx="2165349" cy="295289"/>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Integration</a:t>
              </a:r>
              <a:endParaRPr lang="en-GB" sz="1600" kern="1200" dirty="0" err="1">
                <a:solidFill>
                  <a:schemeClr val="bg1"/>
                </a:solidFill>
                <a:latin typeface="+mn-lt"/>
                <a:ea typeface="ＭＳ Ｐゴシック" charset="0"/>
              </a:endParaRPr>
            </a:p>
          </p:txBody>
        </p:sp>
        <p:sp>
          <p:nvSpPr>
            <p:cNvPr id="25" name="TextBox 24">
              <a:extLst>
                <a:ext uri="{FF2B5EF4-FFF2-40B4-BE49-F238E27FC236}">
                  <a16:creationId xmlns:a16="http://schemas.microsoft.com/office/drawing/2014/main" id="{12463AB3-BF91-E8A6-7AE1-D3AB1BE2E119}"/>
                </a:ext>
              </a:extLst>
            </p:cNvPr>
            <p:cNvSpPr txBox="1"/>
            <p:nvPr/>
          </p:nvSpPr>
          <p:spPr>
            <a:xfrm>
              <a:off x="4810632" y="2298087"/>
              <a:ext cx="2393950" cy="1136650"/>
            </a:xfrm>
            <a:prstGeom prst="rect">
              <a:avLst/>
            </a:prstGeom>
            <a:noFill/>
          </p:spPr>
          <p:txBody>
            <a:bodyPr wrap="square" lIns="0" tIns="0" rIns="0" bIns="0" rtlCol="0">
              <a:noAutofit/>
            </a:bodyPr>
            <a:lstStyle>
              <a:defPPr>
                <a:defRPr lang="en-US"/>
              </a:defPPr>
              <a:lvl1pPr marL="182880" indent="-182880" defTabSz="912276" fontAlgn="base">
                <a:lnSpc>
                  <a:spcPct val="100000"/>
                </a:lnSpc>
                <a:spcBef>
                  <a:spcPts val="0"/>
                </a:spcBef>
                <a:spcAft>
                  <a:spcPts val="1000"/>
                </a:spcAft>
                <a:buClr>
                  <a:schemeClr val="bg1"/>
                </a:buClr>
                <a:buSzPct val="100000"/>
                <a:buFont typeface="Arial" panose="020B0604020202020204" pitchFamily="34" charset="0"/>
                <a:buChar char="•"/>
                <a:defRPr sz="1600">
                  <a:solidFill>
                    <a:schemeClr val="bg1"/>
                  </a:solidFill>
                  <a:ea typeface="ＭＳ Ｐゴシック" charset="0"/>
                </a:defRPr>
              </a:lvl1pPr>
            </a:lstStyle>
            <a:p>
              <a:r>
                <a:rPr lang="en-US" sz="1400" dirty="0"/>
                <a:t>Tray.io</a:t>
              </a:r>
            </a:p>
            <a:p>
              <a:r>
                <a:rPr lang="en-US" sz="1400" dirty="0"/>
                <a:t>SFDC</a:t>
              </a:r>
            </a:p>
            <a:p>
              <a:r>
                <a:rPr lang="en-US" sz="1400" dirty="0"/>
                <a:t>Allocadia</a:t>
              </a:r>
            </a:p>
            <a:p>
              <a:r>
                <a:rPr lang="en-US" sz="1400" dirty="0"/>
                <a:t>Eloqua</a:t>
              </a:r>
            </a:p>
          </p:txBody>
        </p:sp>
      </p:grpSp>
      <p:grpSp>
        <p:nvGrpSpPr>
          <p:cNvPr id="26" name="Group 25">
            <a:extLst>
              <a:ext uri="{FF2B5EF4-FFF2-40B4-BE49-F238E27FC236}">
                <a16:creationId xmlns:a16="http://schemas.microsoft.com/office/drawing/2014/main" id="{6643C7A8-3A1F-8E3E-EC8D-EE449F3AEC8B}"/>
              </a:ext>
            </a:extLst>
          </p:cNvPr>
          <p:cNvGrpSpPr/>
          <p:nvPr/>
        </p:nvGrpSpPr>
        <p:grpSpPr>
          <a:xfrm>
            <a:off x="8065515" y="3725793"/>
            <a:ext cx="2615184" cy="1778000"/>
            <a:chOff x="4700015" y="1797050"/>
            <a:chExt cx="2615184" cy="1778000"/>
          </a:xfrm>
        </p:grpSpPr>
        <p:sp>
          <p:nvSpPr>
            <p:cNvPr id="27" name="Rectangle: Rounded Corners 26">
              <a:extLst>
                <a:ext uri="{FF2B5EF4-FFF2-40B4-BE49-F238E27FC236}">
                  <a16:creationId xmlns:a16="http://schemas.microsoft.com/office/drawing/2014/main" id="{C78ED9CC-BC7A-0E43-78DB-2D932014CF9D}"/>
                </a:ext>
              </a:extLst>
            </p:cNvPr>
            <p:cNvSpPr/>
            <p:nvPr/>
          </p:nvSpPr>
          <p:spPr>
            <a:xfrm>
              <a:off x="4702048" y="1797050"/>
              <a:ext cx="2611119" cy="1778000"/>
            </a:xfrm>
            <a:prstGeom prst="roundRect">
              <a:avLst>
                <a:gd name="adj" fmla="val 10596"/>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8" name="Straight Connector 27">
              <a:extLst>
                <a:ext uri="{FF2B5EF4-FFF2-40B4-BE49-F238E27FC236}">
                  <a16:creationId xmlns:a16="http://schemas.microsoft.com/office/drawing/2014/main" id="{7C446941-11BC-74A8-9DE5-581C02115BB6}"/>
                </a:ext>
              </a:extLst>
            </p:cNvPr>
            <p:cNvCxnSpPr>
              <a:cxnSpLocks/>
            </p:cNvCxnSpPr>
            <p:nvPr/>
          </p:nvCxnSpPr>
          <p:spPr>
            <a:xfrm>
              <a:off x="4700015" y="2249557"/>
              <a:ext cx="2615184"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9" name="TextBox 28">
              <a:extLst>
                <a:ext uri="{FF2B5EF4-FFF2-40B4-BE49-F238E27FC236}">
                  <a16:creationId xmlns:a16="http://schemas.microsoft.com/office/drawing/2014/main" id="{C8BE0E1A-F76B-6319-3AAC-98FF1901E781}"/>
                </a:ext>
              </a:extLst>
            </p:cNvPr>
            <p:cNvSpPr txBox="1"/>
            <p:nvPr/>
          </p:nvSpPr>
          <p:spPr>
            <a:xfrm>
              <a:off x="4924933" y="1875659"/>
              <a:ext cx="2165349" cy="295289"/>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dirty="0">
                  <a:solidFill>
                    <a:schemeClr val="bg1"/>
                  </a:solidFill>
                  <a:ea typeface="ＭＳ Ｐゴシック" charset="0"/>
                </a:rPr>
                <a:t>Reporting</a:t>
              </a:r>
              <a:endParaRPr lang="en-GB" sz="1600" kern="1200" dirty="0" err="1">
                <a:solidFill>
                  <a:schemeClr val="bg1"/>
                </a:solidFill>
                <a:latin typeface="+mn-lt"/>
                <a:ea typeface="ＭＳ Ｐゴシック" charset="0"/>
              </a:endParaRPr>
            </a:p>
          </p:txBody>
        </p:sp>
        <p:sp>
          <p:nvSpPr>
            <p:cNvPr id="30" name="TextBox 29">
              <a:extLst>
                <a:ext uri="{FF2B5EF4-FFF2-40B4-BE49-F238E27FC236}">
                  <a16:creationId xmlns:a16="http://schemas.microsoft.com/office/drawing/2014/main" id="{A94CDBDC-F7AA-80FE-DEBC-C600251261A5}"/>
                </a:ext>
              </a:extLst>
            </p:cNvPr>
            <p:cNvSpPr txBox="1"/>
            <p:nvPr/>
          </p:nvSpPr>
          <p:spPr>
            <a:xfrm>
              <a:off x="4810632" y="2298087"/>
              <a:ext cx="2393950" cy="1136650"/>
            </a:xfrm>
            <a:prstGeom prst="rect">
              <a:avLst/>
            </a:prstGeom>
            <a:noFill/>
          </p:spPr>
          <p:txBody>
            <a:bodyPr wrap="square" lIns="0" tIns="0" rIns="0" bIns="0" rtlCol="0">
              <a:noAutofit/>
            </a:bodyPr>
            <a:lstStyle>
              <a:defPPr>
                <a:defRPr lang="en-US"/>
              </a:defPPr>
              <a:lvl1pPr marL="182880" indent="-182880" defTabSz="912276" fontAlgn="base">
                <a:lnSpc>
                  <a:spcPct val="100000"/>
                </a:lnSpc>
                <a:spcBef>
                  <a:spcPts val="0"/>
                </a:spcBef>
                <a:spcAft>
                  <a:spcPts val="1000"/>
                </a:spcAft>
                <a:buClr>
                  <a:schemeClr val="bg1"/>
                </a:buClr>
                <a:buSzPct val="100000"/>
                <a:buFont typeface="Arial" panose="020B0604020202020204" pitchFamily="34" charset="0"/>
                <a:buChar char="•"/>
                <a:defRPr sz="1600">
                  <a:solidFill>
                    <a:schemeClr val="bg1"/>
                  </a:solidFill>
                  <a:ea typeface="ＭＳ Ｐゴシック" charset="0"/>
                </a:defRPr>
              </a:lvl1pPr>
            </a:lstStyle>
            <a:p>
              <a:r>
                <a:rPr lang="en-US" sz="1400" dirty="0"/>
                <a:t>Ace Reporting</a:t>
              </a:r>
            </a:p>
            <a:p>
              <a:r>
                <a:rPr lang="en-US" sz="1400" dirty="0"/>
                <a:t>CDF</a:t>
              </a:r>
            </a:p>
            <a:p>
              <a:r>
                <a:rPr lang="en-US" sz="1400" dirty="0"/>
                <a:t>Adobe Weblogs</a:t>
              </a:r>
            </a:p>
          </p:txBody>
        </p:sp>
      </p:grpSp>
      <p:sp>
        <p:nvSpPr>
          <p:cNvPr id="31" name="TextBox 30">
            <a:extLst>
              <a:ext uri="{FF2B5EF4-FFF2-40B4-BE49-F238E27FC236}">
                <a16:creationId xmlns:a16="http://schemas.microsoft.com/office/drawing/2014/main" id="{B76F425C-75E9-1264-A860-FD7557ADB9E9}"/>
              </a:ext>
            </a:extLst>
          </p:cNvPr>
          <p:cNvSpPr txBox="1"/>
          <p:nvPr/>
        </p:nvSpPr>
        <p:spPr>
          <a:xfrm>
            <a:off x="1129662" y="1891548"/>
            <a:ext cx="2228850" cy="349556"/>
          </a:xfrm>
          <a:prstGeom prst="rect">
            <a:avLst/>
          </a:prstGeom>
          <a:noFill/>
        </p:spPr>
        <p:txBody>
          <a:bodyPr wrap="non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600" kern="1200" dirty="0">
                <a:solidFill>
                  <a:schemeClr val="bg1"/>
                </a:solidFill>
                <a:latin typeface="+mn-lt"/>
                <a:ea typeface="ＭＳ Ｐゴシック" charset="0"/>
              </a:rPr>
              <a:t>Dependency Inventory</a:t>
            </a:r>
            <a:endParaRPr lang="en-GB" sz="1600" kern="1200" dirty="0" err="1">
              <a:solidFill>
                <a:schemeClr val="bg1"/>
              </a:solidFill>
              <a:latin typeface="+mn-lt"/>
              <a:ea typeface="ＭＳ Ｐゴシック" charset="0"/>
            </a:endParaRPr>
          </a:p>
        </p:txBody>
      </p:sp>
      <p:sp>
        <p:nvSpPr>
          <p:cNvPr id="32" name="TextBox 31">
            <a:extLst>
              <a:ext uri="{FF2B5EF4-FFF2-40B4-BE49-F238E27FC236}">
                <a16:creationId xmlns:a16="http://schemas.microsoft.com/office/drawing/2014/main" id="{EE493A37-E2D9-B7A8-7EDA-695450ACEE17}"/>
              </a:ext>
            </a:extLst>
          </p:cNvPr>
          <p:cNvSpPr txBox="1"/>
          <p:nvPr/>
        </p:nvSpPr>
        <p:spPr>
          <a:xfrm>
            <a:off x="1129662" y="2440199"/>
            <a:ext cx="2228850" cy="1061967"/>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9600" kern="1200" dirty="0">
                <a:solidFill>
                  <a:schemeClr val="bg1"/>
                </a:solidFill>
                <a:latin typeface="Impact" panose="020B0806030902050204" pitchFamily="34" charset="0"/>
                <a:ea typeface="ＭＳ Ｐゴシック" charset="0"/>
              </a:rPr>
              <a:t>28</a:t>
            </a:r>
            <a:endParaRPr lang="en-GB" sz="9600" kern="1200" dirty="0" err="1">
              <a:solidFill>
                <a:schemeClr val="bg1"/>
              </a:solidFill>
              <a:latin typeface="Impact" panose="020B0806030902050204" pitchFamily="34" charset="0"/>
              <a:ea typeface="ＭＳ Ｐゴシック" charset="0"/>
            </a:endParaRPr>
          </a:p>
        </p:txBody>
      </p:sp>
      <p:sp>
        <p:nvSpPr>
          <p:cNvPr id="33" name="TextBox 32">
            <a:extLst>
              <a:ext uri="{FF2B5EF4-FFF2-40B4-BE49-F238E27FC236}">
                <a16:creationId xmlns:a16="http://schemas.microsoft.com/office/drawing/2014/main" id="{A0E168BE-0719-081C-1BA3-EDE25A5A53C1}"/>
              </a:ext>
            </a:extLst>
          </p:cNvPr>
          <p:cNvSpPr txBox="1"/>
          <p:nvPr/>
        </p:nvSpPr>
        <p:spPr>
          <a:xfrm>
            <a:off x="1402394" y="3685346"/>
            <a:ext cx="1683386" cy="1281809"/>
          </a:xfrm>
          <a:prstGeom prst="rect">
            <a:avLst/>
          </a:prstGeom>
          <a:noFill/>
        </p:spPr>
        <p:txBody>
          <a:bodyPr wrap="squar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r>
              <a:rPr lang="en-US" sz="1600" kern="1200" dirty="0">
                <a:solidFill>
                  <a:schemeClr val="bg1"/>
                </a:solidFill>
                <a:latin typeface="+mn-lt"/>
                <a:ea typeface="ＭＳ Ｐゴシック" charset="0"/>
              </a:rPr>
              <a:t>16 Mandatory</a:t>
            </a:r>
          </a:p>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r>
              <a:rPr lang="en-US" sz="1600" dirty="0">
                <a:solidFill>
                  <a:schemeClr val="bg1"/>
                </a:solidFill>
                <a:ea typeface="ＭＳ Ｐゴシック" charset="0"/>
              </a:rPr>
              <a:t>2 Conditional</a:t>
            </a:r>
          </a:p>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r>
              <a:rPr lang="en-US" sz="1600" kern="1200" dirty="0">
                <a:solidFill>
                  <a:schemeClr val="bg1"/>
                </a:solidFill>
                <a:latin typeface="+mn-lt"/>
                <a:ea typeface="ＭＳ Ｐゴシック" charset="0"/>
              </a:rPr>
              <a:t>10 Operational</a:t>
            </a:r>
            <a:endParaRPr lang="en-GB" sz="1600" kern="1200" dirty="0" err="1">
              <a:solidFill>
                <a:schemeClr val="bg1"/>
              </a:solidFill>
              <a:latin typeface="+mn-lt"/>
              <a:ea typeface="ＭＳ Ｐゴシック" charset="0"/>
            </a:endParaRPr>
          </a:p>
        </p:txBody>
      </p:sp>
      <p:sp>
        <p:nvSpPr>
          <p:cNvPr id="34" name="TextBox 33">
            <a:extLst>
              <a:ext uri="{FF2B5EF4-FFF2-40B4-BE49-F238E27FC236}">
                <a16:creationId xmlns:a16="http://schemas.microsoft.com/office/drawing/2014/main" id="{826F1CF4-DA92-B2DD-D38C-B3AB0DADD071}"/>
              </a:ext>
            </a:extLst>
          </p:cNvPr>
          <p:cNvSpPr txBox="1"/>
          <p:nvPr/>
        </p:nvSpPr>
        <p:spPr>
          <a:xfrm>
            <a:off x="1211576" y="4849717"/>
            <a:ext cx="2065022" cy="592233"/>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1000" kern="1200" dirty="0">
                <a:solidFill>
                  <a:schemeClr val="bg1"/>
                </a:solidFill>
                <a:latin typeface="+mn-lt"/>
                <a:ea typeface="ＭＳ Ｐゴシック" charset="0"/>
                <a:hlinkClick r:id="rId2"/>
              </a:rPr>
              <a:t>Campaign Tagging and Tracking Dependency Audit</a:t>
            </a:r>
            <a:endParaRPr lang="en-GB" sz="1000" kern="1200" dirty="0" err="1">
              <a:solidFill>
                <a:schemeClr val="bg1"/>
              </a:solidFill>
              <a:latin typeface="+mn-lt"/>
              <a:ea typeface="ＭＳ Ｐゴシック" charset="0"/>
            </a:endParaRPr>
          </a:p>
        </p:txBody>
      </p:sp>
    </p:spTree>
    <p:extLst>
      <p:ext uri="{BB962C8B-B14F-4D97-AF65-F5344CB8AC3E}">
        <p14:creationId xmlns:p14="http://schemas.microsoft.com/office/powerpoint/2010/main" val="387982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CA0B2-ACF6-A354-CE9E-529AB7539F39}"/>
              </a:ext>
            </a:extLst>
          </p:cNvPr>
          <p:cNvSpPr>
            <a:spLocks noGrp="1"/>
          </p:cNvSpPr>
          <p:nvPr>
            <p:ph type="title"/>
          </p:nvPr>
        </p:nvSpPr>
        <p:spPr/>
        <p:txBody>
          <a:bodyPr/>
          <a:lstStyle/>
          <a:p>
            <a:r>
              <a:rPr lang="en-US" dirty="0"/>
              <a:t>The Opportunity</a:t>
            </a:r>
            <a:endParaRPr lang="en-GB" dirty="0"/>
          </a:p>
        </p:txBody>
      </p:sp>
      <p:sp>
        <p:nvSpPr>
          <p:cNvPr id="3" name="TextBox 2">
            <a:extLst>
              <a:ext uri="{FF2B5EF4-FFF2-40B4-BE49-F238E27FC236}">
                <a16:creationId xmlns:a16="http://schemas.microsoft.com/office/drawing/2014/main" id="{FDAF7D80-FBCB-DBA1-1F8C-3A0DD47EB562}"/>
              </a:ext>
            </a:extLst>
          </p:cNvPr>
          <p:cNvSpPr txBox="1"/>
          <p:nvPr/>
        </p:nvSpPr>
        <p:spPr>
          <a:xfrm>
            <a:off x="1855358" y="881298"/>
            <a:ext cx="8481285" cy="693501"/>
          </a:xfrm>
          <a:prstGeom prst="rect">
            <a:avLst/>
          </a:prstGeom>
          <a:noFill/>
        </p:spPr>
        <p:txBody>
          <a:bodyPr wrap="square" lIns="0" tIns="0" rIns="0" bIns="0" rtlCol="0" anchor="ctr">
            <a:noAutofit/>
          </a:bodyPr>
          <a:lstStyle>
            <a:defPPr>
              <a:defRPr lang="en-US"/>
            </a:defPPr>
            <a:lvl1pPr defTabSz="912276" fontAlgn="base">
              <a:lnSpc>
                <a:spcPct val="100000"/>
              </a:lnSpc>
              <a:spcBef>
                <a:spcPts val="0"/>
              </a:spcBef>
              <a:spcAft>
                <a:spcPts val="1000"/>
              </a:spcAft>
              <a:buClr>
                <a:schemeClr val="bg1"/>
              </a:buClr>
              <a:buSzPct val="100000"/>
              <a:defRPr sz="1600">
                <a:solidFill>
                  <a:schemeClr val="accent2"/>
                </a:solidFill>
                <a:ea typeface="ＭＳ Ｐゴシック" charset="0"/>
              </a:defRPr>
            </a:lvl1pPr>
          </a:lstStyle>
          <a:p>
            <a:pPr algn="ctr"/>
            <a:r>
              <a:rPr lang="en-US" dirty="0"/>
              <a:t>Use CTT as a controlled transition layer to allow the ability to run the business while building toward Workfront as the source of truth</a:t>
            </a:r>
          </a:p>
        </p:txBody>
      </p:sp>
      <p:sp>
        <p:nvSpPr>
          <p:cNvPr id="5" name="Rectangle: Rounded Corners 4">
            <a:extLst>
              <a:ext uri="{FF2B5EF4-FFF2-40B4-BE49-F238E27FC236}">
                <a16:creationId xmlns:a16="http://schemas.microsoft.com/office/drawing/2014/main" id="{0424A967-A95A-4C4D-4EE3-1414C6A2B536}"/>
              </a:ext>
            </a:extLst>
          </p:cNvPr>
          <p:cNvSpPr/>
          <p:nvPr/>
        </p:nvSpPr>
        <p:spPr>
          <a:xfrm>
            <a:off x="587581" y="2082800"/>
            <a:ext cx="3447638" cy="3638550"/>
          </a:xfrm>
          <a:prstGeom prst="roundRect">
            <a:avLst>
              <a:gd name="adj" fmla="val 837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algn="l"/>
            <a:endParaRPr lang="en-GB" sz="1600" dirty="0">
              <a:solidFill>
                <a:schemeClr val="bg1"/>
              </a:solidFill>
            </a:endParaRPr>
          </a:p>
        </p:txBody>
      </p:sp>
      <p:cxnSp>
        <p:nvCxnSpPr>
          <p:cNvPr id="6" name="Straight Connector 5">
            <a:extLst>
              <a:ext uri="{FF2B5EF4-FFF2-40B4-BE49-F238E27FC236}">
                <a16:creationId xmlns:a16="http://schemas.microsoft.com/office/drawing/2014/main" id="{8EAA65FD-8E79-1DEE-4FA5-34A0A9DD6B8F}"/>
              </a:ext>
            </a:extLst>
          </p:cNvPr>
          <p:cNvCxnSpPr>
            <a:cxnSpLocks/>
          </p:cNvCxnSpPr>
          <p:nvPr/>
        </p:nvCxnSpPr>
        <p:spPr>
          <a:xfrm>
            <a:off x="587756" y="2605157"/>
            <a:ext cx="3447288"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7" name="TextBox 6">
            <a:extLst>
              <a:ext uri="{FF2B5EF4-FFF2-40B4-BE49-F238E27FC236}">
                <a16:creationId xmlns:a16="http://schemas.microsoft.com/office/drawing/2014/main" id="{539C110C-82A9-B11B-1EBA-12940958322A}"/>
              </a:ext>
            </a:extLst>
          </p:cNvPr>
          <p:cNvSpPr txBox="1"/>
          <p:nvPr/>
        </p:nvSpPr>
        <p:spPr>
          <a:xfrm>
            <a:off x="711200" y="2131254"/>
            <a:ext cx="3200400" cy="444500"/>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mn-lt"/>
                <a:ea typeface="ＭＳ Ｐゴシック" charset="0"/>
              </a:rPr>
              <a:t>Today</a:t>
            </a:r>
            <a:endParaRPr lang="en-GB" sz="2000" kern="1200" dirty="0" err="1">
              <a:solidFill>
                <a:schemeClr val="bg1"/>
              </a:solidFill>
              <a:latin typeface="+mn-lt"/>
              <a:ea typeface="ＭＳ Ｐゴシック" charset="0"/>
            </a:endParaRPr>
          </a:p>
        </p:txBody>
      </p:sp>
      <p:sp>
        <p:nvSpPr>
          <p:cNvPr id="8" name="TextBox 7">
            <a:extLst>
              <a:ext uri="{FF2B5EF4-FFF2-40B4-BE49-F238E27FC236}">
                <a16:creationId xmlns:a16="http://schemas.microsoft.com/office/drawing/2014/main" id="{44F90DC3-9DEE-C11E-5F0A-AD003B8FF99C}"/>
              </a:ext>
            </a:extLst>
          </p:cNvPr>
          <p:cNvSpPr txBox="1"/>
          <p:nvPr/>
        </p:nvSpPr>
        <p:spPr>
          <a:xfrm>
            <a:off x="654050" y="2734504"/>
            <a:ext cx="3314700" cy="2705802"/>
          </a:xfrm>
          <a:prstGeom prst="rect">
            <a:avLst/>
          </a:prstGeom>
          <a:noFill/>
        </p:spPr>
        <p:txBody>
          <a:bodyPr wrap="square" lIns="0" tIns="0" rIns="0" bIns="0" rtlCol="0">
            <a:noAutofit/>
          </a:bodyPr>
          <a:lstStyle>
            <a:defPPr>
              <a:defRPr lang="en-US"/>
            </a:defPPr>
            <a:lvl1pPr marL="182880" indent="-182880" defTabSz="912276" fontAlgn="base">
              <a:lnSpc>
                <a:spcPct val="100000"/>
              </a:lnSpc>
              <a:spcBef>
                <a:spcPts val="0"/>
              </a:spcBef>
              <a:spcAft>
                <a:spcPts val="1000"/>
              </a:spcAft>
              <a:buClr>
                <a:schemeClr val="bg1"/>
              </a:buClr>
              <a:buSzPct val="100000"/>
              <a:buFont typeface="Arial" panose="020B0604020202020204" pitchFamily="34" charset="0"/>
              <a:buChar char="•"/>
              <a:defRPr sz="1400">
                <a:solidFill>
                  <a:schemeClr val="bg1"/>
                </a:solidFill>
                <a:ea typeface="ＭＳ Ｐゴシック" charset="0"/>
              </a:defRPr>
            </a:lvl1pPr>
          </a:lstStyle>
          <a:p>
            <a:r>
              <a:rPr lang="en-US" sz="1800" dirty="0"/>
              <a:t>CTT creates and validates legacy IDs.</a:t>
            </a:r>
          </a:p>
          <a:p>
            <a:r>
              <a:rPr lang="en-US" sz="1800" dirty="0"/>
              <a:t>Workfront adoption is incomplete.</a:t>
            </a:r>
          </a:p>
          <a:p>
            <a:r>
              <a:rPr lang="en-US" sz="1800" dirty="0"/>
              <a:t>Reporting depends on OCIDs across multiple systems.</a:t>
            </a:r>
          </a:p>
        </p:txBody>
      </p:sp>
      <p:sp>
        <p:nvSpPr>
          <p:cNvPr id="10" name="Rectangle: Rounded Corners 9">
            <a:extLst>
              <a:ext uri="{FF2B5EF4-FFF2-40B4-BE49-F238E27FC236}">
                <a16:creationId xmlns:a16="http://schemas.microsoft.com/office/drawing/2014/main" id="{D1CDF11A-3ACC-8FD6-320F-D848C080664D}"/>
              </a:ext>
            </a:extLst>
          </p:cNvPr>
          <p:cNvSpPr/>
          <p:nvPr/>
        </p:nvSpPr>
        <p:spPr>
          <a:xfrm>
            <a:off x="4295981" y="2082800"/>
            <a:ext cx="3447638" cy="3638550"/>
          </a:xfrm>
          <a:prstGeom prst="roundRect">
            <a:avLst>
              <a:gd name="adj" fmla="val 837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algn="l"/>
            <a:endParaRPr lang="en-GB" sz="1600" dirty="0">
              <a:solidFill>
                <a:schemeClr val="bg1"/>
              </a:solidFill>
            </a:endParaRPr>
          </a:p>
        </p:txBody>
      </p:sp>
      <p:cxnSp>
        <p:nvCxnSpPr>
          <p:cNvPr id="11" name="Straight Connector 10">
            <a:extLst>
              <a:ext uri="{FF2B5EF4-FFF2-40B4-BE49-F238E27FC236}">
                <a16:creationId xmlns:a16="http://schemas.microsoft.com/office/drawing/2014/main" id="{1CDAE886-DC68-DC8D-C7C4-5239F27ED5FA}"/>
              </a:ext>
            </a:extLst>
          </p:cNvPr>
          <p:cNvCxnSpPr>
            <a:cxnSpLocks/>
          </p:cNvCxnSpPr>
          <p:nvPr/>
        </p:nvCxnSpPr>
        <p:spPr>
          <a:xfrm>
            <a:off x="4296156" y="2605157"/>
            <a:ext cx="3447288"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2" name="TextBox 11">
            <a:extLst>
              <a:ext uri="{FF2B5EF4-FFF2-40B4-BE49-F238E27FC236}">
                <a16:creationId xmlns:a16="http://schemas.microsoft.com/office/drawing/2014/main" id="{2575984B-9F42-4753-71FA-C07548AA4EC9}"/>
              </a:ext>
            </a:extLst>
          </p:cNvPr>
          <p:cNvSpPr txBox="1"/>
          <p:nvPr/>
        </p:nvSpPr>
        <p:spPr>
          <a:xfrm>
            <a:off x="4419600" y="2131254"/>
            <a:ext cx="3200400" cy="444500"/>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mn-lt"/>
                <a:ea typeface="ＭＳ Ｐゴシック" charset="0"/>
              </a:rPr>
              <a:t>POC Bridge</a:t>
            </a:r>
            <a:endParaRPr lang="en-GB" sz="2000" kern="1200" dirty="0" err="1">
              <a:solidFill>
                <a:schemeClr val="bg1"/>
              </a:solidFill>
              <a:latin typeface="+mn-lt"/>
              <a:ea typeface="ＭＳ Ｐゴシック" charset="0"/>
            </a:endParaRPr>
          </a:p>
        </p:txBody>
      </p:sp>
      <p:sp>
        <p:nvSpPr>
          <p:cNvPr id="13" name="TextBox 12">
            <a:extLst>
              <a:ext uri="{FF2B5EF4-FFF2-40B4-BE49-F238E27FC236}">
                <a16:creationId xmlns:a16="http://schemas.microsoft.com/office/drawing/2014/main" id="{2254D936-FD34-E273-7BDC-F6F581023AE3}"/>
              </a:ext>
            </a:extLst>
          </p:cNvPr>
          <p:cNvSpPr txBox="1"/>
          <p:nvPr/>
        </p:nvSpPr>
        <p:spPr>
          <a:xfrm>
            <a:off x="4362450" y="2734504"/>
            <a:ext cx="3314700" cy="2705802"/>
          </a:xfrm>
          <a:prstGeom prst="rect">
            <a:avLst/>
          </a:prstGeom>
          <a:noFill/>
        </p:spPr>
        <p:txBody>
          <a:bodyPr wrap="square" lIns="0" tIns="0" rIns="0" bIns="0" rtlCol="0">
            <a:noAutofit/>
          </a:bodyPr>
          <a:lstStyle>
            <a:defPPr>
              <a:defRPr lang="en-US"/>
            </a:defPPr>
            <a:lvl1pPr marL="182880" indent="-182880" defTabSz="912276" fontAlgn="base">
              <a:lnSpc>
                <a:spcPct val="100000"/>
              </a:lnSpc>
              <a:spcBef>
                <a:spcPts val="0"/>
              </a:spcBef>
              <a:spcAft>
                <a:spcPts val="1000"/>
              </a:spcAft>
              <a:buClr>
                <a:schemeClr val="bg1"/>
              </a:buClr>
              <a:buSzPct val="100000"/>
              <a:buFont typeface="Arial" panose="020B0604020202020204" pitchFamily="34" charset="0"/>
              <a:buChar char="•"/>
              <a:defRPr sz="1400">
                <a:solidFill>
                  <a:schemeClr val="bg1"/>
                </a:solidFill>
                <a:ea typeface="ＭＳ Ｐゴシック" charset="0"/>
              </a:defRPr>
            </a:lvl1pPr>
          </a:lstStyle>
          <a:p>
            <a:r>
              <a:rPr lang="en-US" sz="1800" dirty="0"/>
              <a:t>Workfront triggers CTT ID creation for pilot activations.</a:t>
            </a:r>
          </a:p>
          <a:p>
            <a:r>
              <a:rPr lang="en-US" sz="1800" dirty="0"/>
              <a:t>CTT carries Workfront-aligned FY27 data attributes.</a:t>
            </a:r>
          </a:p>
          <a:p>
            <a:r>
              <a:rPr lang="en-US" sz="1800" dirty="0"/>
              <a:t>IDs are written back to Workfront.</a:t>
            </a:r>
          </a:p>
          <a:p>
            <a:endParaRPr lang="en-GB" sz="1800" dirty="0" err="1"/>
          </a:p>
        </p:txBody>
      </p:sp>
      <p:sp>
        <p:nvSpPr>
          <p:cNvPr id="15" name="Rectangle: Rounded Corners 14">
            <a:extLst>
              <a:ext uri="{FF2B5EF4-FFF2-40B4-BE49-F238E27FC236}">
                <a16:creationId xmlns:a16="http://schemas.microsoft.com/office/drawing/2014/main" id="{2C4F21C1-E759-4113-91DB-64FF1D4DB690}"/>
              </a:ext>
            </a:extLst>
          </p:cNvPr>
          <p:cNvSpPr/>
          <p:nvPr/>
        </p:nvSpPr>
        <p:spPr>
          <a:xfrm>
            <a:off x="8004381" y="2080454"/>
            <a:ext cx="3447638" cy="3638550"/>
          </a:xfrm>
          <a:prstGeom prst="roundRect">
            <a:avLst>
              <a:gd name="adj" fmla="val 8379"/>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algn="l"/>
            <a:endParaRPr lang="en-GB" sz="1600" dirty="0">
              <a:solidFill>
                <a:schemeClr val="bg1"/>
              </a:solidFill>
            </a:endParaRPr>
          </a:p>
        </p:txBody>
      </p:sp>
      <p:cxnSp>
        <p:nvCxnSpPr>
          <p:cNvPr id="16" name="Straight Connector 15">
            <a:extLst>
              <a:ext uri="{FF2B5EF4-FFF2-40B4-BE49-F238E27FC236}">
                <a16:creationId xmlns:a16="http://schemas.microsoft.com/office/drawing/2014/main" id="{3B1F6E59-D8DF-1917-216C-AC5C87AD9F85}"/>
              </a:ext>
            </a:extLst>
          </p:cNvPr>
          <p:cNvCxnSpPr>
            <a:cxnSpLocks/>
          </p:cNvCxnSpPr>
          <p:nvPr/>
        </p:nvCxnSpPr>
        <p:spPr>
          <a:xfrm>
            <a:off x="8004556" y="2602811"/>
            <a:ext cx="3447288"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17" name="TextBox 16">
            <a:extLst>
              <a:ext uri="{FF2B5EF4-FFF2-40B4-BE49-F238E27FC236}">
                <a16:creationId xmlns:a16="http://schemas.microsoft.com/office/drawing/2014/main" id="{5B970176-9BC1-F053-1354-74018A53E306}"/>
              </a:ext>
            </a:extLst>
          </p:cNvPr>
          <p:cNvSpPr txBox="1"/>
          <p:nvPr/>
        </p:nvSpPr>
        <p:spPr>
          <a:xfrm>
            <a:off x="8128000" y="2128908"/>
            <a:ext cx="3200400" cy="444500"/>
          </a:xfrm>
          <a:prstGeom prst="rect">
            <a:avLst/>
          </a:prstGeom>
          <a:noFill/>
        </p:spPr>
        <p:txBody>
          <a:bodyPr wrap="square" lIns="0" tIns="0" rIns="0" bIns="0" rtlCol="0" anchor="ctr">
            <a:noAutofit/>
          </a:bodyPr>
          <a:lstStyle/>
          <a:p>
            <a:pPr algn="ctr" defTabSz="912276" rtl="0" eaLnBrk="1" fontAlgn="base" hangingPunct="1">
              <a:lnSpc>
                <a:spcPct val="100000"/>
              </a:lnSpc>
              <a:spcBef>
                <a:spcPts val="0"/>
              </a:spcBef>
              <a:spcAft>
                <a:spcPts val="1000"/>
              </a:spcAft>
              <a:buClr>
                <a:schemeClr val="bg1"/>
              </a:buClr>
              <a:buSzPct val="100000"/>
            </a:pPr>
            <a:r>
              <a:rPr lang="en-US" sz="2000" kern="1200" dirty="0">
                <a:solidFill>
                  <a:schemeClr val="bg1"/>
                </a:solidFill>
                <a:latin typeface="+mn-lt"/>
                <a:ea typeface="ＭＳ Ｐゴシック" charset="0"/>
              </a:rPr>
              <a:t>Future State</a:t>
            </a:r>
            <a:endParaRPr lang="en-GB" sz="2000" kern="1200" dirty="0" err="1">
              <a:solidFill>
                <a:schemeClr val="bg1"/>
              </a:solidFill>
              <a:latin typeface="+mn-lt"/>
              <a:ea typeface="ＭＳ Ｐゴシック" charset="0"/>
            </a:endParaRPr>
          </a:p>
        </p:txBody>
      </p:sp>
      <p:sp>
        <p:nvSpPr>
          <p:cNvPr id="18" name="TextBox 17">
            <a:extLst>
              <a:ext uri="{FF2B5EF4-FFF2-40B4-BE49-F238E27FC236}">
                <a16:creationId xmlns:a16="http://schemas.microsoft.com/office/drawing/2014/main" id="{B14783B9-04C0-758A-D2D9-F8A652A2A6D5}"/>
              </a:ext>
            </a:extLst>
          </p:cNvPr>
          <p:cNvSpPr txBox="1"/>
          <p:nvPr/>
        </p:nvSpPr>
        <p:spPr>
          <a:xfrm>
            <a:off x="8070850" y="2732158"/>
            <a:ext cx="3314700" cy="2705802"/>
          </a:xfrm>
          <a:prstGeom prst="rect">
            <a:avLst/>
          </a:prstGeom>
          <a:noFill/>
        </p:spPr>
        <p:txBody>
          <a:bodyPr wrap="square" lIns="0" tIns="0" rIns="0" bIns="0" rtlCol="0">
            <a:noAutofit/>
          </a:bodyPr>
          <a:lstStyle>
            <a:defPPr>
              <a:defRPr lang="en-US"/>
            </a:defPPr>
            <a:lvl1pPr marL="182880" indent="-182880" defTabSz="912276" fontAlgn="base">
              <a:lnSpc>
                <a:spcPct val="100000"/>
              </a:lnSpc>
              <a:spcBef>
                <a:spcPts val="0"/>
              </a:spcBef>
              <a:spcAft>
                <a:spcPts val="1000"/>
              </a:spcAft>
              <a:buClr>
                <a:schemeClr val="bg1"/>
              </a:buClr>
              <a:buSzPct val="100000"/>
              <a:buFont typeface="Arial" panose="020B0604020202020204" pitchFamily="34" charset="0"/>
              <a:buChar char="•"/>
              <a:defRPr sz="1400">
                <a:solidFill>
                  <a:schemeClr val="bg1"/>
                </a:solidFill>
                <a:ea typeface="ＭＳ Ｐゴシック" charset="0"/>
              </a:defRPr>
            </a:lvl1pPr>
          </a:lstStyle>
          <a:p>
            <a:r>
              <a:rPr lang="en-US" sz="1800" dirty="0"/>
              <a:t>Workfront data and standardized UTMs become the governed reporting source.</a:t>
            </a:r>
          </a:p>
          <a:p>
            <a:r>
              <a:rPr lang="en-US" sz="1800" dirty="0"/>
              <a:t>Legacy OCIDs are mapped, retired and removed.</a:t>
            </a:r>
          </a:p>
          <a:p>
            <a:r>
              <a:rPr lang="en-US" sz="1800" dirty="0"/>
              <a:t>CTT is decommissioned when readiness criteria are met.</a:t>
            </a:r>
          </a:p>
        </p:txBody>
      </p:sp>
      <p:sp>
        <p:nvSpPr>
          <p:cNvPr id="20" name="TextBox 19">
            <a:extLst>
              <a:ext uri="{FF2B5EF4-FFF2-40B4-BE49-F238E27FC236}">
                <a16:creationId xmlns:a16="http://schemas.microsoft.com/office/drawing/2014/main" id="{EC724110-35EB-2DF1-C31E-C5B89EC865C0}"/>
              </a:ext>
            </a:extLst>
          </p:cNvPr>
          <p:cNvSpPr txBox="1"/>
          <p:nvPr/>
        </p:nvSpPr>
        <p:spPr>
          <a:xfrm>
            <a:off x="891540" y="5909953"/>
            <a:ext cx="10332720" cy="529376"/>
          </a:xfrm>
          <a:prstGeom prst="rect">
            <a:avLst/>
          </a:prstGeom>
          <a:noFill/>
        </p:spPr>
        <p:txBody>
          <a:bodyPr wrap="square" lIns="0" tIns="0" rIns="0" bIns="0" rtlCol="0" anchor="ctr">
            <a:noAutofit/>
          </a:bodyPr>
          <a:lstStyle>
            <a:defPPr>
              <a:defRPr lang="en-US"/>
            </a:defPPr>
            <a:lvl1pPr algn="ctr" defTabSz="912276" fontAlgn="base">
              <a:lnSpc>
                <a:spcPct val="100000"/>
              </a:lnSpc>
              <a:spcBef>
                <a:spcPts val="0"/>
              </a:spcBef>
              <a:spcAft>
                <a:spcPts val="1000"/>
              </a:spcAft>
              <a:buClr>
                <a:schemeClr val="bg1"/>
              </a:buClr>
              <a:buSzPct val="100000"/>
              <a:defRPr sz="1600">
                <a:solidFill>
                  <a:schemeClr val="accent2"/>
                </a:solidFill>
                <a:ea typeface="ＭＳ Ｐゴシック" charset="0"/>
              </a:defRPr>
            </a:lvl1pPr>
          </a:lstStyle>
          <a:p>
            <a:r>
              <a:rPr b="1" i="1" dirty="0">
                <a:solidFill>
                  <a:schemeClr val="bg1"/>
                </a:solidFill>
              </a:rPr>
              <a:t>Principle: </a:t>
            </a:r>
            <a:r>
              <a:rPr i="1" dirty="0">
                <a:solidFill>
                  <a:schemeClr val="bg1"/>
                </a:solidFill>
              </a:rPr>
              <a:t>do not preserve CTT as a permanent destination; adapt it so every step improves Workfront readiness and decommission evidence.</a:t>
            </a:r>
          </a:p>
        </p:txBody>
      </p:sp>
    </p:spTree>
    <p:extLst>
      <p:ext uri="{BB962C8B-B14F-4D97-AF65-F5344CB8AC3E}">
        <p14:creationId xmlns:p14="http://schemas.microsoft.com/office/powerpoint/2010/main" val="2510956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FE8B-1559-3524-D8B3-1DC61C3D3038}"/>
              </a:ext>
            </a:extLst>
          </p:cNvPr>
          <p:cNvSpPr>
            <a:spLocks noGrp="1"/>
          </p:cNvSpPr>
          <p:nvPr>
            <p:ph type="title"/>
          </p:nvPr>
        </p:nvSpPr>
        <p:spPr/>
        <p:txBody>
          <a:bodyPr/>
          <a:lstStyle/>
          <a:p>
            <a:r>
              <a:rPr lang="en-US" dirty="0"/>
              <a:t>Risks</a:t>
            </a:r>
            <a:endParaRPr lang="en-GB" dirty="0"/>
          </a:p>
        </p:txBody>
      </p:sp>
      <p:sp>
        <p:nvSpPr>
          <p:cNvPr id="8" name="TextBox 7">
            <a:extLst>
              <a:ext uri="{FF2B5EF4-FFF2-40B4-BE49-F238E27FC236}">
                <a16:creationId xmlns:a16="http://schemas.microsoft.com/office/drawing/2014/main" id="{95897E95-A979-DBCA-4B34-63ABD5085C23}"/>
              </a:ext>
            </a:extLst>
          </p:cNvPr>
          <p:cNvSpPr txBox="1"/>
          <p:nvPr/>
        </p:nvSpPr>
        <p:spPr>
          <a:xfrm>
            <a:off x="1572165" y="978408"/>
            <a:ext cx="9047670" cy="338554"/>
          </a:xfrm>
          <a:prstGeom prst="rect">
            <a:avLst/>
          </a:prstGeom>
          <a:noFill/>
        </p:spPr>
        <p:txBody>
          <a:bodyPr wrap="square" lIns="0" tIns="0" rIns="0" bIns="0" rtlCol="0" anchor="ctr">
            <a:noAutofit/>
          </a:bodyPr>
          <a:lstStyle>
            <a:defPPr>
              <a:defRPr lang="en-US"/>
            </a:defPPr>
            <a:lvl1pPr algn="ctr" defTabSz="912276" fontAlgn="base">
              <a:lnSpc>
                <a:spcPct val="100000"/>
              </a:lnSpc>
              <a:spcBef>
                <a:spcPts val="0"/>
              </a:spcBef>
              <a:spcAft>
                <a:spcPts val="1000"/>
              </a:spcAft>
              <a:buClr>
                <a:schemeClr val="bg1"/>
              </a:buClr>
              <a:buSzPct val="100000"/>
              <a:defRPr sz="1600">
                <a:solidFill>
                  <a:schemeClr val="accent2"/>
                </a:solidFill>
                <a:ea typeface="ＭＳ Ｐゴシック" charset="0"/>
              </a:defRPr>
            </a:lvl1pPr>
          </a:lstStyle>
          <a:p>
            <a:r>
              <a:rPr dirty="0"/>
              <a:t>The proposal acknowledges the target decommission outcome while reducing transition risk.</a:t>
            </a:r>
          </a:p>
        </p:txBody>
      </p:sp>
      <p:sp>
        <p:nvSpPr>
          <p:cNvPr id="10" name="Arrow: Pentagon 9">
            <a:extLst>
              <a:ext uri="{FF2B5EF4-FFF2-40B4-BE49-F238E27FC236}">
                <a16:creationId xmlns:a16="http://schemas.microsoft.com/office/drawing/2014/main" id="{C06D4592-E17D-291E-312B-41D847B675CE}"/>
              </a:ext>
            </a:extLst>
          </p:cNvPr>
          <p:cNvSpPr/>
          <p:nvPr/>
        </p:nvSpPr>
        <p:spPr>
          <a:xfrm>
            <a:off x="1687739" y="1506766"/>
            <a:ext cx="4572000" cy="822960"/>
          </a:xfrm>
          <a:prstGeom prst="homePlate">
            <a:avLst/>
          </a:prstGeom>
          <a:solidFill>
            <a:schemeClr val="tx1">
              <a:lumMod val="95000"/>
            </a:schemeClr>
          </a:solid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1" name="Rectangle: Rounded Corners 10">
            <a:extLst>
              <a:ext uri="{FF2B5EF4-FFF2-40B4-BE49-F238E27FC236}">
                <a16:creationId xmlns:a16="http://schemas.microsoft.com/office/drawing/2014/main" id="{F2022050-6ADE-2A2B-C413-4DD3847DE3AC}"/>
              </a:ext>
            </a:extLst>
          </p:cNvPr>
          <p:cNvSpPr/>
          <p:nvPr/>
        </p:nvSpPr>
        <p:spPr>
          <a:xfrm flipH="1">
            <a:off x="1687739" y="1506766"/>
            <a:ext cx="9144000" cy="822960"/>
          </a:xfrm>
          <a:prstGeom prst="roundRect">
            <a:avLst>
              <a:gd name="adj" fmla="val 50000"/>
            </a:avLst>
          </a:prstGeom>
          <a:no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 name="Oval 2">
            <a:extLst>
              <a:ext uri="{FF2B5EF4-FFF2-40B4-BE49-F238E27FC236}">
                <a16:creationId xmlns:a16="http://schemas.microsoft.com/office/drawing/2014/main" id="{619E8CED-6A16-B8C2-F09E-19301148CBCA}"/>
              </a:ext>
            </a:extLst>
          </p:cNvPr>
          <p:cNvSpPr/>
          <p:nvPr/>
        </p:nvSpPr>
        <p:spPr>
          <a:xfrm>
            <a:off x="1273175" y="1506766"/>
            <a:ext cx="822960" cy="822960"/>
          </a:xfrm>
          <a:prstGeom prst="ellipse">
            <a:avLst/>
          </a:prstGeom>
          <a:solidFill>
            <a:schemeClr val="tx1"/>
          </a:solidFill>
          <a:ln w="158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nchorCtr="0">
            <a:noAutofit/>
          </a:bodyPr>
          <a:lstStyle/>
          <a:p>
            <a:pPr algn="ctr"/>
            <a:r>
              <a:rPr lang="en-US" sz="3600" dirty="0">
                <a:solidFill>
                  <a:schemeClr val="bg1"/>
                </a:solidFill>
                <a:latin typeface="Impact" panose="020B0806030902050204" pitchFamily="34" charset="0"/>
              </a:rPr>
              <a:t>1</a:t>
            </a:r>
            <a:endParaRPr lang="en-GB" sz="3600" dirty="0">
              <a:solidFill>
                <a:schemeClr val="bg1"/>
              </a:solidFill>
              <a:latin typeface="Impact" panose="020B0806030902050204" pitchFamily="34" charset="0"/>
            </a:endParaRPr>
          </a:p>
        </p:txBody>
      </p:sp>
      <p:sp>
        <p:nvSpPr>
          <p:cNvPr id="12" name="TextBox 11">
            <a:extLst>
              <a:ext uri="{FF2B5EF4-FFF2-40B4-BE49-F238E27FC236}">
                <a16:creationId xmlns:a16="http://schemas.microsoft.com/office/drawing/2014/main" id="{23494404-49DC-986E-8A43-DF684E619461}"/>
              </a:ext>
            </a:extLst>
          </p:cNvPr>
          <p:cNvSpPr txBox="1"/>
          <p:nvPr/>
        </p:nvSpPr>
        <p:spPr>
          <a:xfrm>
            <a:off x="3562259" y="1603832"/>
            <a:ext cx="822960" cy="244640"/>
          </a:xfrm>
          <a:prstGeom prst="rect">
            <a:avLst/>
          </a:prstGeom>
          <a:noFill/>
        </p:spPr>
        <p:txBody>
          <a:bodyPr wrap="square" lIns="0" tIns="0" rIns="0" bIns="0" rtlCol="0">
            <a:noAutofit/>
          </a:bodyPr>
          <a:lstStyle/>
          <a:p>
            <a:pPr algn="ctr" defTabSz="912276" fontAlgn="base">
              <a:spcAft>
                <a:spcPts val="1000"/>
              </a:spcAft>
              <a:buClr>
                <a:schemeClr val="bg1"/>
              </a:buClr>
              <a:buSzPct val="100000"/>
            </a:pPr>
            <a:r>
              <a:rPr lang="en-US" sz="1400" b="1" dirty="0">
                <a:solidFill>
                  <a:schemeClr val="bg1"/>
                </a:solidFill>
              </a:rPr>
              <a:t>Risk</a:t>
            </a:r>
            <a:endParaRPr lang="en-GB" sz="1400" b="1" kern="1200" dirty="0" err="1">
              <a:solidFill>
                <a:schemeClr val="bg1"/>
              </a:solidFill>
              <a:latin typeface="+mn-lt"/>
              <a:ea typeface="ＭＳ Ｐゴシック" charset="0"/>
            </a:endParaRPr>
          </a:p>
        </p:txBody>
      </p:sp>
      <p:sp>
        <p:nvSpPr>
          <p:cNvPr id="13" name="TextBox 12">
            <a:extLst>
              <a:ext uri="{FF2B5EF4-FFF2-40B4-BE49-F238E27FC236}">
                <a16:creationId xmlns:a16="http://schemas.microsoft.com/office/drawing/2014/main" id="{5A51F328-594E-D6E8-E1F7-C2364BD00AC6}"/>
              </a:ext>
            </a:extLst>
          </p:cNvPr>
          <p:cNvSpPr txBox="1"/>
          <p:nvPr/>
        </p:nvSpPr>
        <p:spPr>
          <a:xfrm>
            <a:off x="2304596" y="1953972"/>
            <a:ext cx="3338286" cy="244640"/>
          </a:xfrm>
          <a:prstGeom prst="rect">
            <a:avLst/>
          </a:prstGeom>
          <a:noFill/>
        </p:spPr>
        <p:txBody>
          <a:bodyPr wrap="square" lIns="0" tIns="0" rIns="0" bIns="0" rtlCol="0">
            <a:noAutofit/>
          </a:bodyPr>
          <a:lstStyle/>
          <a:p>
            <a:pPr algn="ctr" defTabSz="912276" fontAlgn="base">
              <a:spcAft>
                <a:spcPts val="1000"/>
              </a:spcAft>
              <a:buClr>
                <a:schemeClr val="bg1"/>
              </a:buClr>
              <a:buSzPct val="100000"/>
            </a:pPr>
            <a:r>
              <a:rPr lang="en-US" sz="1200" dirty="0">
                <a:solidFill>
                  <a:schemeClr val="bg1"/>
                </a:solidFill>
              </a:rPr>
              <a:t>POC is seen as extending CTT life</a:t>
            </a:r>
          </a:p>
          <a:p>
            <a:pPr algn="ctr" defTabSz="912276" rtl="0" eaLnBrk="1" fontAlgn="base" hangingPunct="1">
              <a:lnSpc>
                <a:spcPct val="100000"/>
              </a:lnSpc>
              <a:spcBef>
                <a:spcPts val="0"/>
              </a:spcBef>
              <a:spcAft>
                <a:spcPts val="1000"/>
              </a:spcAft>
              <a:buClr>
                <a:schemeClr val="bg1"/>
              </a:buClr>
              <a:buSzPct val="100000"/>
            </a:pPr>
            <a:endParaRPr lang="en-GB" sz="1200" kern="1200" dirty="0" err="1">
              <a:solidFill>
                <a:schemeClr val="bg1"/>
              </a:solidFill>
              <a:latin typeface="+mn-lt"/>
              <a:ea typeface="ＭＳ Ｐゴシック" charset="0"/>
            </a:endParaRPr>
          </a:p>
        </p:txBody>
      </p:sp>
      <p:sp>
        <p:nvSpPr>
          <p:cNvPr id="14" name="TextBox 13">
            <a:extLst>
              <a:ext uri="{FF2B5EF4-FFF2-40B4-BE49-F238E27FC236}">
                <a16:creationId xmlns:a16="http://schemas.microsoft.com/office/drawing/2014/main" id="{2D1BAE93-ED42-1631-59A7-6387392725F3}"/>
              </a:ext>
            </a:extLst>
          </p:cNvPr>
          <p:cNvSpPr txBox="1"/>
          <p:nvPr/>
        </p:nvSpPr>
        <p:spPr>
          <a:xfrm>
            <a:off x="8134259" y="1603832"/>
            <a:ext cx="822960" cy="244640"/>
          </a:xfrm>
          <a:prstGeom prst="rect">
            <a:avLst/>
          </a:prstGeom>
          <a:noFill/>
        </p:spPr>
        <p:txBody>
          <a:bodyPr wrap="square" lIns="0" tIns="0" rIns="0" bIns="0" rtlCol="0">
            <a:noAutofit/>
          </a:bodyPr>
          <a:lstStyle/>
          <a:p>
            <a:pPr algn="ctr" defTabSz="912276" fontAlgn="base">
              <a:spcAft>
                <a:spcPts val="1000"/>
              </a:spcAft>
              <a:buClr>
                <a:schemeClr val="bg1"/>
              </a:buClr>
              <a:buSzPct val="100000"/>
            </a:pPr>
            <a:r>
              <a:rPr lang="en-US" sz="1400" b="1" dirty="0">
                <a:solidFill>
                  <a:schemeClr val="bg1"/>
                </a:solidFill>
              </a:rPr>
              <a:t>Control</a:t>
            </a:r>
            <a:endParaRPr lang="en-GB" sz="1400" b="1" kern="1200" dirty="0" err="1">
              <a:solidFill>
                <a:schemeClr val="bg1"/>
              </a:solidFill>
              <a:latin typeface="+mn-lt"/>
              <a:ea typeface="ＭＳ Ｐゴシック" charset="0"/>
            </a:endParaRPr>
          </a:p>
        </p:txBody>
      </p:sp>
      <p:sp>
        <p:nvSpPr>
          <p:cNvPr id="15" name="TextBox 14">
            <a:extLst>
              <a:ext uri="{FF2B5EF4-FFF2-40B4-BE49-F238E27FC236}">
                <a16:creationId xmlns:a16="http://schemas.microsoft.com/office/drawing/2014/main" id="{33120540-7B35-2D40-0845-97B6E9893E23}"/>
              </a:ext>
            </a:extLst>
          </p:cNvPr>
          <p:cNvSpPr txBox="1"/>
          <p:nvPr/>
        </p:nvSpPr>
        <p:spPr>
          <a:xfrm>
            <a:off x="6934653" y="1875322"/>
            <a:ext cx="3715658" cy="401940"/>
          </a:xfrm>
          <a:prstGeom prst="rect">
            <a:avLst/>
          </a:prstGeom>
          <a:noFill/>
        </p:spPr>
        <p:txBody>
          <a:bodyPr wrap="square" lIns="0" tIns="0" rIns="0" bIns="0" rtlCol="0">
            <a:noAutofit/>
          </a:bodyPr>
          <a:lstStyle>
            <a:defPPr>
              <a:defRPr lang="en-US"/>
            </a:defPPr>
            <a:lvl1pPr algn="ctr" defTabSz="912276" fontAlgn="base">
              <a:spcAft>
                <a:spcPts val="1000"/>
              </a:spcAft>
              <a:buClr>
                <a:schemeClr val="bg1"/>
              </a:buClr>
              <a:buSzPct val="100000"/>
              <a:defRPr sz="1200">
                <a:solidFill>
                  <a:schemeClr val="bg1"/>
                </a:solidFill>
              </a:defRPr>
            </a:lvl1pPr>
          </a:lstStyle>
          <a:p>
            <a:r>
              <a:rPr lang="en-US" dirty="0"/>
              <a:t>Define CTT as a temporary compatibility layer, with explicit exit criteria and decommission backlog.</a:t>
            </a:r>
            <a:endParaRPr lang="en-GB" dirty="0" err="1"/>
          </a:p>
        </p:txBody>
      </p:sp>
      <p:sp>
        <p:nvSpPr>
          <p:cNvPr id="18" name="Arrow: Pentagon 17">
            <a:extLst>
              <a:ext uri="{FF2B5EF4-FFF2-40B4-BE49-F238E27FC236}">
                <a16:creationId xmlns:a16="http://schemas.microsoft.com/office/drawing/2014/main" id="{ABF637F0-1627-AF45-B2ED-B931243274E8}"/>
              </a:ext>
            </a:extLst>
          </p:cNvPr>
          <p:cNvSpPr/>
          <p:nvPr/>
        </p:nvSpPr>
        <p:spPr>
          <a:xfrm>
            <a:off x="1687739" y="2495135"/>
            <a:ext cx="4572000" cy="822960"/>
          </a:xfrm>
          <a:prstGeom prst="homePlate">
            <a:avLst/>
          </a:prstGeom>
          <a:solidFill>
            <a:schemeClr val="tx1">
              <a:lumMod val="95000"/>
            </a:schemeClr>
          </a:solid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9" name="Rectangle: Rounded Corners 18">
            <a:extLst>
              <a:ext uri="{FF2B5EF4-FFF2-40B4-BE49-F238E27FC236}">
                <a16:creationId xmlns:a16="http://schemas.microsoft.com/office/drawing/2014/main" id="{2C7BBCAA-0AFC-65DE-05BD-AA161A411B0F}"/>
              </a:ext>
            </a:extLst>
          </p:cNvPr>
          <p:cNvSpPr/>
          <p:nvPr/>
        </p:nvSpPr>
        <p:spPr>
          <a:xfrm flipH="1">
            <a:off x="1687739" y="2495135"/>
            <a:ext cx="9144000" cy="822960"/>
          </a:xfrm>
          <a:prstGeom prst="roundRect">
            <a:avLst>
              <a:gd name="adj" fmla="val 50000"/>
            </a:avLst>
          </a:prstGeom>
          <a:no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0" name="Oval 19">
            <a:extLst>
              <a:ext uri="{FF2B5EF4-FFF2-40B4-BE49-F238E27FC236}">
                <a16:creationId xmlns:a16="http://schemas.microsoft.com/office/drawing/2014/main" id="{0A5584D4-8054-91A2-5D7F-779C6FEF83AD}"/>
              </a:ext>
            </a:extLst>
          </p:cNvPr>
          <p:cNvSpPr/>
          <p:nvPr/>
        </p:nvSpPr>
        <p:spPr>
          <a:xfrm>
            <a:off x="1273175" y="2495135"/>
            <a:ext cx="822960" cy="822960"/>
          </a:xfrm>
          <a:prstGeom prst="ellipse">
            <a:avLst/>
          </a:prstGeom>
          <a:solidFill>
            <a:schemeClr val="tx1"/>
          </a:solidFill>
          <a:ln w="158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nchorCtr="0">
            <a:noAutofit/>
          </a:bodyPr>
          <a:lstStyle/>
          <a:p>
            <a:pPr algn="ctr"/>
            <a:r>
              <a:rPr lang="en-US" sz="3600" dirty="0">
                <a:solidFill>
                  <a:schemeClr val="bg1"/>
                </a:solidFill>
                <a:latin typeface="Impact" panose="020B0806030902050204" pitchFamily="34" charset="0"/>
              </a:rPr>
              <a:t>2</a:t>
            </a:r>
            <a:endParaRPr lang="en-GB" sz="3600" dirty="0">
              <a:solidFill>
                <a:schemeClr val="bg1"/>
              </a:solidFill>
              <a:latin typeface="Impact" panose="020B0806030902050204" pitchFamily="34" charset="0"/>
            </a:endParaRPr>
          </a:p>
        </p:txBody>
      </p:sp>
      <p:sp>
        <p:nvSpPr>
          <p:cNvPr id="21" name="TextBox 20">
            <a:extLst>
              <a:ext uri="{FF2B5EF4-FFF2-40B4-BE49-F238E27FC236}">
                <a16:creationId xmlns:a16="http://schemas.microsoft.com/office/drawing/2014/main" id="{B1C07A75-2558-318C-6473-76EAB57885A4}"/>
              </a:ext>
            </a:extLst>
          </p:cNvPr>
          <p:cNvSpPr txBox="1"/>
          <p:nvPr/>
        </p:nvSpPr>
        <p:spPr>
          <a:xfrm>
            <a:off x="3562259" y="2592201"/>
            <a:ext cx="822960" cy="244640"/>
          </a:xfrm>
          <a:prstGeom prst="rect">
            <a:avLst/>
          </a:prstGeom>
          <a:noFill/>
        </p:spPr>
        <p:txBody>
          <a:bodyPr wrap="square" lIns="0" tIns="0" rIns="0" bIns="0" rtlCol="0">
            <a:noAutofit/>
          </a:bodyPr>
          <a:lstStyle/>
          <a:p>
            <a:pPr algn="ctr" defTabSz="912276" fontAlgn="base">
              <a:spcAft>
                <a:spcPts val="1000"/>
              </a:spcAft>
              <a:buClr>
                <a:schemeClr val="bg1"/>
              </a:buClr>
              <a:buSzPct val="100000"/>
            </a:pPr>
            <a:r>
              <a:rPr lang="en-US" sz="1400" b="1" dirty="0">
                <a:solidFill>
                  <a:schemeClr val="bg1"/>
                </a:solidFill>
              </a:rPr>
              <a:t>Risk</a:t>
            </a:r>
            <a:endParaRPr lang="en-GB" sz="1400" b="1" kern="1200" dirty="0" err="1">
              <a:solidFill>
                <a:schemeClr val="bg1"/>
              </a:solidFill>
              <a:latin typeface="+mn-lt"/>
              <a:ea typeface="ＭＳ Ｐゴシック" charset="0"/>
            </a:endParaRPr>
          </a:p>
        </p:txBody>
      </p:sp>
      <p:sp>
        <p:nvSpPr>
          <p:cNvPr id="22" name="TextBox 21">
            <a:extLst>
              <a:ext uri="{FF2B5EF4-FFF2-40B4-BE49-F238E27FC236}">
                <a16:creationId xmlns:a16="http://schemas.microsoft.com/office/drawing/2014/main" id="{C62FDF90-8E1A-590E-DC22-B95F5BC90AFA}"/>
              </a:ext>
            </a:extLst>
          </p:cNvPr>
          <p:cNvSpPr txBox="1"/>
          <p:nvPr/>
        </p:nvSpPr>
        <p:spPr>
          <a:xfrm>
            <a:off x="2304596" y="2903016"/>
            <a:ext cx="3338286" cy="375753"/>
          </a:xfrm>
          <a:prstGeom prst="rect">
            <a:avLst/>
          </a:prstGeom>
          <a:noFill/>
        </p:spPr>
        <p:txBody>
          <a:bodyPr wrap="square" lIns="0" tIns="0" rIns="0" bIns="0" rtlCol="0">
            <a:noAutofit/>
          </a:bodyPr>
          <a:lstStyle>
            <a:defPPr>
              <a:defRPr lang="en-US"/>
            </a:defPPr>
            <a:lvl1pPr algn="ctr" defTabSz="912276" fontAlgn="base">
              <a:spcAft>
                <a:spcPts val="1000"/>
              </a:spcAft>
              <a:buClr>
                <a:schemeClr val="bg1"/>
              </a:buClr>
              <a:buSzPct val="100000"/>
              <a:defRPr sz="1200">
                <a:solidFill>
                  <a:schemeClr val="bg1"/>
                </a:solidFill>
              </a:defRPr>
            </a:lvl1pPr>
          </a:lstStyle>
          <a:p>
            <a:r>
              <a:rPr lang="en-US" dirty="0"/>
              <a:t>Reporting logic diverges between Workfront and CTT</a:t>
            </a:r>
            <a:endParaRPr lang="en-GB" dirty="0" err="1"/>
          </a:p>
        </p:txBody>
      </p:sp>
      <p:sp>
        <p:nvSpPr>
          <p:cNvPr id="23" name="TextBox 22">
            <a:extLst>
              <a:ext uri="{FF2B5EF4-FFF2-40B4-BE49-F238E27FC236}">
                <a16:creationId xmlns:a16="http://schemas.microsoft.com/office/drawing/2014/main" id="{8C831018-CB93-8EDA-B3DA-353EF16031AC}"/>
              </a:ext>
            </a:extLst>
          </p:cNvPr>
          <p:cNvSpPr txBox="1"/>
          <p:nvPr/>
        </p:nvSpPr>
        <p:spPr>
          <a:xfrm>
            <a:off x="8134259" y="2592201"/>
            <a:ext cx="822960" cy="244640"/>
          </a:xfrm>
          <a:prstGeom prst="rect">
            <a:avLst/>
          </a:prstGeom>
          <a:noFill/>
        </p:spPr>
        <p:txBody>
          <a:bodyPr wrap="square" lIns="0" tIns="0" rIns="0" bIns="0" rtlCol="0">
            <a:noAutofit/>
          </a:bodyPr>
          <a:lstStyle/>
          <a:p>
            <a:pPr algn="ctr" defTabSz="912276" fontAlgn="base">
              <a:spcAft>
                <a:spcPts val="1000"/>
              </a:spcAft>
              <a:buClr>
                <a:schemeClr val="bg1"/>
              </a:buClr>
              <a:buSzPct val="100000"/>
            </a:pPr>
            <a:r>
              <a:rPr lang="en-US" sz="1400" b="1" dirty="0">
                <a:solidFill>
                  <a:schemeClr val="bg1"/>
                </a:solidFill>
              </a:rPr>
              <a:t>Control</a:t>
            </a:r>
            <a:endParaRPr lang="en-GB" sz="1400" b="1" kern="1200" dirty="0" err="1">
              <a:solidFill>
                <a:schemeClr val="bg1"/>
              </a:solidFill>
              <a:latin typeface="+mn-lt"/>
              <a:ea typeface="ＭＳ Ｐゴシック" charset="0"/>
            </a:endParaRPr>
          </a:p>
        </p:txBody>
      </p:sp>
      <p:sp>
        <p:nvSpPr>
          <p:cNvPr id="24" name="TextBox 23">
            <a:extLst>
              <a:ext uri="{FF2B5EF4-FFF2-40B4-BE49-F238E27FC236}">
                <a16:creationId xmlns:a16="http://schemas.microsoft.com/office/drawing/2014/main" id="{ED4566B5-76D9-764D-5382-31F062EB79BC}"/>
              </a:ext>
            </a:extLst>
          </p:cNvPr>
          <p:cNvSpPr txBox="1"/>
          <p:nvPr/>
        </p:nvSpPr>
        <p:spPr>
          <a:xfrm>
            <a:off x="6934653" y="2889922"/>
            <a:ext cx="3715658" cy="401940"/>
          </a:xfrm>
          <a:prstGeom prst="rect">
            <a:avLst/>
          </a:prstGeom>
          <a:noFill/>
        </p:spPr>
        <p:txBody>
          <a:bodyPr wrap="square" lIns="0" tIns="0" rIns="0" bIns="0" rtlCol="0">
            <a:noAutofit/>
          </a:bodyPr>
          <a:lstStyle>
            <a:defPPr>
              <a:defRPr lang="en-US"/>
            </a:defPPr>
            <a:lvl1pPr algn="ctr" defTabSz="912276" fontAlgn="base">
              <a:spcAft>
                <a:spcPts val="1000"/>
              </a:spcAft>
              <a:buClr>
                <a:schemeClr val="bg1"/>
              </a:buClr>
              <a:buSzPct val="100000"/>
              <a:defRPr sz="1200">
                <a:solidFill>
                  <a:schemeClr val="bg1"/>
                </a:solidFill>
              </a:defRPr>
            </a:lvl1pPr>
          </a:lstStyle>
          <a:p>
            <a:r>
              <a:rPr lang="en-US" dirty="0"/>
              <a:t>Govern a shared attribute dictionary and validate pilot reports before scale.</a:t>
            </a:r>
            <a:endParaRPr lang="en-GB" dirty="0" err="1"/>
          </a:p>
        </p:txBody>
      </p:sp>
      <p:sp>
        <p:nvSpPr>
          <p:cNvPr id="26" name="Arrow: Pentagon 25">
            <a:extLst>
              <a:ext uri="{FF2B5EF4-FFF2-40B4-BE49-F238E27FC236}">
                <a16:creationId xmlns:a16="http://schemas.microsoft.com/office/drawing/2014/main" id="{2E71665A-DDEA-0F16-2541-F9903439E088}"/>
              </a:ext>
            </a:extLst>
          </p:cNvPr>
          <p:cNvSpPr/>
          <p:nvPr/>
        </p:nvSpPr>
        <p:spPr>
          <a:xfrm>
            <a:off x="1687739" y="3483504"/>
            <a:ext cx="4572000" cy="822960"/>
          </a:xfrm>
          <a:prstGeom prst="homePlate">
            <a:avLst/>
          </a:prstGeom>
          <a:solidFill>
            <a:schemeClr val="tx1">
              <a:lumMod val="95000"/>
            </a:schemeClr>
          </a:solid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7" name="Rectangle: Rounded Corners 26">
            <a:extLst>
              <a:ext uri="{FF2B5EF4-FFF2-40B4-BE49-F238E27FC236}">
                <a16:creationId xmlns:a16="http://schemas.microsoft.com/office/drawing/2014/main" id="{8FEE6D36-469B-38E7-5366-24E8F9AF963B}"/>
              </a:ext>
            </a:extLst>
          </p:cNvPr>
          <p:cNvSpPr/>
          <p:nvPr/>
        </p:nvSpPr>
        <p:spPr>
          <a:xfrm flipH="1">
            <a:off x="1687739" y="3483504"/>
            <a:ext cx="9144000" cy="822960"/>
          </a:xfrm>
          <a:prstGeom prst="roundRect">
            <a:avLst>
              <a:gd name="adj" fmla="val 50000"/>
            </a:avLst>
          </a:prstGeom>
          <a:no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28" name="Oval 27">
            <a:extLst>
              <a:ext uri="{FF2B5EF4-FFF2-40B4-BE49-F238E27FC236}">
                <a16:creationId xmlns:a16="http://schemas.microsoft.com/office/drawing/2014/main" id="{FD451B93-E072-0808-07CA-AF870D1F381E}"/>
              </a:ext>
            </a:extLst>
          </p:cNvPr>
          <p:cNvSpPr/>
          <p:nvPr/>
        </p:nvSpPr>
        <p:spPr>
          <a:xfrm>
            <a:off x="1273175" y="3483504"/>
            <a:ext cx="822960" cy="822960"/>
          </a:xfrm>
          <a:prstGeom prst="ellipse">
            <a:avLst/>
          </a:prstGeom>
          <a:solidFill>
            <a:schemeClr val="tx1"/>
          </a:solidFill>
          <a:ln w="158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nchorCtr="0">
            <a:noAutofit/>
          </a:bodyPr>
          <a:lstStyle/>
          <a:p>
            <a:pPr algn="ctr"/>
            <a:r>
              <a:rPr lang="en-US" sz="3600" dirty="0">
                <a:solidFill>
                  <a:schemeClr val="bg1"/>
                </a:solidFill>
                <a:latin typeface="Impact" panose="020B0806030902050204" pitchFamily="34" charset="0"/>
              </a:rPr>
              <a:t>3</a:t>
            </a:r>
            <a:endParaRPr lang="en-GB" sz="3600" dirty="0">
              <a:solidFill>
                <a:schemeClr val="bg1"/>
              </a:solidFill>
              <a:latin typeface="Impact" panose="020B0806030902050204" pitchFamily="34" charset="0"/>
            </a:endParaRPr>
          </a:p>
        </p:txBody>
      </p:sp>
      <p:sp>
        <p:nvSpPr>
          <p:cNvPr id="29" name="TextBox 28">
            <a:extLst>
              <a:ext uri="{FF2B5EF4-FFF2-40B4-BE49-F238E27FC236}">
                <a16:creationId xmlns:a16="http://schemas.microsoft.com/office/drawing/2014/main" id="{48146C37-551A-D617-7D9A-C5FB4292E7BE}"/>
              </a:ext>
            </a:extLst>
          </p:cNvPr>
          <p:cNvSpPr txBox="1"/>
          <p:nvPr/>
        </p:nvSpPr>
        <p:spPr>
          <a:xfrm>
            <a:off x="3562259" y="3580570"/>
            <a:ext cx="822960" cy="244640"/>
          </a:xfrm>
          <a:prstGeom prst="rect">
            <a:avLst/>
          </a:prstGeom>
          <a:noFill/>
        </p:spPr>
        <p:txBody>
          <a:bodyPr wrap="square" lIns="0" tIns="0" rIns="0" bIns="0" rtlCol="0">
            <a:noAutofit/>
          </a:bodyPr>
          <a:lstStyle/>
          <a:p>
            <a:pPr algn="ctr" defTabSz="912276" fontAlgn="base">
              <a:spcAft>
                <a:spcPts val="1000"/>
              </a:spcAft>
              <a:buClr>
                <a:schemeClr val="bg1"/>
              </a:buClr>
              <a:buSzPct val="100000"/>
            </a:pPr>
            <a:r>
              <a:rPr lang="en-US" sz="1400" b="1" dirty="0">
                <a:solidFill>
                  <a:schemeClr val="bg1"/>
                </a:solidFill>
              </a:rPr>
              <a:t>Risk</a:t>
            </a:r>
            <a:endParaRPr lang="en-GB" sz="1400" b="1" kern="1200" dirty="0" err="1">
              <a:solidFill>
                <a:schemeClr val="bg1"/>
              </a:solidFill>
              <a:latin typeface="+mn-lt"/>
              <a:ea typeface="ＭＳ Ｐゴシック" charset="0"/>
            </a:endParaRPr>
          </a:p>
        </p:txBody>
      </p:sp>
      <p:sp>
        <p:nvSpPr>
          <p:cNvPr id="30" name="TextBox 29">
            <a:extLst>
              <a:ext uri="{FF2B5EF4-FFF2-40B4-BE49-F238E27FC236}">
                <a16:creationId xmlns:a16="http://schemas.microsoft.com/office/drawing/2014/main" id="{BD72E872-179E-70D7-F874-C2FFE540ED5F}"/>
              </a:ext>
            </a:extLst>
          </p:cNvPr>
          <p:cNvSpPr txBox="1"/>
          <p:nvPr/>
        </p:nvSpPr>
        <p:spPr>
          <a:xfrm>
            <a:off x="2304596" y="3891385"/>
            <a:ext cx="3338286" cy="375753"/>
          </a:xfrm>
          <a:prstGeom prst="rect">
            <a:avLst/>
          </a:prstGeom>
          <a:noFill/>
        </p:spPr>
        <p:txBody>
          <a:bodyPr wrap="square" lIns="0" tIns="0" rIns="0" bIns="0" rtlCol="0">
            <a:noAutofit/>
          </a:bodyPr>
          <a:lstStyle>
            <a:defPPr>
              <a:defRPr lang="en-US"/>
            </a:defPPr>
            <a:lvl1pPr algn="ctr" defTabSz="912276" fontAlgn="base">
              <a:spcAft>
                <a:spcPts val="1000"/>
              </a:spcAft>
              <a:buClr>
                <a:schemeClr val="bg1"/>
              </a:buClr>
              <a:buSzPct val="100000"/>
              <a:defRPr sz="1200">
                <a:solidFill>
                  <a:schemeClr val="bg1"/>
                </a:solidFill>
              </a:defRPr>
            </a:lvl1pPr>
          </a:lstStyle>
          <a:p>
            <a:r>
              <a:rPr lang="en-US" dirty="0"/>
              <a:t>downstream systems cannot absorb changes quickly</a:t>
            </a:r>
            <a:endParaRPr lang="en-GB" dirty="0" err="1"/>
          </a:p>
        </p:txBody>
      </p:sp>
      <p:sp>
        <p:nvSpPr>
          <p:cNvPr id="31" name="TextBox 30">
            <a:extLst>
              <a:ext uri="{FF2B5EF4-FFF2-40B4-BE49-F238E27FC236}">
                <a16:creationId xmlns:a16="http://schemas.microsoft.com/office/drawing/2014/main" id="{314CD60C-1727-5948-861F-09CBFC109279}"/>
              </a:ext>
            </a:extLst>
          </p:cNvPr>
          <p:cNvSpPr txBox="1"/>
          <p:nvPr/>
        </p:nvSpPr>
        <p:spPr>
          <a:xfrm>
            <a:off x="8134259" y="3580570"/>
            <a:ext cx="822960" cy="244640"/>
          </a:xfrm>
          <a:prstGeom prst="rect">
            <a:avLst/>
          </a:prstGeom>
          <a:noFill/>
        </p:spPr>
        <p:txBody>
          <a:bodyPr wrap="square" lIns="0" tIns="0" rIns="0" bIns="0" rtlCol="0">
            <a:noAutofit/>
          </a:bodyPr>
          <a:lstStyle/>
          <a:p>
            <a:pPr algn="ctr" defTabSz="912276" fontAlgn="base">
              <a:spcAft>
                <a:spcPts val="1000"/>
              </a:spcAft>
              <a:buClr>
                <a:schemeClr val="bg1"/>
              </a:buClr>
              <a:buSzPct val="100000"/>
            </a:pPr>
            <a:r>
              <a:rPr lang="en-US" sz="1400" b="1" dirty="0">
                <a:solidFill>
                  <a:schemeClr val="bg1"/>
                </a:solidFill>
              </a:rPr>
              <a:t>Control</a:t>
            </a:r>
            <a:endParaRPr lang="en-GB" sz="1400" b="1" kern="1200" dirty="0" err="1">
              <a:solidFill>
                <a:schemeClr val="bg1"/>
              </a:solidFill>
              <a:latin typeface="+mn-lt"/>
              <a:ea typeface="ＭＳ Ｐゴシック" charset="0"/>
            </a:endParaRPr>
          </a:p>
        </p:txBody>
      </p:sp>
      <p:sp>
        <p:nvSpPr>
          <p:cNvPr id="32" name="TextBox 31">
            <a:extLst>
              <a:ext uri="{FF2B5EF4-FFF2-40B4-BE49-F238E27FC236}">
                <a16:creationId xmlns:a16="http://schemas.microsoft.com/office/drawing/2014/main" id="{B704E01D-359B-BA1B-A799-9DDAB538F27B}"/>
              </a:ext>
            </a:extLst>
          </p:cNvPr>
          <p:cNvSpPr txBox="1"/>
          <p:nvPr/>
        </p:nvSpPr>
        <p:spPr>
          <a:xfrm>
            <a:off x="6934653" y="3878291"/>
            <a:ext cx="3715658" cy="401940"/>
          </a:xfrm>
          <a:prstGeom prst="rect">
            <a:avLst/>
          </a:prstGeom>
          <a:noFill/>
        </p:spPr>
        <p:txBody>
          <a:bodyPr wrap="square" lIns="0" tIns="0" rIns="0" bIns="0" rtlCol="0">
            <a:noAutofit/>
          </a:bodyPr>
          <a:lstStyle>
            <a:defPPr>
              <a:defRPr lang="en-US"/>
            </a:defPPr>
            <a:lvl1pPr algn="ctr" defTabSz="912276" fontAlgn="base">
              <a:spcAft>
                <a:spcPts val="1000"/>
              </a:spcAft>
              <a:buClr>
                <a:schemeClr val="bg1"/>
              </a:buClr>
              <a:buSzPct val="100000"/>
              <a:defRPr sz="1200">
                <a:solidFill>
                  <a:schemeClr val="bg1"/>
                </a:solidFill>
              </a:defRPr>
            </a:lvl1pPr>
          </a:lstStyle>
          <a:p>
            <a:r>
              <a:rPr lang="en-US" dirty="0"/>
              <a:t>Avoid relying on immediate SFDC changes; prove Workfront/CTT data capture first.</a:t>
            </a:r>
            <a:endParaRPr lang="en-GB" dirty="0" err="1"/>
          </a:p>
        </p:txBody>
      </p:sp>
      <p:sp>
        <p:nvSpPr>
          <p:cNvPr id="34" name="Arrow: Pentagon 33">
            <a:extLst>
              <a:ext uri="{FF2B5EF4-FFF2-40B4-BE49-F238E27FC236}">
                <a16:creationId xmlns:a16="http://schemas.microsoft.com/office/drawing/2014/main" id="{667267D1-C5DD-D210-58BF-97FA94727A22}"/>
              </a:ext>
            </a:extLst>
          </p:cNvPr>
          <p:cNvSpPr/>
          <p:nvPr/>
        </p:nvSpPr>
        <p:spPr>
          <a:xfrm>
            <a:off x="1687739" y="4471873"/>
            <a:ext cx="4572000" cy="822960"/>
          </a:xfrm>
          <a:prstGeom prst="homePlate">
            <a:avLst/>
          </a:prstGeom>
          <a:solidFill>
            <a:schemeClr val="tx1">
              <a:lumMod val="95000"/>
            </a:schemeClr>
          </a:solid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5" name="Rectangle: Rounded Corners 34">
            <a:extLst>
              <a:ext uri="{FF2B5EF4-FFF2-40B4-BE49-F238E27FC236}">
                <a16:creationId xmlns:a16="http://schemas.microsoft.com/office/drawing/2014/main" id="{DC7E8FDB-A4AD-B715-781C-B8BA04BE6DD1}"/>
              </a:ext>
            </a:extLst>
          </p:cNvPr>
          <p:cNvSpPr/>
          <p:nvPr/>
        </p:nvSpPr>
        <p:spPr>
          <a:xfrm flipH="1">
            <a:off x="1687739" y="4471873"/>
            <a:ext cx="9144000" cy="822960"/>
          </a:xfrm>
          <a:prstGeom prst="roundRect">
            <a:avLst>
              <a:gd name="adj" fmla="val 50000"/>
            </a:avLst>
          </a:prstGeom>
          <a:no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36" name="Oval 35">
            <a:extLst>
              <a:ext uri="{FF2B5EF4-FFF2-40B4-BE49-F238E27FC236}">
                <a16:creationId xmlns:a16="http://schemas.microsoft.com/office/drawing/2014/main" id="{EE2B60DA-BC8E-A654-FEB0-054510CA8C8A}"/>
              </a:ext>
            </a:extLst>
          </p:cNvPr>
          <p:cNvSpPr/>
          <p:nvPr/>
        </p:nvSpPr>
        <p:spPr>
          <a:xfrm>
            <a:off x="1273175" y="4471873"/>
            <a:ext cx="822960" cy="822960"/>
          </a:xfrm>
          <a:prstGeom prst="ellipse">
            <a:avLst/>
          </a:prstGeom>
          <a:solidFill>
            <a:schemeClr val="tx1"/>
          </a:solidFill>
          <a:ln w="158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nchorCtr="0">
            <a:noAutofit/>
          </a:bodyPr>
          <a:lstStyle/>
          <a:p>
            <a:pPr algn="ctr"/>
            <a:r>
              <a:rPr lang="en-US" sz="3600" dirty="0">
                <a:solidFill>
                  <a:schemeClr val="bg1"/>
                </a:solidFill>
                <a:latin typeface="Impact" panose="020B0806030902050204" pitchFamily="34" charset="0"/>
              </a:rPr>
              <a:t>4</a:t>
            </a:r>
            <a:endParaRPr lang="en-GB" sz="3600" dirty="0">
              <a:solidFill>
                <a:schemeClr val="bg1"/>
              </a:solidFill>
              <a:latin typeface="Impact" panose="020B0806030902050204" pitchFamily="34" charset="0"/>
            </a:endParaRPr>
          </a:p>
        </p:txBody>
      </p:sp>
      <p:sp>
        <p:nvSpPr>
          <p:cNvPr id="37" name="TextBox 36">
            <a:extLst>
              <a:ext uri="{FF2B5EF4-FFF2-40B4-BE49-F238E27FC236}">
                <a16:creationId xmlns:a16="http://schemas.microsoft.com/office/drawing/2014/main" id="{870D63EE-37E4-AD3E-29BE-8BF6161B7EA7}"/>
              </a:ext>
            </a:extLst>
          </p:cNvPr>
          <p:cNvSpPr txBox="1"/>
          <p:nvPr/>
        </p:nvSpPr>
        <p:spPr>
          <a:xfrm>
            <a:off x="3562259" y="4568939"/>
            <a:ext cx="822960" cy="244640"/>
          </a:xfrm>
          <a:prstGeom prst="rect">
            <a:avLst/>
          </a:prstGeom>
          <a:noFill/>
        </p:spPr>
        <p:txBody>
          <a:bodyPr wrap="square" lIns="0" tIns="0" rIns="0" bIns="0" rtlCol="0">
            <a:noAutofit/>
          </a:bodyPr>
          <a:lstStyle/>
          <a:p>
            <a:pPr algn="ctr" defTabSz="912276" fontAlgn="base">
              <a:spcAft>
                <a:spcPts val="1000"/>
              </a:spcAft>
              <a:buClr>
                <a:schemeClr val="bg1"/>
              </a:buClr>
              <a:buSzPct val="100000"/>
            </a:pPr>
            <a:r>
              <a:rPr lang="en-US" sz="1400" b="1" dirty="0">
                <a:solidFill>
                  <a:schemeClr val="bg1"/>
                </a:solidFill>
              </a:rPr>
              <a:t>Risk</a:t>
            </a:r>
            <a:endParaRPr lang="en-GB" sz="1400" b="1" kern="1200" dirty="0" err="1">
              <a:solidFill>
                <a:schemeClr val="bg1"/>
              </a:solidFill>
              <a:latin typeface="+mn-lt"/>
              <a:ea typeface="ＭＳ Ｐゴシック" charset="0"/>
            </a:endParaRPr>
          </a:p>
        </p:txBody>
      </p:sp>
      <p:sp>
        <p:nvSpPr>
          <p:cNvPr id="38" name="TextBox 37">
            <a:extLst>
              <a:ext uri="{FF2B5EF4-FFF2-40B4-BE49-F238E27FC236}">
                <a16:creationId xmlns:a16="http://schemas.microsoft.com/office/drawing/2014/main" id="{14E93B4B-46DF-3A80-5E1A-AFA35BDFD147}"/>
              </a:ext>
            </a:extLst>
          </p:cNvPr>
          <p:cNvSpPr txBox="1"/>
          <p:nvPr/>
        </p:nvSpPr>
        <p:spPr>
          <a:xfrm>
            <a:off x="2304596" y="4919079"/>
            <a:ext cx="3338286" cy="244640"/>
          </a:xfrm>
          <a:prstGeom prst="rect">
            <a:avLst/>
          </a:prstGeom>
          <a:noFill/>
        </p:spPr>
        <p:txBody>
          <a:bodyPr wrap="square" lIns="0" tIns="0" rIns="0" bIns="0" rtlCol="0">
            <a:noAutofit/>
          </a:bodyPr>
          <a:lstStyle>
            <a:defPPr>
              <a:defRPr lang="en-US"/>
            </a:defPPr>
            <a:lvl1pPr algn="ctr" defTabSz="912276" fontAlgn="base">
              <a:spcAft>
                <a:spcPts val="1000"/>
              </a:spcAft>
              <a:buClr>
                <a:schemeClr val="bg1"/>
              </a:buClr>
              <a:buSzPct val="100000"/>
              <a:defRPr sz="1200">
                <a:solidFill>
                  <a:schemeClr val="bg1"/>
                </a:solidFill>
              </a:defRPr>
            </a:lvl1pPr>
          </a:lstStyle>
          <a:p>
            <a:r>
              <a:rPr lang="en-US" dirty="0"/>
              <a:t>Scope grows into full decommission delivery</a:t>
            </a:r>
            <a:endParaRPr lang="en-GB" dirty="0" err="1"/>
          </a:p>
        </p:txBody>
      </p:sp>
      <p:sp>
        <p:nvSpPr>
          <p:cNvPr id="39" name="TextBox 38">
            <a:extLst>
              <a:ext uri="{FF2B5EF4-FFF2-40B4-BE49-F238E27FC236}">
                <a16:creationId xmlns:a16="http://schemas.microsoft.com/office/drawing/2014/main" id="{1DC09B91-C976-D8A2-D0B2-BFC6E459642D}"/>
              </a:ext>
            </a:extLst>
          </p:cNvPr>
          <p:cNvSpPr txBox="1"/>
          <p:nvPr/>
        </p:nvSpPr>
        <p:spPr>
          <a:xfrm>
            <a:off x="8134259" y="4568939"/>
            <a:ext cx="822960" cy="244640"/>
          </a:xfrm>
          <a:prstGeom prst="rect">
            <a:avLst/>
          </a:prstGeom>
          <a:noFill/>
        </p:spPr>
        <p:txBody>
          <a:bodyPr wrap="square" lIns="0" tIns="0" rIns="0" bIns="0" rtlCol="0">
            <a:noAutofit/>
          </a:bodyPr>
          <a:lstStyle/>
          <a:p>
            <a:pPr algn="ctr" defTabSz="912276" fontAlgn="base">
              <a:spcAft>
                <a:spcPts val="1000"/>
              </a:spcAft>
              <a:buClr>
                <a:schemeClr val="bg1"/>
              </a:buClr>
              <a:buSzPct val="100000"/>
            </a:pPr>
            <a:r>
              <a:rPr lang="en-US" sz="1400" b="1" dirty="0">
                <a:solidFill>
                  <a:schemeClr val="bg1"/>
                </a:solidFill>
              </a:rPr>
              <a:t>Control</a:t>
            </a:r>
            <a:endParaRPr lang="en-GB" sz="1400" b="1" kern="1200" dirty="0" err="1">
              <a:solidFill>
                <a:schemeClr val="bg1"/>
              </a:solidFill>
              <a:latin typeface="+mn-lt"/>
              <a:ea typeface="ＭＳ Ｐゴシック" charset="0"/>
            </a:endParaRPr>
          </a:p>
        </p:txBody>
      </p:sp>
      <p:sp>
        <p:nvSpPr>
          <p:cNvPr id="40" name="TextBox 39">
            <a:extLst>
              <a:ext uri="{FF2B5EF4-FFF2-40B4-BE49-F238E27FC236}">
                <a16:creationId xmlns:a16="http://schemas.microsoft.com/office/drawing/2014/main" id="{D5B2AB72-76CF-0D9C-7AF5-23DB19763021}"/>
              </a:ext>
            </a:extLst>
          </p:cNvPr>
          <p:cNvSpPr txBox="1"/>
          <p:nvPr/>
        </p:nvSpPr>
        <p:spPr>
          <a:xfrm>
            <a:off x="6934653" y="4840429"/>
            <a:ext cx="3715658" cy="401940"/>
          </a:xfrm>
          <a:prstGeom prst="rect">
            <a:avLst/>
          </a:prstGeom>
          <a:noFill/>
        </p:spPr>
        <p:txBody>
          <a:bodyPr wrap="square" lIns="0" tIns="0" rIns="0" bIns="0" rtlCol="0">
            <a:noAutofit/>
          </a:bodyPr>
          <a:lstStyle>
            <a:defPPr>
              <a:defRPr lang="en-US"/>
            </a:defPPr>
            <a:lvl1pPr algn="ctr" defTabSz="912276" fontAlgn="base">
              <a:spcAft>
                <a:spcPts val="1000"/>
              </a:spcAft>
              <a:buClr>
                <a:schemeClr val="bg1"/>
              </a:buClr>
              <a:buSzPct val="100000"/>
              <a:defRPr sz="1200">
                <a:solidFill>
                  <a:schemeClr val="bg1"/>
                </a:solidFill>
              </a:defRPr>
            </a:lvl1pPr>
          </a:lstStyle>
          <a:p>
            <a:r>
              <a:rPr lang="en-US" dirty="0"/>
              <a:t>Limit POC to a pilot flow, a reporting prototype and a readiness backlog..</a:t>
            </a:r>
            <a:endParaRPr lang="en-GB" dirty="0" err="1"/>
          </a:p>
        </p:txBody>
      </p:sp>
      <p:sp>
        <p:nvSpPr>
          <p:cNvPr id="42" name="Arrow: Pentagon 41">
            <a:extLst>
              <a:ext uri="{FF2B5EF4-FFF2-40B4-BE49-F238E27FC236}">
                <a16:creationId xmlns:a16="http://schemas.microsoft.com/office/drawing/2014/main" id="{BD1F0A9F-C955-70F8-F464-EFB39DE8F1A8}"/>
              </a:ext>
            </a:extLst>
          </p:cNvPr>
          <p:cNvSpPr/>
          <p:nvPr/>
        </p:nvSpPr>
        <p:spPr>
          <a:xfrm>
            <a:off x="1687739" y="5460243"/>
            <a:ext cx="4572000" cy="822960"/>
          </a:xfrm>
          <a:prstGeom prst="homePlate">
            <a:avLst/>
          </a:prstGeom>
          <a:solidFill>
            <a:schemeClr val="tx1">
              <a:lumMod val="95000"/>
            </a:schemeClr>
          </a:solid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43" name="Rectangle: Rounded Corners 42">
            <a:extLst>
              <a:ext uri="{FF2B5EF4-FFF2-40B4-BE49-F238E27FC236}">
                <a16:creationId xmlns:a16="http://schemas.microsoft.com/office/drawing/2014/main" id="{4B4CA175-A372-95DB-C5DB-514639E593E4}"/>
              </a:ext>
            </a:extLst>
          </p:cNvPr>
          <p:cNvSpPr/>
          <p:nvPr/>
        </p:nvSpPr>
        <p:spPr>
          <a:xfrm flipH="1">
            <a:off x="1687739" y="5460243"/>
            <a:ext cx="9144000" cy="822960"/>
          </a:xfrm>
          <a:prstGeom prst="roundRect">
            <a:avLst>
              <a:gd name="adj" fmla="val 50000"/>
            </a:avLst>
          </a:prstGeom>
          <a:noFill/>
          <a:ln w="15875">
            <a:solidFill>
              <a:schemeClr val="tx1">
                <a:lumMod val="9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44" name="Oval 43">
            <a:extLst>
              <a:ext uri="{FF2B5EF4-FFF2-40B4-BE49-F238E27FC236}">
                <a16:creationId xmlns:a16="http://schemas.microsoft.com/office/drawing/2014/main" id="{9FFDCB0E-D59D-FA5D-91CF-C5615F6AAA3F}"/>
              </a:ext>
            </a:extLst>
          </p:cNvPr>
          <p:cNvSpPr/>
          <p:nvPr/>
        </p:nvSpPr>
        <p:spPr>
          <a:xfrm>
            <a:off x="1273175" y="5460243"/>
            <a:ext cx="822960" cy="822960"/>
          </a:xfrm>
          <a:prstGeom prst="ellipse">
            <a:avLst/>
          </a:prstGeom>
          <a:solidFill>
            <a:schemeClr val="tx1"/>
          </a:solidFill>
          <a:ln w="158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nchorCtr="0">
            <a:noAutofit/>
          </a:bodyPr>
          <a:lstStyle/>
          <a:p>
            <a:pPr algn="ctr"/>
            <a:r>
              <a:rPr lang="en-US" sz="3600" dirty="0">
                <a:solidFill>
                  <a:schemeClr val="bg1"/>
                </a:solidFill>
                <a:latin typeface="Impact" panose="020B0806030902050204" pitchFamily="34" charset="0"/>
              </a:rPr>
              <a:t>5</a:t>
            </a:r>
            <a:endParaRPr lang="en-GB" sz="3600" dirty="0">
              <a:solidFill>
                <a:schemeClr val="bg1"/>
              </a:solidFill>
              <a:latin typeface="Impact" panose="020B0806030902050204" pitchFamily="34" charset="0"/>
            </a:endParaRPr>
          </a:p>
        </p:txBody>
      </p:sp>
      <p:sp>
        <p:nvSpPr>
          <p:cNvPr id="45" name="TextBox 44">
            <a:extLst>
              <a:ext uri="{FF2B5EF4-FFF2-40B4-BE49-F238E27FC236}">
                <a16:creationId xmlns:a16="http://schemas.microsoft.com/office/drawing/2014/main" id="{99CD0CF5-EE8C-FECB-3B4A-25020BD22F11}"/>
              </a:ext>
            </a:extLst>
          </p:cNvPr>
          <p:cNvSpPr txBox="1"/>
          <p:nvPr/>
        </p:nvSpPr>
        <p:spPr>
          <a:xfrm>
            <a:off x="3562259" y="5557309"/>
            <a:ext cx="822960" cy="244640"/>
          </a:xfrm>
          <a:prstGeom prst="rect">
            <a:avLst/>
          </a:prstGeom>
          <a:noFill/>
        </p:spPr>
        <p:txBody>
          <a:bodyPr wrap="square" lIns="0" tIns="0" rIns="0" bIns="0" rtlCol="0">
            <a:noAutofit/>
          </a:bodyPr>
          <a:lstStyle/>
          <a:p>
            <a:pPr algn="ctr" defTabSz="912276" fontAlgn="base">
              <a:spcAft>
                <a:spcPts val="1000"/>
              </a:spcAft>
              <a:buClr>
                <a:schemeClr val="bg1"/>
              </a:buClr>
              <a:buSzPct val="100000"/>
            </a:pPr>
            <a:r>
              <a:rPr lang="en-US" sz="1400" b="1" dirty="0">
                <a:solidFill>
                  <a:schemeClr val="bg1"/>
                </a:solidFill>
              </a:rPr>
              <a:t>Risk</a:t>
            </a:r>
            <a:endParaRPr lang="en-GB" sz="1400" b="1" kern="1200" dirty="0" err="1">
              <a:solidFill>
                <a:schemeClr val="bg1"/>
              </a:solidFill>
              <a:latin typeface="+mn-lt"/>
              <a:ea typeface="ＭＳ Ｐゴシック" charset="0"/>
            </a:endParaRPr>
          </a:p>
        </p:txBody>
      </p:sp>
      <p:sp>
        <p:nvSpPr>
          <p:cNvPr id="46" name="TextBox 45">
            <a:extLst>
              <a:ext uri="{FF2B5EF4-FFF2-40B4-BE49-F238E27FC236}">
                <a16:creationId xmlns:a16="http://schemas.microsoft.com/office/drawing/2014/main" id="{BF80854D-44DE-9C0F-2559-63E46C459C3B}"/>
              </a:ext>
            </a:extLst>
          </p:cNvPr>
          <p:cNvSpPr txBox="1"/>
          <p:nvPr/>
        </p:nvSpPr>
        <p:spPr>
          <a:xfrm>
            <a:off x="2304596" y="5907449"/>
            <a:ext cx="3338286" cy="244640"/>
          </a:xfrm>
          <a:prstGeom prst="rect">
            <a:avLst/>
          </a:prstGeom>
          <a:noFill/>
        </p:spPr>
        <p:txBody>
          <a:bodyPr wrap="square" lIns="0" tIns="0" rIns="0" bIns="0" rtlCol="0">
            <a:noAutofit/>
          </a:bodyPr>
          <a:lstStyle>
            <a:defPPr>
              <a:defRPr lang="en-US"/>
            </a:defPPr>
            <a:lvl1pPr algn="ctr" defTabSz="912276" fontAlgn="base">
              <a:spcAft>
                <a:spcPts val="1000"/>
              </a:spcAft>
              <a:buClr>
                <a:schemeClr val="bg1"/>
              </a:buClr>
              <a:buSzPct val="100000"/>
              <a:defRPr sz="1200">
                <a:solidFill>
                  <a:schemeClr val="bg1"/>
                </a:solidFill>
              </a:defRPr>
            </a:lvl1pPr>
          </a:lstStyle>
          <a:p>
            <a:r>
              <a:rPr lang="en-US" dirty="0"/>
              <a:t>Not all marketing activity is in Workfront</a:t>
            </a:r>
            <a:endParaRPr lang="en-GB" dirty="0" err="1"/>
          </a:p>
        </p:txBody>
      </p:sp>
      <p:sp>
        <p:nvSpPr>
          <p:cNvPr id="47" name="TextBox 46">
            <a:extLst>
              <a:ext uri="{FF2B5EF4-FFF2-40B4-BE49-F238E27FC236}">
                <a16:creationId xmlns:a16="http://schemas.microsoft.com/office/drawing/2014/main" id="{D5643F4C-2295-F227-D147-9BE1311DFC1F}"/>
              </a:ext>
            </a:extLst>
          </p:cNvPr>
          <p:cNvSpPr txBox="1"/>
          <p:nvPr/>
        </p:nvSpPr>
        <p:spPr>
          <a:xfrm>
            <a:off x="8134259" y="5557309"/>
            <a:ext cx="822960" cy="244640"/>
          </a:xfrm>
          <a:prstGeom prst="rect">
            <a:avLst/>
          </a:prstGeom>
          <a:noFill/>
        </p:spPr>
        <p:txBody>
          <a:bodyPr wrap="square" lIns="0" tIns="0" rIns="0" bIns="0" rtlCol="0">
            <a:noAutofit/>
          </a:bodyPr>
          <a:lstStyle/>
          <a:p>
            <a:pPr algn="ctr" defTabSz="912276" fontAlgn="base">
              <a:spcAft>
                <a:spcPts val="1000"/>
              </a:spcAft>
              <a:buClr>
                <a:schemeClr val="bg1"/>
              </a:buClr>
              <a:buSzPct val="100000"/>
            </a:pPr>
            <a:r>
              <a:rPr lang="en-US" sz="1400" b="1" dirty="0">
                <a:solidFill>
                  <a:schemeClr val="bg1"/>
                </a:solidFill>
              </a:rPr>
              <a:t>Control</a:t>
            </a:r>
            <a:endParaRPr lang="en-GB" sz="1400" b="1" kern="1200" dirty="0" err="1">
              <a:solidFill>
                <a:schemeClr val="bg1"/>
              </a:solidFill>
              <a:latin typeface="+mn-lt"/>
              <a:ea typeface="ＭＳ Ｐゴシック" charset="0"/>
            </a:endParaRPr>
          </a:p>
        </p:txBody>
      </p:sp>
      <p:sp>
        <p:nvSpPr>
          <p:cNvPr id="48" name="TextBox 47">
            <a:extLst>
              <a:ext uri="{FF2B5EF4-FFF2-40B4-BE49-F238E27FC236}">
                <a16:creationId xmlns:a16="http://schemas.microsoft.com/office/drawing/2014/main" id="{B9B373D8-2096-A98A-CC8E-2605DAC7E796}"/>
              </a:ext>
            </a:extLst>
          </p:cNvPr>
          <p:cNvSpPr txBox="1"/>
          <p:nvPr/>
        </p:nvSpPr>
        <p:spPr>
          <a:xfrm>
            <a:off x="6934653" y="5828799"/>
            <a:ext cx="3715658" cy="401940"/>
          </a:xfrm>
          <a:prstGeom prst="rect">
            <a:avLst/>
          </a:prstGeom>
          <a:noFill/>
        </p:spPr>
        <p:txBody>
          <a:bodyPr wrap="square" lIns="0" tIns="0" rIns="0" bIns="0" rtlCol="0">
            <a:noAutofit/>
          </a:bodyPr>
          <a:lstStyle>
            <a:defPPr>
              <a:defRPr lang="en-US"/>
            </a:defPPr>
            <a:lvl1pPr algn="ctr" defTabSz="912276" fontAlgn="base">
              <a:spcAft>
                <a:spcPts val="1000"/>
              </a:spcAft>
              <a:buClr>
                <a:schemeClr val="bg1"/>
              </a:buClr>
              <a:buSzPct val="100000"/>
              <a:defRPr sz="1200">
                <a:solidFill>
                  <a:schemeClr val="bg1"/>
                </a:solidFill>
              </a:defRPr>
            </a:lvl1pPr>
          </a:lstStyle>
          <a:p>
            <a:r>
              <a:rPr lang="en-US" dirty="0"/>
              <a:t>Allow non-Workfront teams to keep using CTT IDs with the same future-state attributes during transition..</a:t>
            </a:r>
            <a:endParaRPr lang="en-GB" dirty="0" err="1"/>
          </a:p>
        </p:txBody>
      </p:sp>
    </p:spTree>
    <p:extLst>
      <p:ext uri="{BB962C8B-B14F-4D97-AF65-F5344CB8AC3E}">
        <p14:creationId xmlns:p14="http://schemas.microsoft.com/office/powerpoint/2010/main" val="2930528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56A5C-A935-A01D-1F5C-1A7684529475}"/>
              </a:ext>
            </a:extLst>
          </p:cNvPr>
          <p:cNvSpPr>
            <a:spLocks noGrp="1"/>
          </p:cNvSpPr>
          <p:nvPr>
            <p:ph type="title"/>
          </p:nvPr>
        </p:nvSpPr>
        <p:spPr/>
        <p:txBody>
          <a:bodyPr/>
          <a:lstStyle/>
          <a:p>
            <a:r>
              <a:rPr lang="en-US" dirty="0"/>
              <a:t>The Benefits</a:t>
            </a:r>
            <a:endParaRPr lang="en-GB" dirty="0"/>
          </a:p>
        </p:txBody>
      </p:sp>
      <p:grpSp>
        <p:nvGrpSpPr>
          <p:cNvPr id="33" name="Group 32">
            <a:extLst>
              <a:ext uri="{FF2B5EF4-FFF2-40B4-BE49-F238E27FC236}">
                <a16:creationId xmlns:a16="http://schemas.microsoft.com/office/drawing/2014/main" id="{9924C06F-35A3-DF3B-F903-BB82F05B25D7}"/>
              </a:ext>
            </a:extLst>
          </p:cNvPr>
          <p:cNvGrpSpPr/>
          <p:nvPr/>
        </p:nvGrpSpPr>
        <p:grpSpPr>
          <a:xfrm>
            <a:off x="738481" y="3942549"/>
            <a:ext cx="2880360" cy="2012950"/>
            <a:chOff x="738481" y="3541396"/>
            <a:chExt cx="2880360" cy="2012950"/>
          </a:xfrm>
        </p:grpSpPr>
        <p:sp>
          <p:nvSpPr>
            <p:cNvPr id="10" name="TextBox 9">
              <a:extLst>
                <a:ext uri="{FF2B5EF4-FFF2-40B4-BE49-F238E27FC236}">
                  <a16:creationId xmlns:a16="http://schemas.microsoft.com/office/drawing/2014/main" id="{E2147F80-CBA6-997C-D863-733CEF7B0327}"/>
                </a:ext>
              </a:extLst>
            </p:cNvPr>
            <p:cNvSpPr txBox="1"/>
            <p:nvPr/>
          </p:nvSpPr>
          <p:spPr>
            <a:xfrm>
              <a:off x="1026421" y="3552468"/>
              <a:ext cx="2304480" cy="430887"/>
            </a:xfrm>
            <a:prstGeom prst="rect">
              <a:avLst/>
            </a:prstGeom>
            <a:noFill/>
          </p:spPr>
          <p:txBody>
            <a:bodyPr wrap="square" lIns="0" tIns="0" rIns="0" bIns="0" rtlCol="0" anchor="ctr">
              <a:spAutoFit/>
            </a:bodyPr>
            <a:lstStyle>
              <a:defPPr>
                <a:defRPr lang="en-US"/>
              </a:defPPr>
              <a:lvl1pPr algn="ctr" defTabSz="912276" fontAlgn="base">
                <a:lnSpc>
                  <a:spcPct val="100000"/>
                </a:lnSpc>
                <a:spcBef>
                  <a:spcPts val="0"/>
                </a:spcBef>
                <a:spcAft>
                  <a:spcPts val="1000"/>
                </a:spcAft>
                <a:buClr>
                  <a:schemeClr val="bg1"/>
                </a:buClr>
                <a:buSzPct val="100000"/>
                <a:defRPr sz="1400" b="1">
                  <a:solidFill>
                    <a:schemeClr val="bg1"/>
                  </a:solidFill>
                  <a:ea typeface="ＭＳ Ｐゴシック" charset="0"/>
                </a:defRPr>
              </a:lvl1pPr>
            </a:lstStyle>
            <a:p>
              <a:r>
                <a:rPr dirty="0"/>
                <a:t>Prepare for Adobe North Star</a:t>
              </a:r>
            </a:p>
          </p:txBody>
        </p:sp>
        <p:sp>
          <p:nvSpPr>
            <p:cNvPr id="11" name="TextBox 10">
              <a:extLst>
                <a:ext uri="{FF2B5EF4-FFF2-40B4-BE49-F238E27FC236}">
                  <a16:creationId xmlns:a16="http://schemas.microsoft.com/office/drawing/2014/main" id="{2D3FB8A7-D2FB-990A-C09C-6B632C5F3EC3}"/>
                </a:ext>
              </a:extLst>
            </p:cNvPr>
            <p:cNvSpPr txBox="1"/>
            <p:nvPr/>
          </p:nvSpPr>
          <p:spPr>
            <a:xfrm>
              <a:off x="900271" y="4313700"/>
              <a:ext cx="2556781" cy="861774"/>
            </a:xfrm>
            <a:prstGeom prst="rect">
              <a:avLst/>
            </a:prstGeom>
            <a:noFill/>
          </p:spPr>
          <p:txBody>
            <a:bodyPr wrap="square" lIns="0" tIns="0" rIns="0" bIns="0" rtlCol="0" anchor="ctr">
              <a:spAutoFit/>
            </a:bodyPr>
            <a:lstStyle>
              <a:defPPr>
                <a:defRPr lang="en-US"/>
              </a:defPPr>
              <a:lvl1pPr algn="ctr" defTabSz="912276" fontAlgn="base">
                <a:lnSpc>
                  <a:spcPct val="100000"/>
                </a:lnSpc>
                <a:spcBef>
                  <a:spcPts val="0"/>
                </a:spcBef>
                <a:spcAft>
                  <a:spcPts val="1000"/>
                </a:spcAft>
                <a:buClr>
                  <a:schemeClr val="bg1"/>
                </a:buClr>
                <a:buSzPct val="100000"/>
                <a:defRPr sz="1400">
                  <a:solidFill>
                    <a:schemeClr val="bg1"/>
                  </a:solidFill>
                  <a:ea typeface="ＭＳ Ｐゴシック" charset="0"/>
                </a:defRPr>
              </a:lvl1pPr>
            </a:lstStyle>
            <a:p>
              <a:r>
                <a:rPr dirty="0"/>
                <a:t>The bridge aligns data capture to the future unified-intelligence and automation model.</a:t>
              </a:r>
            </a:p>
          </p:txBody>
        </p:sp>
        <p:cxnSp>
          <p:nvCxnSpPr>
            <p:cNvPr id="18" name="Straight Connector 17">
              <a:extLst>
                <a:ext uri="{FF2B5EF4-FFF2-40B4-BE49-F238E27FC236}">
                  <a16:creationId xmlns:a16="http://schemas.microsoft.com/office/drawing/2014/main" id="{44F6C326-BC44-41C4-E6D7-60029DC69322}"/>
                </a:ext>
              </a:extLst>
            </p:cNvPr>
            <p:cNvCxnSpPr>
              <a:cxnSpLocks/>
            </p:cNvCxnSpPr>
            <p:nvPr/>
          </p:nvCxnSpPr>
          <p:spPr>
            <a:xfrm>
              <a:off x="738481" y="4100740"/>
              <a:ext cx="288036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sp>
          <p:nvSpPr>
            <p:cNvPr id="22" name="Rectangle: Rounded Corners 21">
              <a:extLst>
                <a:ext uri="{FF2B5EF4-FFF2-40B4-BE49-F238E27FC236}">
                  <a16:creationId xmlns:a16="http://schemas.microsoft.com/office/drawing/2014/main" id="{DF5DF895-A26B-3640-C5A6-AD987EB3544E}"/>
                </a:ext>
              </a:extLst>
            </p:cNvPr>
            <p:cNvSpPr/>
            <p:nvPr/>
          </p:nvSpPr>
          <p:spPr>
            <a:xfrm>
              <a:off x="740386" y="3541396"/>
              <a:ext cx="2876550" cy="2012950"/>
            </a:xfrm>
            <a:prstGeom prst="roundRect">
              <a:avLst>
                <a:gd name="adj" fmla="val 8515"/>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grpSp>
      <p:grpSp>
        <p:nvGrpSpPr>
          <p:cNvPr id="32" name="Group 31">
            <a:extLst>
              <a:ext uri="{FF2B5EF4-FFF2-40B4-BE49-F238E27FC236}">
                <a16:creationId xmlns:a16="http://schemas.microsoft.com/office/drawing/2014/main" id="{3D9816A6-22CC-493C-603A-38BA4B7A2671}"/>
              </a:ext>
            </a:extLst>
          </p:cNvPr>
          <p:cNvGrpSpPr/>
          <p:nvPr/>
        </p:nvGrpSpPr>
        <p:grpSpPr>
          <a:xfrm>
            <a:off x="4538057" y="3942549"/>
            <a:ext cx="2880360" cy="2012950"/>
            <a:chOff x="4558006" y="3541396"/>
            <a:chExt cx="2880360" cy="2012950"/>
          </a:xfrm>
        </p:grpSpPr>
        <p:sp>
          <p:nvSpPr>
            <p:cNvPr id="12" name="TextBox 11">
              <a:extLst>
                <a:ext uri="{FF2B5EF4-FFF2-40B4-BE49-F238E27FC236}">
                  <a16:creationId xmlns:a16="http://schemas.microsoft.com/office/drawing/2014/main" id="{45239B88-E289-EE13-49A3-F16344DC05F6}"/>
                </a:ext>
              </a:extLst>
            </p:cNvPr>
            <p:cNvSpPr txBox="1"/>
            <p:nvPr/>
          </p:nvSpPr>
          <p:spPr>
            <a:xfrm>
              <a:off x="4841368" y="3648044"/>
              <a:ext cx="2313636" cy="222607"/>
            </a:xfrm>
            <a:prstGeom prst="rect">
              <a:avLst/>
            </a:prstGeom>
            <a:noFill/>
          </p:spPr>
          <p:txBody>
            <a:bodyPr wrap="square" lIns="0" tIns="0" rIns="0" bIns="0" rtlCol="0" anchor="ctr">
              <a:spAutoFit/>
            </a:bodyPr>
            <a:lstStyle>
              <a:defPPr>
                <a:defRPr lang="en-US"/>
              </a:defPPr>
              <a:lvl1pPr algn="ctr" defTabSz="912276" fontAlgn="base">
                <a:lnSpc>
                  <a:spcPct val="100000"/>
                </a:lnSpc>
                <a:spcBef>
                  <a:spcPts val="0"/>
                </a:spcBef>
                <a:spcAft>
                  <a:spcPts val="1000"/>
                </a:spcAft>
                <a:buClr>
                  <a:schemeClr val="bg1"/>
                </a:buClr>
                <a:buSzPct val="100000"/>
                <a:defRPr sz="1400" b="1">
                  <a:solidFill>
                    <a:schemeClr val="bg1"/>
                  </a:solidFill>
                  <a:ea typeface="ＭＳ Ｐゴシック" charset="0"/>
                </a:defRPr>
              </a:lvl1pPr>
            </a:lstStyle>
            <a:p>
              <a:r>
                <a:rPr dirty="0"/>
                <a:t>Avoid CRM disruption</a:t>
              </a:r>
            </a:p>
          </p:txBody>
        </p:sp>
        <p:sp>
          <p:nvSpPr>
            <p:cNvPr id="13" name="TextBox 12">
              <a:extLst>
                <a:ext uri="{FF2B5EF4-FFF2-40B4-BE49-F238E27FC236}">
                  <a16:creationId xmlns:a16="http://schemas.microsoft.com/office/drawing/2014/main" id="{551A30FD-AB0E-FDB7-03F4-4B921D7262B9}"/>
                </a:ext>
              </a:extLst>
            </p:cNvPr>
            <p:cNvSpPr txBox="1"/>
            <p:nvPr/>
          </p:nvSpPr>
          <p:spPr>
            <a:xfrm>
              <a:off x="4719796" y="4313700"/>
              <a:ext cx="2556781" cy="861774"/>
            </a:xfrm>
            <a:prstGeom prst="rect">
              <a:avLst/>
            </a:prstGeom>
            <a:noFill/>
          </p:spPr>
          <p:txBody>
            <a:bodyPr wrap="square" lIns="0" tIns="0" rIns="0" bIns="0" rtlCol="0" anchor="ctr">
              <a:spAutoFit/>
            </a:bodyPr>
            <a:lstStyle>
              <a:defPPr>
                <a:defRPr lang="en-US"/>
              </a:defPPr>
              <a:lvl1pPr algn="ctr" defTabSz="912276" fontAlgn="base">
                <a:lnSpc>
                  <a:spcPct val="100000"/>
                </a:lnSpc>
                <a:spcBef>
                  <a:spcPts val="0"/>
                </a:spcBef>
                <a:spcAft>
                  <a:spcPts val="1000"/>
                </a:spcAft>
                <a:buClr>
                  <a:schemeClr val="bg1"/>
                </a:buClr>
                <a:buSzPct val="100000"/>
                <a:defRPr sz="1400">
                  <a:solidFill>
                    <a:schemeClr val="bg1"/>
                  </a:solidFill>
                  <a:ea typeface="ＭＳ Ｐゴシック" charset="0"/>
                </a:defRPr>
              </a:lvl1pPr>
            </a:lstStyle>
            <a:p>
              <a:r>
                <a:rPr dirty="0"/>
                <a:t>The POC does not require immediate SFDC changes while One Cisco CRM work is underway.</a:t>
              </a:r>
            </a:p>
          </p:txBody>
        </p:sp>
        <p:sp>
          <p:nvSpPr>
            <p:cNvPr id="21" name="Rectangle: Rounded Corners 20">
              <a:extLst>
                <a:ext uri="{FF2B5EF4-FFF2-40B4-BE49-F238E27FC236}">
                  <a16:creationId xmlns:a16="http://schemas.microsoft.com/office/drawing/2014/main" id="{B9CDB7E1-CF0C-409A-E23B-0E781B0C1755}"/>
                </a:ext>
              </a:extLst>
            </p:cNvPr>
            <p:cNvSpPr/>
            <p:nvPr/>
          </p:nvSpPr>
          <p:spPr>
            <a:xfrm>
              <a:off x="4559911" y="3541396"/>
              <a:ext cx="2876550" cy="2012950"/>
            </a:xfrm>
            <a:prstGeom prst="roundRect">
              <a:avLst>
                <a:gd name="adj" fmla="val 8515"/>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3" name="Straight Connector 22">
              <a:extLst>
                <a:ext uri="{FF2B5EF4-FFF2-40B4-BE49-F238E27FC236}">
                  <a16:creationId xmlns:a16="http://schemas.microsoft.com/office/drawing/2014/main" id="{ACA6D36F-4E28-149B-D2DD-E2BDE3C77792}"/>
                </a:ext>
              </a:extLst>
            </p:cNvPr>
            <p:cNvCxnSpPr>
              <a:cxnSpLocks/>
            </p:cNvCxnSpPr>
            <p:nvPr/>
          </p:nvCxnSpPr>
          <p:spPr>
            <a:xfrm>
              <a:off x="4558006" y="4100740"/>
              <a:ext cx="288036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grpSp>
      <p:grpSp>
        <p:nvGrpSpPr>
          <p:cNvPr id="31" name="Group 30">
            <a:extLst>
              <a:ext uri="{FF2B5EF4-FFF2-40B4-BE49-F238E27FC236}">
                <a16:creationId xmlns:a16="http://schemas.microsoft.com/office/drawing/2014/main" id="{92E404ED-A183-2011-4353-C9B7B10E13CF}"/>
              </a:ext>
            </a:extLst>
          </p:cNvPr>
          <p:cNvGrpSpPr/>
          <p:nvPr/>
        </p:nvGrpSpPr>
        <p:grpSpPr>
          <a:xfrm>
            <a:off x="8337633" y="3942549"/>
            <a:ext cx="2880360" cy="2012950"/>
            <a:chOff x="8337633" y="3541396"/>
            <a:chExt cx="2880360" cy="2012950"/>
          </a:xfrm>
        </p:grpSpPr>
        <p:sp>
          <p:nvSpPr>
            <p:cNvPr id="14" name="TextBox 13">
              <a:extLst>
                <a:ext uri="{FF2B5EF4-FFF2-40B4-BE49-F238E27FC236}">
                  <a16:creationId xmlns:a16="http://schemas.microsoft.com/office/drawing/2014/main" id="{460E1A1D-E1C6-325B-7B30-BBEC30AE33C4}"/>
                </a:ext>
              </a:extLst>
            </p:cNvPr>
            <p:cNvSpPr txBox="1"/>
            <p:nvPr/>
          </p:nvSpPr>
          <p:spPr>
            <a:xfrm>
              <a:off x="8431286" y="3577558"/>
              <a:ext cx="2693054" cy="430887"/>
            </a:xfrm>
            <a:prstGeom prst="rect">
              <a:avLst/>
            </a:prstGeom>
            <a:noFill/>
          </p:spPr>
          <p:txBody>
            <a:bodyPr wrap="square" lIns="0" tIns="0" rIns="0" bIns="0" rtlCol="0" anchor="ctr">
              <a:spAutoFit/>
            </a:bodyPr>
            <a:lstStyle>
              <a:defPPr>
                <a:defRPr lang="en-US"/>
              </a:defPPr>
              <a:lvl1pPr algn="ctr" defTabSz="912276" fontAlgn="base">
                <a:lnSpc>
                  <a:spcPct val="100000"/>
                </a:lnSpc>
                <a:spcBef>
                  <a:spcPts val="0"/>
                </a:spcBef>
                <a:spcAft>
                  <a:spcPts val="1000"/>
                </a:spcAft>
                <a:buClr>
                  <a:schemeClr val="bg1"/>
                </a:buClr>
                <a:buSzPct val="100000"/>
                <a:defRPr sz="1400" b="1">
                  <a:solidFill>
                    <a:schemeClr val="bg1"/>
                  </a:solidFill>
                  <a:ea typeface="ＭＳ Ｐゴシック" charset="0"/>
                </a:defRPr>
              </a:lvl1pPr>
            </a:lstStyle>
            <a:p>
              <a:r>
                <a:rPr dirty="0"/>
                <a:t>Create decommission evidence</a:t>
              </a:r>
            </a:p>
          </p:txBody>
        </p:sp>
        <p:sp>
          <p:nvSpPr>
            <p:cNvPr id="15" name="TextBox 14">
              <a:extLst>
                <a:ext uri="{FF2B5EF4-FFF2-40B4-BE49-F238E27FC236}">
                  <a16:creationId xmlns:a16="http://schemas.microsoft.com/office/drawing/2014/main" id="{230EC5FC-68F0-3D79-1E1E-82202AA54F9B}"/>
                </a:ext>
              </a:extLst>
            </p:cNvPr>
            <p:cNvSpPr txBox="1"/>
            <p:nvPr/>
          </p:nvSpPr>
          <p:spPr>
            <a:xfrm>
              <a:off x="8499423" y="4263518"/>
              <a:ext cx="2556781" cy="646331"/>
            </a:xfrm>
            <a:prstGeom prst="rect">
              <a:avLst/>
            </a:prstGeom>
            <a:noFill/>
          </p:spPr>
          <p:txBody>
            <a:bodyPr wrap="square" lIns="0" tIns="0" rIns="0" bIns="0" rtlCol="0" anchor="ctr">
              <a:spAutoFit/>
            </a:bodyPr>
            <a:lstStyle>
              <a:defPPr>
                <a:defRPr lang="en-US"/>
              </a:defPPr>
              <a:lvl1pPr algn="ctr" defTabSz="912276" fontAlgn="base">
                <a:lnSpc>
                  <a:spcPct val="100000"/>
                </a:lnSpc>
                <a:spcBef>
                  <a:spcPts val="0"/>
                </a:spcBef>
                <a:spcAft>
                  <a:spcPts val="1000"/>
                </a:spcAft>
                <a:buClr>
                  <a:schemeClr val="bg1"/>
                </a:buClr>
                <a:buSzPct val="100000"/>
                <a:defRPr sz="1400">
                  <a:solidFill>
                    <a:schemeClr val="bg1"/>
                  </a:solidFill>
                  <a:ea typeface="ＭＳ Ｐゴシック" charset="0"/>
                </a:defRPr>
              </a:lvl1pPr>
            </a:lstStyle>
            <a:p>
              <a:r>
                <a:rPr dirty="0"/>
                <a:t>The pilot identifies what must be true before CTT can be safely retired.</a:t>
              </a:r>
            </a:p>
          </p:txBody>
        </p:sp>
        <p:sp>
          <p:nvSpPr>
            <p:cNvPr id="17" name="Rectangle: Rounded Corners 16">
              <a:extLst>
                <a:ext uri="{FF2B5EF4-FFF2-40B4-BE49-F238E27FC236}">
                  <a16:creationId xmlns:a16="http://schemas.microsoft.com/office/drawing/2014/main" id="{8F2703DD-7A20-ACB3-9A72-F6DDCD7F1A3C}"/>
                </a:ext>
              </a:extLst>
            </p:cNvPr>
            <p:cNvSpPr/>
            <p:nvPr/>
          </p:nvSpPr>
          <p:spPr>
            <a:xfrm>
              <a:off x="8339538" y="3541396"/>
              <a:ext cx="2876550" cy="2012950"/>
            </a:xfrm>
            <a:prstGeom prst="roundRect">
              <a:avLst>
                <a:gd name="adj" fmla="val 8515"/>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4" name="Straight Connector 23">
              <a:extLst>
                <a:ext uri="{FF2B5EF4-FFF2-40B4-BE49-F238E27FC236}">
                  <a16:creationId xmlns:a16="http://schemas.microsoft.com/office/drawing/2014/main" id="{A248A1FF-BD45-918D-E2A4-9C0571963225}"/>
                </a:ext>
              </a:extLst>
            </p:cNvPr>
            <p:cNvCxnSpPr>
              <a:cxnSpLocks/>
            </p:cNvCxnSpPr>
            <p:nvPr/>
          </p:nvCxnSpPr>
          <p:spPr>
            <a:xfrm>
              <a:off x="8337633" y="4100740"/>
              <a:ext cx="288036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grpSp>
      <p:grpSp>
        <p:nvGrpSpPr>
          <p:cNvPr id="34" name="Group 33">
            <a:extLst>
              <a:ext uri="{FF2B5EF4-FFF2-40B4-BE49-F238E27FC236}">
                <a16:creationId xmlns:a16="http://schemas.microsoft.com/office/drawing/2014/main" id="{9807CB31-A796-C1EF-A513-0FF134C8F758}"/>
              </a:ext>
            </a:extLst>
          </p:cNvPr>
          <p:cNvGrpSpPr/>
          <p:nvPr/>
        </p:nvGrpSpPr>
        <p:grpSpPr>
          <a:xfrm>
            <a:off x="738481" y="1230945"/>
            <a:ext cx="2880360" cy="2012950"/>
            <a:chOff x="869632" y="1417355"/>
            <a:chExt cx="2880360" cy="2012950"/>
          </a:xfrm>
        </p:grpSpPr>
        <p:sp>
          <p:nvSpPr>
            <p:cNvPr id="4" name="TextBox 3">
              <a:extLst>
                <a:ext uri="{FF2B5EF4-FFF2-40B4-BE49-F238E27FC236}">
                  <a16:creationId xmlns:a16="http://schemas.microsoft.com/office/drawing/2014/main" id="{5D222033-EADD-391B-E261-A7553BBD4E8B}"/>
                </a:ext>
              </a:extLst>
            </p:cNvPr>
            <p:cNvSpPr txBox="1"/>
            <p:nvPr/>
          </p:nvSpPr>
          <p:spPr>
            <a:xfrm>
              <a:off x="1081271" y="1477104"/>
              <a:ext cx="2457082" cy="430887"/>
            </a:xfrm>
            <a:prstGeom prst="rect">
              <a:avLst/>
            </a:prstGeom>
            <a:noFill/>
          </p:spPr>
          <p:txBody>
            <a:bodyPr wrap="square" lIns="0" tIns="0" rIns="0" bIns="0" rtlCol="0" anchor="ctr">
              <a:spAutoFit/>
            </a:bodyPr>
            <a:lstStyle>
              <a:defPPr>
                <a:defRPr lang="en-US"/>
              </a:defPPr>
              <a:lvl1pPr algn="ctr" defTabSz="912276" fontAlgn="base">
                <a:lnSpc>
                  <a:spcPct val="100000"/>
                </a:lnSpc>
                <a:spcBef>
                  <a:spcPts val="0"/>
                </a:spcBef>
                <a:spcAft>
                  <a:spcPts val="1000"/>
                </a:spcAft>
                <a:buClr>
                  <a:schemeClr val="bg1"/>
                </a:buClr>
                <a:buSzPct val="100000"/>
                <a:defRPr sz="1200">
                  <a:solidFill>
                    <a:schemeClr val="bg1"/>
                  </a:solidFill>
                  <a:ea typeface="ＭＳ Ｐゴシック" charset="0"/>
                </a:defRPr>
              </a:lvl1pPr>
            </a:lstStyle>
            <a:p>
              <a:r>
                <a:rPr sz="1400" b="1" dirty="0"/>
                <a:t>Measure FY27 activity performance</a:t>
              </a:r>
            </a:p>
          </p:txBody>
        </p:sp>
        <p:sp>
          <p:nvSpPr>
            <p:cNvPr id="5" name="TextBox 4">
              <a:extLst>
                <a:ext uri="{FF2B5EF4-FFF2-40B4-BE49-F238E27FC236}">
                  <a16:creationId xmlns:a16="http://schemas.microsoft.com/office/drawing/2014/main" id="{1485DC73-9396-C61A-1B8E-33DCD54F1DC2}"/>
                </a:ext>
              </a:extLst>
            </p:cNvPr>
            <p:cNvSpPr txBox="1"/>
            <p:nvPr/>
          </p:nvSpPr>
          <p:spPr>
            <a:xfrm>
              <a:off x="1029652" y="2147539"/>
              <a:ext cx="2560320" cy="914400"/>
            </a:xfrm>
            <a:prstGeom prst="rect">
              <a:avLst/>
            </a:prstGeom>
            <a:noFill/>
          </p:spPr>
          <p:txBody>
            <a:bodyPr wrap="square" lIns="0" tIns="0" rIns="0" bIns="0" rtlCol="0" anchor="ctr">
              <a:spAutoFit/>
            </a:bodyPr>
            <a:lstStyle>
              <a:defPPr>
                <a:defRPr lang="en-US"/>
              </a:defPPr>
              <a:lvl1pPr algn="ctr" defTabSz="912276" fontAlgn="base">
                <a:lnSpc>
                  <a:spcPct val="100000"/>
                </a:lnSpc>
                <a:spcBef>
                  <a:spcPts val="0"/>
                </a:spcBef>
                <a:spcAft>
                  <a:spcPts val="1000"/>
                </a:spcAft>
                <a:buClr>
                  <a:schemeClr val="bg1"/>
                </a:buClr>
                <a:buSzPct val="100000"/>
                <a:defRPr sz="1400">
                  <a:solidFill>
                    <a:schemeClr val="bg1"/>
                  </a:solidFill>
                  <a:ea typeface="ＭＳ Ｐゴシック" charset="0"/>
                </a:defRPr>
              </a:lvl1pPr>
            </a:lstStyle>
            <a:p>
              <a:r>
                <a:rPr dirty="0"/>
                <a:t>Marketing gets the data elements it has defined for FY27 reporting across all activities.</a:t>
              </a:r>
            </a:p>
          </p:txBody>
        </p:sp>
        <p:sp>
          <p:nvSpPr>
            <p:cNvPr id="25" name="Rectangle: Rounded Corners 24">
              <a:extLst>
                <a:ext uri="{FF2B5EF4-FFF2-40B4-BE49-F238E27FC236}">
                  <a16:creationId xmlns:a16="http://schemas.microsoft.com/office/drawing/2014/main" id="{4A8BF9A5-8BC9-C7D6-B61C-24E3627BC446}"/>
                </a:ext>
              </a:extLst>
            </p:cNvPr>
            <p:cNvSpPr/>
            <p:nvPr/>
          </p:nvSpPr>
          <p:spPr>
            <a:xfrm>
              <a:off x="871537" y="1417355"/>
              <a:ext cx="2876550" cy="2012950"/>
            </a:xfrm>
            <a:prstGeom prst="roundRect">
              <a:avLst>
                <a:gd name="adj" fmla="val 8515"/>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6" name="Straight Connector 25">
              <a:extLst>
                <a:ext uri="{FF2B5EF4-FFF2-40B4-BE49-F238E27FC236}">
                  <a16:creationId xmlns:a16="http://schemas.microsoft.com/office/drawing/2014/main" id="{1435FAD5-7D5D-64D5-7DC4-0BB5D9B82BF5}"/>
                </a:ext>
              </a:extLst>
            </p:cNvPr>
            <p:cNvCxnSpPr>
              <a:cxnSpLocks/>
            </p:cNvCxnSpPr>
            <p:nvPr/>
          </p:nvCxnSpPr>
          <p:spPr>
            <a:xfrm>
              <a:off x="869632" y="1976699"/>
              <a:ext cx="288036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grpSp>
      <p:grpSp>
        <p:nvGrpSpPr>
          <p:cNvPr id="35" name="Group 34">
            <a:extLst>
              <a:ext uri="{FF2B5EF4-FFF2-40B4-BE49-F238E27FC236}">
                <a16:creationId xmlns:a16="http://schemas.microsoft.com/office/drawing/2014/main" id="{F34BE590-144F-A628-0362-C93A6DCE82A4}"/>
              </a:ext>
            </a:extLst>
          </p:cNvPr>
          <p:cNvGrpSpPr/>
          <p:nvPr/>
        </p:nvGrpSpPr>
        <p:grpSpPr>
          <a:xfrm>
            <a:off x="4538057" y="1230945"/>
            <a:ext cx="2880360" cy="2012950"/>
            <a:chOff x="4580190" y="1324150"/>
            <a:chExt cx="2880360" cy="2012950"/>
          </a:xfrm>
        </p:grpSpPr>
        <p:sp>
          <p:nvSpPr>
            <p:cNvPr id="6" name="TextBox 5">
              <a:extLst>
                <a:ext uri="{FF2B5EF4-FFF2-40B4-BE49-F238E27FC236}">
                  <a16:creationId xmlns:a16="http://schemas.microsoft.com/office/drawing/2014/main" id="{0F1E9222-F03B-53A2-6EB7-24AC2B702D47}"/>
                </a:ext>
              </a:extLst>
            </p:cNvPr>
            <p:cNvSpPr txBox="1"/>
            <p:nvPr/>
          </p:nvSpPr>
          <p:spPr>
            <a:xfrm>
              <a:off x="4791829" y="1504622"/>
              <a:ext cx="2457082" cy="215444"/>
            </a:xfrm>
            <a:prstGeom prst="rect">
              <a:avLst/>
            </a:prstGeom>
            <a:noFill/>
          </p:spPr>
          <p:txBody>
            <a:bodyPr wrap="square" lIns="0" tIns="0" rIns="0" bIns="0" rtlCol="0" anchor="ctr">
              <a:spAutoFit/>
            </a:bodyPr>
            <a:lstStyle>
              <a:defPPr>
                <a:defRPr lang="en-US"/>
              </a:defPPr>
              <a:lvl1pPr algn="ctr" defTabSz="912276" fontAlgn="base">
                <a:lnSpc>
                  <a:spcPct val="100000"/>
                </a:lnSpc>
                <a:spcBef>
                  <a:spcPts val="0"/>
                </a:spcBef>
                <a:spcAft>
                  <a:spcPts val="1000"/>
                </a:spcAft>
                <a:buClr>
                  <a:schemeClr val="bg1"/>
                </a:buClr>
                <a:buSzPct val="100000"/>
                <a:defRPr sz="1400" b="1">
                  <a:solidFill>
                    <a:schemeClr val="bg1"/>
                  </a:solidFill>
                  <a:ea typeface="ＭＳ Ｐゴシック" charset="0"/>
                </a:defRPr>
              </a:lvl1pPr>
            </a:lstStyle>
            <a:p>
              <a:r>
                <a:rPr dirty="0"/>
                <a:t>Protect business continuity</a:t>
              </a:r>
            </a:p>
          </p:txBody>
        </p:sp>
        <p:sp>
          <p:nvSpPr>
            <p:cNvPr id="7" name="TextBox 6">
              <a:extLst>
                <a:ext uri="{FF2B5EF4-FFF2-40B4-BE49-F238E27FC236}">
                  <a16:creationId xmlns:a16="http://schemas.microsoft.com/office/drawing/2014/main" id="{E6FF4CD0-052F-62A6-9382-696BCCD2B044}"/>
                </a:ext>
              </a:extLst>
            </p:cNvPr>
            <p:cNvSpPr txBox="1"/>
            <p:nvPr/>
          </p:nvSpPr>
          <p:spPr>
            <a:xfrm>
              <a:off x="4740210" y="2147539"/>
              <a:ext cx="2560320" cy="914400"/>
            </a:xfrm>
            <a:prstGeom prst="rect">
              <a:avLst/>
            </a:prstGeom>
            <a:noFill/>
          </p:spPr>
          <p:txBody>
            <a:bodyPr wrap="square" lIns="0" tIns="0" rIns="0" bIns="0" rtlCol="0" anchor="ctr">
              <a:spAutoFit/>
            </a:bodyPr>
            <a:lstStyle>
              <a:defPPr>
                <a:defRPr lang="en-US"/>
              </a:defPPr>
              <a:lvl1pPr algn="ctr" defTabSz="912276" fontAlgn="base">
                <a:lnSpc>
                  <a:spcPct val="100000"/>
                </a:lnSpc>
                <a:spcBef>
                  <a:spcPts val="0"/>
                </a:spcBef>
                <a:spcAft>
                  <a:spcPts val="1000"/>
                </a:spcAft>
                <a:buClr>
                  <a:schemeClr val="bg1"/>
                </a:buClr>
                <a:buSzPct val="100000"/>
                <a:defRPr sz="1400">
                  <a:solidFill>
                    <a:schemeClr val="bg1"/>
                  </a:solidFill>
                  <a:ea typeface="ＭＳ Ｐゴシック" charset="0"/>
                </a:defRPr>
              </a:lvl1pPr>
            </a:lstStyle>
            <a:p>
              <a:r>
                <a:rPr dirty="0"/>
                <a:t>Current CTT-dependent processes and reports continue while migration work progresses.</a:t>
              </a:r>
            </a:p>
          </p:txBody>
        </p:sp>
        <p:sp>
          <p:nvSpPr>
            <p:cNvPr id="27" name="Rectangle: Rounded Corners 26">
              <a:extLst>
                <a:ext uri="{FF2B5EF4-FFF2-40B4-BE49-F238E27FC236}">
                  <a16:creationId xmlns:a16="http://schemas.microsoft.com/office/drawing/2014/main" id="{4362A3E3-6D13-1930-6B66-4EC7DA235D84}"/>
                </a:ext>
              </a:extLst>
            </p:cNvPr>
            <p:cNvSpPr/>
            <p:nvPr/>
          </p:nvSpPr>
          <p:spPr>
            <a:xfrm>
              <a:off x="4582095" y="1324150"/>
              <a:ext cx="2876550" cy="2012950"/>
            </a:xfrm>
            <a:prstGeom prst="roundRect">
              <a:avLst>
                <a:gd name="adj" fmla="val 8515"/>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28" name="Straight Connector 27">
              <a:extLst>
                <a:ext uri="{FF2B5EF4-FFF2-40B4-BE49-F238E27FC236}">
                  <a16:creationId xmlns:a16="http://schemas.microsoft.com/office/drawing/2014/main" id="{8EFE3D0B-FBF3-C733-E0AD-134AD24FF2C9}"/>
                </a:ext>
              </a:extLst>
            </p:cNvPr>
            <p:cNvCxnSpPr>
              <a:cxnSpLocks/>
            </p:cNvCxnSpPr>
            <p:nvPr/>
          </p:nvCxnSpPr>
          <p:spPr>
            <a:xfrm>
              <a:off x="4580190" y="1883494"/>
              <a:ext cx="288036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grpSp>
      <p:grpSp>
        <p:nvGrpSpPr>
          <p:cNvPr id="36" name="Group 35">
            <a:extLst>
              <a:ext uri="{FF2B5EF4-FFF2-40B4-BE49-F238E27FC236}">
                <a16:creationId xmlns:a16="http://schemas.microsoft.com/office/drawing/2014/main" id="{6654BBD5-7EAD-AE92-C59B-DCEE383C804B}"/>
              </a:ext>
            </a:extLst>
          </p:cNvPr>
          <p:cNvGrpSpPr/>
          <p:nvPr/>
        </p:nvGrpSpPr>
        <p:grpSpPr>
          <a:xfrm>
            <a:off x="8337633" y="1230945"/>
            <a:ext cx="2880360" cy="2012950"/>
            <a:chOff x="8260457" y="1230945"/>
            <a:chExt cx="2880360" cy="2012950"/>
          </a:xfrm>
        </p:grpSpPr>
        <p:sp>
          <p:nvSpPr>
            <p:cNvPr id="8" name="TextBox 7">
              <a:extLst>
                <a:ext uri="{FF2B5EF4-FFF2-40B4-BE49-F238E27FC236}">
                  <a16:creationId xmlns:a16="http://schemas.microsoft.com/office/drawing/2014/main" id="{486093F8-74D3-8A51-D1D4-B8B8EFCEA84D}"/>
                </a:ext>
              </a:extLst>
            </p:cNvPr>
            <p:cNvSpPr txBox="1"/>
            <p:nvPr/>
          </p:nvSpPr>
          <p:spPr>
            <a:xfrm>
              <a:off x="8401304" y="1301948"/>
              <a:ext cx="2598666" cy="430887"/>
            </a:xfrm>
            <a:prstGeom prst="rect">
              <a:avLst/>
            </a:prstGeom>
            <a:noFill/>
          </p:spPr>
          <p:txBody>
            <a:bodyPr wrap="square" lIns="0" tIns="0" rIns="0" bIns="0" rtlCol="0" anchor="ctr">
              <a:spAutoFit/>
            </a:bodyPr>
            <a:lstStyle>
              <a:defPPr>
                <a:defRPr lang="en-US"/>
              </a:defPPr>
              <a:lvl1pPr algn="ctr" defTabSz="912276" fontAlgn="base">
                <a:lnSpc>
                  <a:spcPct val="100000"/>
                </a:lnSpc>
                <a:spcBef>
                  <a:spcPts val="0"/>
                </a:spcBef>
                <a:spcAft>
                  <a:spcPts val="1000"/>
                </a:spcAft>
                <a:buClr>
                  <a:schemeClr val="bg1"/>
                </a:buClr>
                <a:buSzPct val="100000"/>
                <a:defRPr sz="1400" b="1">
                  <a:solidFill>
                    <a:schemeClr val="bg1"/>
                  </a:solidFill>
                  <a:ea typeface="ＭＳ Ｐゴシック" charset="0"/>
                </a:defRPr>
              </a:lvl1pPr>
            </a:lstStyle>
            <a:p>
              <a:r>
                <a:rPr dirty="0"/>
                <a:t>Accelerate Workfront confidence</a:t>
              </a:r>
            </a:p>
          </p:txBody>
        </p:sp>
        <p:sp>
          <p:nvSpPr>
            <p:cNvPr id="9" name="TextBox 8">
              <a:extLst>
                <a:ext uri="{FF2B5EF4-FFF2-40B4-BE49-F238E27FC236}">
                  <a16:creationId xmlns:a16="http://schemas.microsoft.com/office/drawing/2014/main" id="{0A518F00-AD30-C5D7-1F68-41966A01F3F8}"/>
                </a:ext>
              </a:extLst>
            </p:cNvPr>
            <p:cNvSpPr txBox="1"/>
            <p:nvPr/>
          </p:nvSpPr>
          <p:spPr>
            <a:xfrm>
              <a:off x="8420477" y="2147539"/>
              <a:ext cx="2560320" cy="646331"/>
            </a:xfrm>
            <a:prstGeom prst="rect">
              <a:avLst/>
            </a:prstGeom>
            <a:noFill/>
          </p:spPr>
          <p:txBody>
            <a:bodyPr wrap="square" lIns="0" tIns="0" rIns="0" bIns="0" rtlCol="0" anchor="ctr">
              <a:spAutoFit/>
            </a:bodyPr>
            <a:lstStyle>
              <a:defPPr>
                <a:defRPr lang="en-US"/>
              </a:defPPr>
              <a:lvl1pPr algn="ctr" defTabSz="912276" fontAlgn="base">
                <a:lnSpc>
                  <a:spcPct val="100000"/>
                </a:lnSpc>
                <a:spcBef>
                  <a:spcPts val="0"/>
                </a:spcBef>
                <a:spcAft>
                  <a:spcPts val="1000"/>
                </a:spcAft>
                <a:buClr>
                  <a:schemeClr val="bg1"/>
                </a:buClr>
                <a:buSzPct val="100000"/>
                <a:defRPr sz="1400">
                  <a:solidFill>
                    <a:schemeClr val="bg1"/>
                  </a:solidFill>
                  <a:ea typeface="ＭＳ Ｐゴシック" charset="0"/>
                </a:defRPr>
              </a:lvl1pPr>
            </a:lstStyle>
            <a:p>
              <a:r>
                <a:rPr dirty="0"/>
                <a:t>Teams can adopt Workfront without fear that campaign measurement will be lost.</a:t>
              </a:r>
            </a:p>
          </p:txBody>
        </p:sp>
        <p:sp>
          <p:nvSpPr>
            <p:cNvPr id="29" name="Rectangle: Rounded Corners 28">
              <a:extLst>
                <a:ext uri="{FF2B5EF4-FFF2-40B4-BE49-F238E27FC236}">
                  <a16:creationId xmlns:a16="http://schemas.microsoft.com/office/drawing/2014/main" id="{BC0B2326-E440-24DC-7365-3026EC23326F}"/>
                </a:ext>
              </a:extLst>
            </p:cNvPr>
            <p:cNvSpPr/>
            <p:nvPr/>
          </p:nvSpPr>
          <p:spPr>
            <a:xfrm>
              <a:off x="8262362" y="1230945"/>
              <a:ext cx="2876550" cy="2012950"/>
            </a:xfrm>
            <a:prstGeom prst="roundRect">
              <a:avLst>
                <a:gd name="adj" fmla="val 8515"/>
              </a:avLst>
            </a:prstGeom>
            <a:no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cxnSp>
          <p:nvCxnSpPr>
            <p:cNvPr id="30" name="Straight Connector 29">
              <a:extLst>
                <a:ext uri="{FF2B5EF4-FFF2-40B4-BE49-F238E27FC236}">
                  <a16:creationId xmlns:a16="http://schemas.microsoft.com/office/drawing/2014/main" id="{1AA55295-BD16-E46A-DE91-0841A7821F9C}"/>
                </a:ext>
              </a:extLst>
            </p:cNvPr>
            <p:cNvCxnSpPr>
              <a:cxnSpLocks/>
            </p:cNvCxnSpPr>
            <p:nvPr/>
          </p:nvCxnSpPr>
          <p:spPr>
            <a:xfrm>
              <a:off x="8260457" y="1790289"/>
              <a:ext cx="2880360" cy="0"/>
            </a:xfrm>
            <a:prstGeom prst="line">
              <a:avLst/>
            </a:prstGeom>
            <a:noFill/>
            <a:ln w="79375">
              <a:gradFill flip="none" rotWithShape="1">
                <a:gsLst>
                  <a:gs pos="37000">
                    <a:srgbClr val="02C8FF"/>
                  </a:gs>
                  <a:gs pos="5000">
                    <a:srgbClr val="0A60FF"/>
                  </a:gs>
                  <a:gs pos="44000">
                    <a:srgbClr val="02C8FF"/>
                  </a:gs>
                  <a:gs pos="75000">
                    <a:srgbClr val="FF007F"/>
                  </a:gs>
                  <a:gs pos="95000">
                    <a:srgbClr val="FF9000"/>
                  </a:gs>
                </a:gsLst>
                <a:lin ang="0" scaled="1"/>
                <a:tileRect/>
              </a:gradFill>
            </a:ln>
            <a:effectLst/>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3714701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FY26 Cisco Default Lite">
  <a:themeElements>
    <a:clrScheme name="Cisco Light 04-16-2025">
      <a:dk1>
        <a:srgbClr val="07182D"/>
      </a:dk1>
      <a:lt1>
        <a:srgbClr val="FFFFFF"/>
      </a:lt1>
      <a:dk2>
        <a:srgbClr val="525E6C"/>
      </a:dk2>
      <a:lt2>
        <a:srgbClr val="B4B9C0"/>
      </a:lt2>
      <a:accent1>
        <a:srgbClr val="02C8FF"/>
      </a:accent1>
      <a:accent2>
        <a:srgbClr val="0A60FF"/>
      </a:accent2>
      <a:accent3>
        <a:srgbClr val="FF007F"/>
      </a:accent3>
      <a:accent4>
        <a:srgbClr val="FF9000"/>
      </a:accent4>
      <a:accent5>
        <a:srgbClr val="D6D6D6"/>
      </a:accent5>
      <a:accent6>
        <a:srgbClr val="6B6B6B"/>
      </a:accent6>
      <a:hlink>
        <a:srgbClr val="07182D"/>
      </a:hlink>
      <a:folHlink>
        <a:srgbClr val="C0C0C0"/>
      </a:folHlink>
    </a:clrScheme>
    <a:fontScheme name="Cisco PowerPoint 02-26-2025">
      <a:majorFont>
        <a:latin typeface="CiscoSansTT Medium"/>
        <a:ea typeface=""/>
        <a:cs typeface=""/>
      </a:majorFont>
      <a:minorFont>
        <a:latin typeface="CiscoSansT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5875">
          <a:solidFill>
            <a:schemeClr val="bg2"/>
          </a:solidFill>
        </a:ln>
        <a:effectLst/>
      </a:spPr>
      <a:bodyPr lIns="182880" tIns="182880" rIns="182880" bIns="182880" rtlCol="0" anchor="t" anchorCtr="0">
        <a:noAutofit/>
      </a:bodyPr>
      <a:lstStyle>
        <a:defPPr marL="182880" indent="-182880" algn="l">
          <a:buFont typeface="Arial" panose="020B0604020202020204" pitchFamily="34" charset="0"/>
          <a:buChar char="•"/>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sz="1600" kern="1200" dirty="0" err="1" smtClean="0">
            <a:solidFill>
              <a:schemeClr val="bg1"/>
            </a:solidFill>
            <a:latin typeface="+mn-lt"/>
            <a:ea typeface="ＭＳ Ｐゴシック" charset="0"/>
          </a:defRPr>
        </a:defPPr>
      </a:lstStyle>
    </a:txDef>
  </a:objectDefaults>
  <a:extraClrSchemeLst/>
  <a:extLst>
    <a:ext uri="{05A4C25C-085E-4340-85A3-A5531E510DB2}">
      <thm15:themeFamily xmlns:thm15="http://schemas.microsoft.com/office/thememl/2012/main" name="FY26 Cisco Default Lite" id="{F6C7F7AC-E1D6-45EE-8B20-455D1551AF7D}" vid="{CB715792-BBCD-4822-A472-92D55CCFFC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4E837C0C014154FB2B15D89EFA54B38" ma:contentTypeVersion="13" ma:contentTypeDescription="Create a new document." ma:contentTypeScope="" ma:versionID="d0030ed5fda7b73ec25d50671f929e41">
  <xsd:schema xmlns:xsd="http://www.w3.org/2001/XMLSchema" xmlns:xs="http://www.w3.org/2001/XMLSchema" xmlns:p="http://schemas.microsoft.com/office/2006/metadata/properties" xmlns:ns2="8f2b5035-1e63-4e0d-a1f8-6c8d73ef4eb4" xmlns:ns3="b5f16604-4fb8-433a-b8c7-95fecaa47cb7" targetNamespace="http://schemas.microsoft.com/office/2006/metadata/properties" ma:root="true" ma:fieldsID="4d4b8f11fdac4ee6c547e2512a2a515f" ns2:_="" ns3:_="">
    <xsd:import namespace="8f2b5035-1e63-4e0d-a1f8-6c8d73ef4eb4"/>
    <xsd:import namespace="b5f16604-4fb8-433a-b8c7-95fecaa47cb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FolderDescrip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2b5035-1e63-4e0d-a1f8-6c8d73ef4eb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10261dd-85c0-4e16-8580-30375acfae1f"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FolderDescription" ma:index="20" nillable="true" ma:displayName="Folder Description" ma:description="Full Description of this folder" ma:format="Dropdown" ma:internalName="FolderDescription">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f16604-4fb8-433a-b8c7-95fecaa47cb7"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52b2ac4a-8ca1-4ed9-bfbf-3a99f160e351}" ma:internalName="TaxCatchAll" ma:showField="CatchAllData" ma:web="b5f16604-4fb8-433a-b8c7-95fecaa47cb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FolderDescription xmlns="8f2b5035-1e63-4e0d-a1f8-6c8d73ef4eb4" xsi:nil="true"/>
    <lcf76f155ced4ddcb4097134ff3c332f xmlns="8f2b5035-1e63-4e0d-a1f8-6c8d73ef4eb4">
      <Terms xmlns="http://schemas.microsoft.com/office/infopath/2007/PartnerControls"/>
    </lcf76f155ced4ddcb4097134ff3c332f>
    <TaxCatchAll xmlns="b5f16604-4fb8-433a-b8c7-95fecaa47cb7" xsi:nil="true"/>
  </documentManagement>
</p:properties>
</file>

<file path=customXml/itemProps1.xml><?xml version="1.0" encoding="utf-8"?>
<ds:datastoreItem xmlns:ds="http://schemas.openxmlformats.org/officeDocument/2006/customXml" ds:itemID="{C85EB413-BDFC-4AF4-B7E8-34621A701445}">
  <ds:schemaRefs>
    <ds:schemaRef ds:uri="http://schemas.microsoft.com/sharepoint/v3/contenttype/forms"/>
  </ds:schemaRefs>
</ds:datastoreItem>
</file>

<file path=customXml/itemProps2.xml><?xml version="1.0" encoding="utf-8"?>
<ds:datastoreItem xmlns:ds="http://schemas.openxmlformats.org/officeDocument/2006/customXml" ds:itemID="{F665C893-9A32-4182-BF37-497D9DEFDB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2b5035-1e63-4e0d-a1f8-6c8d73ef4eb4"/>
    <ds:schemaRef ds:uri="b5f16604-4fb8-433a-b8c7-95fecaa47c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A0D7086-D804-4D83-815F-53AD29C30F1F}">
  <ds:schemaRefs>
    <ds:schemaRef ds:uri="http://purl.org/dc/elements/1.1/"/>
    <ds:schemaRef ds:uri="http://purl.org/dc/dcmitype/"/>
    <ds:schemaRef ds:uri="8f2b5035-1e63-4e0d-a1f8-6c8d73ef4eb4"/>
    <ds:schemaRef ds:uri="http://www.w3.org/XML/1998/namespace"/>
    <ds:schemaRef ds:uri="http://schemas.microsoft.com/office/infopath/2007/PartnerControls"/>
    <ds:schemaRef ds:uri="http://schemas.openxmlformats.org/package/2006/metadata/core-properties"/>
    <ds:schemaRef ds:uri="http://schemas.microsoft.com/office/2006/documentManagement/types"/>
    <ds:schemaRef ds:uri="b5f16604-4fb8-433a-b8c7-95fecaa47cb7"/>
    <ds:schemaRef ds:uri="http://schemas.microsoft.com/office/2006/metadata/properties"/>
    <ds:schemaRef ds:uri="http://purl.org/dc/terms/"/>
  </ds:schemaRefs>
</ds:datastoreItem>
</file>

<file path=docMetadata/LabelInfo.xml><?xml version="1.0" encoding="utf-8"?>
<clbl:labelList xmlns:clbl="http://schemas.microsoft.com/office/2020/mipLabelMetadata">
  <clbl:label id="{c8f49a32-fde3-48a5-9266-b5b0972a22dc}" enabled="1" method="Standard" siteId="{5ae1af62-9505-4097-a69a-c1553ef7840e}" removed="0"/>
</clbl:labelList>
</file>

<file path=docProps/app.xml><?xml version="1.0" encoding="utf-8"?>
<Properties xmlns="http://schemas.openxmlformats.org/officeDocument/2006/extended-properties" xmlns:vt="http://schemas.openxmlformats.org/officeDocument/2006/docPropsVTypes">
  <Template>Default Theme</Template>
  <TotalTime>1525</TotalTime>
  <Words>2003</Words>
  <Application>Microsoft Office PowerPoint</Application>
  <PresentationFormat>Widescreen</PresentationFormat>
  <Paragraphs>231</Paragraphs>
  <Slides>16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Wingdings</vt:lpstr>
      <vt:lpstr>ＭＳ Ｐゴシック</vt:lpstr>
      <vt:lpstr>Impact</vt:lpstr>
      <vt:lpstr>CiscoSansTT Medium</vt:lpstr>
      <vt:lpstr>CiscoSansTT</vt:lpstr>
      <vt:lpstr>Calibri</vt:lpstr>
      <vt:lpstr>Aptos</vt:lpstr>
      <vt:lpstr>FY26 Cisco Default Lite</vt:lpstr>
      <vt:lpstr>Workfront &amp; CTT Integration</vt:lpstr>
      <vt:lpstr>PowerPoint Presentation</vt:lpstr>
      <vt:lpstr>The Burning Issue</vt:lpstr>
      <vt:lpstr>The Overview</vt:lpstr>
      <vt:lpstr>The Proposed Solution</vt:lpstr>
      <vt:lpstr>The Payoff</vt:lpstr>
      <vt:lpstr>The Scope</vt:lpstr>
      <vt:lpstr>The Risks</vt:lpstr>
      <vt:lpstr>The Ask</vt:lpstr>
      <vt:lpstr>Thank You</vt:lpstr>
      <vt:lpstr>Backup Slides</vt:lpstr>
      <vt:lpstr>The Reality – Workfront vs CTT</vt:lpstr>
      <vt:lpstr>Why the Bridge Matters</vt:lpstr>
      <vt:lpstr>The Opportunity</vt:lpstr>
      <vt:lpstr>Risks</vt:lpstr>
      <vt:lpstr>The Benefits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Chenery (achenery)</dc:creator>
  <cp:lastModifiedBy>Amanda Chenery (achenery)</cp:lastModifiedBy>
  <cp:revision>3</cp:revision>
  <dcterms:created xsi:type="dcterms:W3CDTF">2026-06-23T12:16:32Z</dcterms:created>
  <dcterms:modified xsi:type="dcterms:W3CDTF">2026-07-07T13:45:55Z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0x010100C4E837C0C014154FB2B15D89EFA54B38</vt:lpwstr>
  </property>
  <property fmtid="{D5CDD505-2E9C-101B-9397-08002B2CF9AE}" pid="3" name="MediaServiceImageTags">
    <vt:lpwstr/>
  </property>
</Properties>
</file>