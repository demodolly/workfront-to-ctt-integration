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embeddedFontLst>
    <p:embeddedFont>
      <p:font typeface="ＭＳ Ｐゴシック" panose="020B0600070205080204" pitchFamily="34" charset="-128"/>
      <p:regular r:id="rId17"/>
    </p:embeddedFont>
    <p:embeddedFont>
      <p:font typeface="CiscoSansTT" panose="020B0503020201020303" pitchFamily="34" charset="0"/>
      <p:regular r:id="rId18"/>
      <p:bold r:id="rId19"/>
      <p:italic r:id="rId20"/>
      <p:boldItalic r:id="rId21"/>
    </p:embeddedFont>
    <p:embeddedFont>
      <p:font typeface="CiscoSansTT Medium" panose="020B0903020201020303" pitchFamily="34" charset="0"/>
      <p:regular r:id="rId22"/>
      <p:italic r:id="rId23"/>
    </p:embeddedFont>
    <p:embeddedFont>
      <p:font typeface="Impact" panose="020B0806030902050204" pitchFamily="3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F26B43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AA0002-4337-4542-ADDE-D29742CFC712}" v="178" dt="2026-06-23T15:43:32.8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66" d="100"/>
          <a:sy n="66" d="100"/>
        </p:scale>
        <p:origin x="27" y="363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4.fntdata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8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1, 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368B8A-B8FA-06EC-E6D8-DF0F60F2EF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871345"/>
            <a:ext cx="5048063" cy="1555148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512820"/>
            <a:ext cx="5048063" cy="228600"/>
          </a:xfrm>
          <a:noFill/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9E2B63B-5B68-90B7-7A62-17A839591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1" y="4061400"/>
            <a:ext cx="5048090" cy="457200"/>
          </a:xfrm>
        </p:spPr>
        <p:txBody>
          <a:bodyPr anchor="t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Name</a:t>
            </a:r>
          </a:p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Title placeholder, @social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0638510-2998-9359-2A51-B0CA834B62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676458"/>
            <a:ext cx="5047270" cy="459455"/>
          </a:xfrm>
          <a:noFill/>
        </p:spPr>
        <p:txBody>
          <a:bodyPr anchor="t" anchorCtr="0"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643" y="6360518"/>
            <a:ext cx="3906838" cy="497482"/>
          </a:xfrm>
          <a:noFill/>
        </p:spPr>
        <p:txBody>
          <a:bodyPr/>
          <a:lstStyle>
            <a:lvl1pPr marL="0" indent="0" algn="l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0B51E088-9CCC-0F69-112A-CEC9A65FA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6107248" y="781243"/>
            <a:ext cx="5303520" cy="5303520"/>
          </a:xfrm>
          <a:custGeom>
            <a:avLst/>
            <a:gdLst>
              <a:gd name="connsiteX0" fmla="*/ 5291567 w 5291566"/>
              <a:gd name="connsiteY0" fmla="*/ 2645783 h 5291566"/>
              <a:gd name="connsiteX1" fmla="*/ 2645783 w 5291566"/>
              <a:gd name="connsiteY1" fmla="*/ 5291567 h 5291566"/>
              <a:gd name="connsiteX2" fmla="*/ 0 w 5291566"/>
              <a:gd name="connsiteY2" fmla="*/ 2645783 h 5291566"/>
              <a:gd name="connsiteX3" fmla="*/ 2645783 w 5291566"/>
              <a:gd name="connsiteY3" fmla="*/ 0 h 5291566"/>
              <a:gd name="connsiteX4" fmla="*/ 5291567 w 5291566"/>
              <a:gd name="connsiteY4" fmla="*/ 2645783 h 529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1566" h="5291566">
                <a:moveTo>
                  <a:pt x="5291567" y="2645783"/>
                </a:moveTo>
                <a:cubicBezTo>
                  <a:pt x="5291567" y="4107009"/>
                  <a:pt x="4107009" y="5291567"/>
                  <a:pt x="2645783" y="5291567"/>
                </a:cubicBezTo>
                <a:cubicBezTo>
                  <a:pt x="1184557" y="5291567"/>
                  <a:pt x="0" y="4107009"/>
                  <a:pt x="0" y="2645783"/>
                </a:cubicBezTo>
                <a:cubicBezTo>
                  <a:pt x="0" y="1184557"/>
                  <a:pt x="1184557" y="0"/>
                  <a:pt x="2645783" y="0"/>
                </a:cubicBezTo>
                <a:cubicBezTo>
                  <a:pt x="4107009" y="0"/>
                  <a:pt x="5291567" y="1184557"/>
                  <a:pt x="5291567" y="2645783"/>
                </a:cubicBezTo>
                <a:close/>
              </a:path>
            </a:pathLst>
          </a:custGeom>
          <a:solidFill>
            <a:schemeClr val="tx1"/>
          </a:solidFill>
          <a:ln w="50800" cap="flat">
            <a:gradFill flip="none" rotWithShape="1">
              <a:gsLst>
                <a:gs pos="0">
                  <a:srgbClr val="3070E5"/>
                </a:gs>
                <a:gs pos="35000">
                  <a:srgbClr val="1ABBE9"/>
                </a:gs>
                <a:gs pos="43000">
                  <a:srgbClr val="1ABBE9"/>
                </a:gs>
                <a:gs pos="60000">
                  <a:srgbClr val="FD017F"/>
                </a:gs>
                <a:gs pos="100000">
                  <a:srgbClr val="FCA601"/>
                </a:gs>
              </a:gsLst>
              <a:lin ang="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281171" y="3181936"/>
            <a:ext cx="955675" cy="50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984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2, Two Speak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FAB65E-774E-7C2F-9733-CE6410F86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260471"/>
            <a:ext cx="10888663" cy="435134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18122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82746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436086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900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1, Four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368B8A-B8FA-06EC-E6D8-DF0F60F2EF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244600"/>
            <a:ext cx="5048063" cy="1555148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2886075"/>
            <a:ext cx="5048063" cy="228600"/>
          </a:xfrm>
          <a:noFill/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9E2B63B-5B68-90B7-7A62-17A839591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1" y="3428789"/>
            <a:ext cx="5048090" cy="457200"/>
          </a:xfr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Name</a:t>
            </a:r>
          </a:p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Title placeholder, @social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0638510-2998-9359-2A51-B0CA834B62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051300"/>
            <a:ext cx="5047270" cy="459455"/>
          </a:xfrm>
          <a:noFill/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0E61D1-59EB-7A86-0D12-9388193F45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849" y="4681134"/>
            <a:ext cx="5046663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 marL="182880" indent="0">
              <a:spcAft>
                <a:spcPts val="0"/>
              </a:spcAft>
              <a:buNone/>
              <a:defRPr sz="1400"/>
            </a:lvl2pPr>
            <a:lvl3pPr marL="365760" indent="0">
              <a:spcAft>
                <a:spcPts val="0"/>
              </a:spcAft>
              <a:buNone/>
              <a:defRPr sz="1200"/>
            </a:lvl3pPr>
            <a:lvl4pPr marL="548640" indent="0">
              <a:spcAft>
                <a:spcPts val="0"/>
              </a:spcAft>
              <a:buNone/>
              <a:defRPr sz="1100"/>
            </a:lvl4pPr>
            <a:lvl5pPr marL="731520" indent="0">
              <a:spcAft>
                <a:spcPts val="0"/>
              </a:spcAft>
              <a:buNone/>
              <a:defRPr sz="1050"/>
            </a:lvl5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Speaker Name</a:t>
            </a:r>
          </a:p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Speaker Title placeholder, @social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75C0FC-DD02-0704-8A17-1B3037F861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848" y="5306439"/>
            <a:ext cx="5046663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sz="1400"/>
            </a:lvl1pPr>
            <a:lvl2pPr marL="182880" indent="0">
              <a:buNone/>
              <a:defRPr sz="1200"/>
            </a:lvl2pPr>
            <a:lvl3pPr marL="365760" indent="0">
              <a:buNone/>
              <a:defRPr sz="1100"/>
            </a:lvl3pPr>
            <a:lvl4pPr marL="548640" indent="0">
              <a:buNone/>
              <a:defRPr sz="1050"/>
            </a:lvl4pPr>
            <a:lvl5pPr marL="731520" indent="0">
              <a:buNone/>
              <a:defRPr sz="100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643" y="6360518"/>
            <a:ext cx="3906838" cy="497482"/>
          </a:xfrm>
          <a:noFill/>
        </p:spPr>
        <p:txBody>
          <a:bodyPr/>
          <a:lstStyle>
            <a:lvl1pPr marL="0" indent="0" algn="l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0B51E088-9CCC-0F69-112A-CEC9A65FA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6107248" y="781243"/>
            <a:ext cx="5303520" cy="5303520"/>
          </a:xfrm>
          <a:custGeom>
            <a:avLst/>
            <a:gdLst>
              <a:gd name="connsiteX0" fmla="*/ 5291567 w 5291566"/>
              <a:gd name="connsiteY0" fmla="*/ 2645783 h 5291566"/>
              <a:gd name="connsiteX1" fmla="*/ 2645783 w 5291566"/>
              <a:gd name="connsiteY1" fmla="*/ 5291567 h 5291566"/>
              <a:gd name="connsiteX2" fmla="*/ 0 w 5291566"/>
              <a:gd name="connsiteY2" fmla="*/ 2645783 h 5291566"/>
              <a:gd name="connsiteX3" fmla="*/ 2645783 w 5291566"/>
              <a:gd name="connsiteY3" fmla="*/ 0 h 5291566"/>
              <a:gd name="connsiteX4" fmla="*/ 5291567 w 5291566"/>
              <a:gd name="connsiteY4" fmla="*/ 2645783 h 529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1566" h="5291566">
                <a:moveTo>
                  <a:pt x="5291567" y="2645783"/>
                </a:moveTo>
                <a:cubicBezTo>
                  <a:pt x="5291567" y="4107009"/>
                  <a:pt x="4107009" y="5291567"/>
                  <a:pt x="2645783" y="5291567"/>
                </a:cubicBezTo>
                <a:cubicBezTo>
                  <a:pt x="1184557" y="5291567"/>
                  <a:pt x="0" y="4107009"/>
                  <a:pt x="0" y="2645783"/>
                </a:cubicBezTo>
                <a:cubicBezTo>
                  <a:pt x="0" y="1184557"/>
                  <a:pt x="1184557" y="0"/>
                  <a:pt x="2645783" y="0"/>
                </a:cubicBezTo>
                <a:cubicBezTo>
                  <a:pt x="4107009" y="0"/>
                  <a:pt x="5291567" y="1184557"/>
                  <a:pt x="5291567" y="2645783"/>
                </a:cubicBezTo>
                <a:close/>
              </a:path>
            </a:pathLst>
          </a:custGeom>
          <a:solidFill>
            <a:schemeClr val="tx1"/>
          </a:solidFill>
          <a:ln w="50800" cap="flat">
            <a:gradFill flip="none" rotWithShape="1">
              <a:gsLst>
                <a:gs pos="0">
                  <a:srgbClr val="3070E5"/>
                </a:gs>
                <a:gs pos="35000">
                  <a:srgbClr val="1ABBE9"/>
                </a:gs>
                <a:gs pos="43000">
                  <a:srgbClr val="1ABBE9"/>
                </a:gs>
                <a:gs pos="60000">
                  <a:srgbClr val="FD017F"/>
                </a:gs>
                <a:gs pos="100000">
                  <a:srgbClr val="FCA601"/>
                </a:gs>
              </a:gsLst>
              <a:lin ang="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pPr lvl="0"/>
            <a:endParaRPr lang="en-US" dirty="0"/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281171" y="3181936"/>
            <a:ext cx="955675" cy="50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099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2, Four Speak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FAB65E-774E-7C2F-9733-CE6410F86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260471"/>
            <a:ext cx="10888663" cy="435134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229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3, Four Speaker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23850" y="320675"/>
            <a:ext cx="792163" cy="41622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492374"/>
            <a:ext cx="10167938" cy="1243019"/>
          </a:xfrm>
        </p:spPr>
        <p:txBody>
          <a:bodyPr anchor="b" anchorCtr="0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Slide Title Layout 3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49" y="3827463"/>
            <a:ext cx="1016793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72EFECA-80DB-74BA-813F-3952A15A50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30688" y="4360863"/>
            <a:ext cx="4886325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990779"/>
            <a:ext cx="3725863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BBB47F0-F6D2-5FD5-1C2D-8963A9B280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8" y="4990779"/>
            <a:ext cx="4886325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747354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vent Only Title Slide 1, 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18122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82746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436086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873704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vent Only Title Slide 2, Four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228908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vent Only Title Slide 3, Six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989D1F9-5949-EAFF-931D-8121D6A66A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850" y="4986338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D1ACE7D-3D09-2D50-1C06-DBAD3893A9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0687" y="4986338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</p:spTree>
    <p:extLst>
      <p:ext uri="{BB962C8B-B14F-4D97-AF65-F5344CB8AC3E}">
        <p14:creationId xmlns:p14="http://schemas.microsoft.com/office/powerpoint/2010/main" val="2205143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A470DCA-01D3-75CC-4B81-AF6AC1F46C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274955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6DE8E-18DA-4564-080D-AD4F9F492D6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08588" y="296863"/>
            <a:ext cx="550862" cy="365125"/>
          </a:xfrm>
        </p:spPr>
        <p:txBody>
          <a:bodyPr vert="horz" lIns="0" tIns="0" rIns="0" bIns="0" rtlCol="0" anchor="t" anchorCtr="0"/>
          <a:lstStyle>
            <a:lvl1pPr marL="0" indent="0">
              <a:lnSpc>
                <a:spcPct val="90000"/>
              </a:lnSpc>
              <a:buNone/>
              <a:defRPr kumimoji="0" lang="en-US" sz="3200" b="0" i="0" u="none" strike="noStrike" cap="none" spc="27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cs typeface="CiscoSansTT" panose="020B0503020201020303"/>
              </a:defRPr>
            </a:lvl1pPr>
          </a:lstStyle>
          <a:p>
            <a:pPr marL="0" lvl="0" algn="r" defTabSz="914400" latinLnBrk="0"/>
            <a:r>
              <a:rPr lang="en-US" dirty="0"/>
              <a:t>##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21C779-BAEC-654A-5E9A-684AEBA7E39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4900" y="296863"/>
            <a:ext cx="5683250" cy="365125"/>
          </a:xfrm>
          <a:noFill/>
        </p:spPr>
        <p:txBody>
          <a:bodyPr anchor="t" anchorCtr="0"/>
          <a:lstStyle>
            <a:lvl1pPr marL="0" indent="0" algn="l" defTabSz="91227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ClrTx/>
              <a:buSzPct val="70000"/>
              <a:buFont typeface="Arial" panose="020B0604020202020204" pitchFamily="34" charset="0"/>
              <a:buNone/>
              <a:defRPr lang="en-US" sz="32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pPr lvl="0"/>
            <a:r>
              <a:rPr lang="en-US" dirty="0"/>
              <a:t>Agenda list placeholder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37F1A5-67B6-4A78-7FA7-0860E1B6F9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200302-2202-F22C-D162-871BF904F46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49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122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772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, Top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FB629D-1461-3E6E-194F-1E2781C5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4703763" cy="9464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84900" y="320675"/>
            <a:ext cx="5683250" cy="923925"/>
          </a:xfr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 dirty="0"/>
              <a:t>Subheading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14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355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259C3D-581C-B8BC-32B4-EE2B22A753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14425"/>
            <a:ext cx="5772150" cy="441325"/>
          </a:xfrm>
        </p:spPr>
        <p:txBody>
          <a:bodyPr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803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030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85467-C0DB-C17E-5173-C6C6A323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0"/>
            <a:ext cx="5772150" cy="466342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5281613" cy="1247775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01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, Section,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376922-1A18-EB35-1718-708DF44FBF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0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197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, Body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25826-3231-68F4-7FEE-8A01F6F42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81774" y="1244600"/>
            <a:ext cx="5286375" cy="4367213"/>
          </a:xfrm>
        </p:spPr>
        <p:txBody>
          <a:bodyPr anchor="ctr" anchorCtr="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37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Section, Title, Body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25826-3231-68F4-7FEE-8A01F6F42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81774" y="1244600"/>
            <a:ext cx="5286375" cy="4367213"/>
          </a:xfrm>
        </p:spPr>
        <p:txBody>
          <a:bodyPr anchor="ctr" anchorCtr="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3B0377C-E9B5-910F-ED3D-37BEFE7948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0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98988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1 Column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1A00D0-7712-950D-34B2-5551B85F9E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3850" y="952500"/>
            <a:ext cx="11544300" cy="51228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216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2 Columns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851" y="249237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1751" y="249475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22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851" y="249237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1751" y="249475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181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48" y="2179638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58639" y="2179638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93430" y="2181225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156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200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51107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72014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DFF45C9-081C-CA2E-F4A7-8383A93B6B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92920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980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20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1018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9016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DFF45C9-081C-CA2E-F4A7-8383A93B6B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7014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B7038BF-5DE9-94EF-1E39-92627DD8AC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850120" y="2181225"/>
            <a:ext cx="2011680" cy="2493963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518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, 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5281613" cy="12588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07430" y="320675"/>
            <a:ext cx="5760720" cy="5759451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09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7235825" cy="94773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40700" y="320675"/>
            <a:ext cx="3727450" cy="5759451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55448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48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3328987" cy="12588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49713" y="320676"/>
            <a:ext cx="7818436" cy="5754688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461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3116793"/>
            <a:ext cx="5284788" cy="12461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03A889C-4BCD-59AA-132B-C3FD4F8E65F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84901" y="795338"/>
            <a:ext cx="5284788" cy="5284788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233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 Slide Title, Section, Body, 2/3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9" y="622300"/>
            <a:ext cx="3328989" cy="15589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653D0B-638B-EB5D-F379-EF10C80DCC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3429000"/>
            <a:ext cx="3328988" cy="2646363"/>
          </a:xfrm>
        </p:spPr>
        <p:txBody>
          <a:bodyPr anchor="b" anchorCtr="0"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798C8AA3-6350-A299-E288-D693A8EC893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049713" y="622300"/>
            <a:ext cx="7818436" cy="5453063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894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Section, Title 1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85467-C0DB-C17E-5173-C6C6A323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0"/>
            <a:ext cx="5772150" cy="466342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5281613" cy="1247775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2739B37-658D-FBF5-94C3-66EECB73F7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1" y="320675"/>
            <a:ext cx="5766436" cy="5754687"/>
          </a:xfrm>
          <a:prstGeom prst="roundRect">
            <a:avLst>
              <a:gd name="adj" fmla="val 1714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</a:t>
            </a:r>
            <a:br>
              <a:rPr lang="en-US" dirty="0"/>
            </a:br>
            <a:r>
              <a:rPr lang="en-US" dirty="0"/>
              <a:t>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474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23850" y="952500"/>
            <a:ext cx="11544300" cy="5122863"/>
          </a:xfrm>
          <a:prstGeom prst="roundRect">
            <a:avLst>
              <a:gd name="adj" fmla="val 1503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079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1154430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99D23610-D323-6271-753B-C40A3678BD6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3850" y="1244600"/>
            <a:ext cx="11544300" cy="4830763"/>
          </a:xfrm>
          <a:prstGeom prst="roundRect">
            <a:avLst>
              <a:gd name="adj" fmla="val 1897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976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170B322-9DD5-07FB-D258-3DA95EF8E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3850" y="1244600"/>
            <a:ext cx="11544300" cy="4830763"/>
          </a:xfrm>
          <a:prstGeom prst="roundRect">
            <a:avLst>
              <a:gd name="adj" fmla="val 1897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200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bleed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168980-BFE5-40AF-63BF-9DB031B379C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7B9760-CDAA-BC58-F236-F1837F40C2D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8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Bleed Photo,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2" y="4540250"/>
            <a:ext cx="10747375" cy="1071563"/>
          </a:xfrm>
        </p:spPr>
        <p:txBody>
          <a:bodyPr anchor="b" anchorCtr="0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713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bleed Photo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466344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719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bleed Photo, Section, 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466344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597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pper 2/3 Photo, Section,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4675188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-7937"/>
            <a:ext cx="8612188" cy="466344"/>
          </a:xfrm>
        </p:spPr>
        <p:txBody>
          <a:bodyPr anchor="b" anchorCtr="0"/>
          <a:lstStyle>
            <a:lvl1pPr marL="0" indent="0" algn="l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5003800"/>
            <a:ext cx="8612188" cy="107156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288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 descr="Quotation Mark">
            <a:extLst>
              <a:ext uri="{FF2B5EF4-FFF2-40B4-BE49-F238E27FC236}">
                <a16:creationId xmlns:a16="http://schemas.microsoft.com/office/drawing/2014/main" id="{4B52BC46-48EA-B916-39B5-C5FF3FB612BC}"/>
              </a:ext>
            </a:extLst>
          </p:cNvPr>
          <p:cNvSpPr/>
          <p:nvPr/>
        </p:nvSpPr>
        <p:spPr>
          <a:xfrm>
            <a:off x="5731161" y="1132840"/>
            <a:ext cx="516694" cy="416701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endParaRPr lang="en-US" dirty="0">
              <a:gradFill>
                <a:gsLst>
                  <a:gs pos="0">
                    <a:srgbClr val="009DE2"/>
                  </a:gs>
                  <a:gs pos="100000">
                    <a:schemeClr val="accent2"/>
                  </a:gs>
                </a:gsLst>
                <a:lin ang="2700000" scaled="1"/>
              </a:gra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7038" y="1876424"/>
            <a:ext cx="8794750" cy="217487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dirty="0"/>
              <a:t>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7038" y="4360863"/>
            <a:ext cx="8794750" cy="625475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069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 descr="Quotation Mark">
            <a:extLst>
              <a:ext uri="{FF2B5EF4-FFF2-40B4-BE49-F238E27FC236}">
                <a16:creationId xmlns:a16="http://schemas.microsoft.com/office/drawing/2014/main" id="{4B52BC46-48EA-B916-39B5-C5FF3FB612BC}"/>
              </a:ext>
            </a:extLst>
          </p:cNvPr>
          <p:cNvSpPr/>
          <p:nvPr/>
        </p:nvSpPr>
        <p:spPr>
          <a:xfrm>
            <a:off x="5731161" y="963295"/>
            <a:ext cx="516694" cy="416701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7038" y="1706879"/>
            <a:ext cx="8794750" cy="217487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dirty="0"/>
              <a:t>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7038" y="4191318"/>
            <a:ext cx="8794750" cy="625475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917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244600"/>
            <a:ext cx="5373688" cy="3167380"/>
          </a:xfrm>
        </p:spPr>
        <p:txBody>
          <a:bodyPr/>
          <a:lstStyle>
            <a:lvl1pPr algn="l">
              <a:defRPr sz="4000"/>
            </a:lvl1pPr>
          </a:lstStyle>
          <a:p>
            <a:r>
              <a:rPr lang="en-US" dirty="0"/>
              <a:t>“Quote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no </a:t>
            </a:r>
            <a:r>
              <a:rPr lang="en-GB" dirty="0" err="1"/>
              <a:t>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”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4726305"/>
            <a:ext cx="5373688" cy="673417"/>
          </a:xfrm>
        </p:spPr>
        <p:txBody>
          <a:bodyPr/>
          <a:lstStyle>
            <a:lvl1pPr marL="0" indent="0" algn="l"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219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, Title, Body Copy, Graph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FB629D-1461-3E6E-194F-1E2781C5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5683250" cy="9464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1555750"/>
            <a:ext cx="5683250" cy="923925"/>
          </a:xfr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 dirty="0"/>
              <a:t>Body copy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511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C50E13-06E5-F6BB-7667-EE8E9893D0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05315C-F3C4-4817-6DB5-825E9E8E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090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Char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BD67761C-12AC-06B4-1032-66C47B765FE0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722313" y="1555750"/>
            <a:ext cx="10747375" cy="4519613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below to add a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26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B0E688F9-03DF-D354-A8AF-EF5349F39C6B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323850" y="1555750"/>
            <a:ext cx="11544300" cy="4519613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below to add a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490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,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89EC94CF-F758-4A7C-3B39-A1EFC1EA815A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6581775" y="952500"/>
            <a:ext cx="4887913" cy="4968875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below to add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615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1, Title, Sub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E0C9451-8976-3C96-3C4E-F9624BB3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063" y="952500"/>
            <a:ext cx="7634288" cy="2476500"/>
          </a:xfr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78063" y="3738563"/>
            <a:ext cx="7634287" cy="936625"/>
          </a:xfrm>
        </p:spPr>
        <p:txBody>
          <a:bodyPr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146B2-9533-23DF-7DA9-0EBFD969778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D4EDA1-89C5-8341-7EDE-FCCAAA0607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14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Statement 1, Title, Sub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BE3366F-F43E-6996-B128-0A001300FD2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tIns="2743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6B6A35-8740-9D1E-A189-71BC5C742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063" y="952500"/>
            <a:ext cx="7634288" cy="1537465"/>
          </a:xfr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78063" y="2492374"/>
            <a:ext cx="7634287" cy="311152"/>
          </a:xfrm>
        </p:spPr>
        <p:txBody>
          <a:bodyPr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03969-9100-4398-1394-9B9B34222C6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FB270-12CC-4B92-85FD-B7710644F26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531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885A1-2C43-8640-F232-FC5413728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231"/>
            <a:ext cx="7634288" cy="1870075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097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F17AB4-9E08-0A74-D302-44EB1D55B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634288" cy="1868488"/>
          </a:xfrm>
        </p:spPr>
        <p:txBody>
          <a:bodyPr wrap="square" anchor="ctr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744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634288" cy="1868487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022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235825" cy="1868487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313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5412D7-A614-E163-F131-6847698E7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244601"/>
            <a:ext cx="10888663" cy="436721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FD99A5-A6E1-0514-02DB-84C6BD187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3114676"/>
            <a:ext cx="2749550" cy="623888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18" name="Picture 7" descr="Cisco logo">
            <a:extLst>
              <a:ext uri="{FF2B5EF4-FFF2-40B4-BE49-F238E27FC236}">
                <a16:creationId xmlns:a16="http://schemas.microsoft.com/office/drawing/2014/main" id="{56775E76-582E-6CCC-1676-4F670B0BFC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89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FD99A5-A6E1-0514-02DB-84C6BD187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3114676"/>
            <a:ext cx="2749550" cy="623888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00985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phic 2" descr="Cisco logo">
            <a:extLst>
              <a:ext uri="{FF2B5EF4-FFF2-40B4-BE49-F238E27FC236}">
                <a16:creationId xmlns:a16="http://schemas.microsoft.com/office/drawing/2014/main" id="{9A32CA38-C4CF-D4BC-78F1-F151F8F9799C}"/>
              </a:ext>
            </a:extLst>
          </p:cNvPr>
          <p:cNvGrpSpPr>
            <a:grpSpLocks noChangeAspect="1"/>
          </p:cNvGrpSpPr>
          <p:nvPr/>
        </p:nvGrpSpPr>
        <p:grpSpPr>
          <a:xfrm>
            <a:off x="5487122" y="2978332"/>
            <a:ext cx="1217756" cy="640080"/>
            <a:chOff x="7202835" y="2919593"/>
            <a:chExt cx="1014444" cy="533215"/>
          </a:xfrm>
          <a:solidFill>
            <a:schemeClr val="bg1"/>
          </a:solidFill>
        </p:grpSpPr>
        <p:sp>
          <p:nvSpPr>
            <p:cNvPr id="4" name="Freeform 24">
              <a:extLst>
                <a:ext uri="{FF2B5EF4-FFF2-40B4-BE49-F238E27FC236}">
                  <a16:creationId xmlns:a16="http://schemas.microsoft.com/office/drawing/2014/main" id="{0848F511-CD0C-4E21-1411-CA7D0F6E3A43}"/>
                </a:ext>
              </a:extLst>
            </p:cNvPr>
            <p:cNvSpPr/>
            <p:nvPr/>
          </p:nvSpPr>
          <p:spPr>
            <a:xfrm>
              <a:off x="7489875" y="3273956"/>
              <a:ext cx="44467" cy="175170"/>
            </a:xfrm>
            <a:custGeom>
              <a:avLst/>
              <a:gdLst>
                <a:gd name="connsiteX0" fmla="*/ 0 w 44467"/>
                <a:gd name="connsiteY0" fmla="*/ 0 h 175170"/>
                <a:gd name="connsiteX1" fmla="*/ 44467 w 44467"/>
                <a:gd name="connsiteY1" fmla="*/ 0 h 175170"/>
                <a:gd name="connsiteX2" fmla="*/ 44467 w 44467"/>
                <a:gd name="connsiteY2" fmla="*/ 175170 h 175170"/>
                <a:gd name="connsiteX3" fmla="*/ 0 w 44467"/>
                <a:gd name="connsiteY3" fmla="*/ 175170 h 175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67" h="175170">
                  <a:moveTo>
                    <a:pt x="0" y="0"/>
                  </a:moveTo>
                  <a:lnTo>
                    <a:pt x="44467" y="0"/>
                  </a:lnTo>
                  <a:lnTo>
                    <a:pt x="44467" y="175170"/>
                  </a:lnTo>
                  <a:lnTo>
                    <a:pt x="0" y="175170"/>
                  </a:lnTo>
                  <a:close/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5" name="Freeform 25">
              <a:extLst>
                <a:ext uri="{FF2B5EF4-FFF2-40B4-BE49-F238E27FC236}">
                  <a16:creationId xmlns:a16="http://schemas.microsoft.com/office/drawing/2014/main" id="{CE7BD058-D0FF-047D-F5E7-7A0A610E086D}"/>
                </a:ext>
              </a:extLst>
            </p:cNvPr>
            <p:cNvSpPr/>
            <p:nvPr/>
          </p:nvSpPr>
          <p:spPr>
            <a:xfrm>
              <a:off x="7758493" y="3270889"/>
              <a:ext cx="134399" cy="181394"/>
            </a:xfrm>
            <a:custGeom>
              <a:avLst/>
              <a:gdLst>
                <a:gd name="connsiteX0" fmla="*/ 0 w 134399"/>
                <a:gd name="connsiteY0" fmla="*/ 90652 h 181394"/>
                <a:gd name="connsiteX1" fmla="*/ 93835 w 134399"/>
                <a:gd name="connsiteY1" fmla="*/ 181394 h 181394"/>
                <a:gd name="connsiteX2" fmla="*/ 134400 w 134399"/>
                <a:gd name="connsiteY2" fmla="*/ 175170 h 181394"/>
                <a:gd name="connsiteX3" fmla="*/ 134400 w 134399"/>
                <a:gd name="connsiteY3" fmla="*/ 128176 h 181394"/>
                <a:gd name="connsiteX4" fmla="*/ 97011 w 134399"/>
                <a:gd name="connsiteY4" fmla="*/ 137196 h 181394"/>
                <a:gd name="connsiteX5" fmla="*/ 50003 w 134399"/>
                <a:gd name="connsiteY5" fmla="*/ 90472 h 181394"/>
                <a:gd name="connsiteX6" fmla="*/ 97011 w 134399"/>
                <a:gd name="connsiteY6" fmla="*/ 43747 h 181394"/>
                <a:gd name="connsiteX7" fmla="*/ 134400 w 134399"/>
                <a:gd name="connsiteY7" fmla="*/ 52768 h 181394"/>
                <a:gd name="connsiteX8" fmla="*/ 134400 w 134399"/>
                <a:gd name="connsiteY8" fmla="*/ 6314 h 181394"/>
                <a:gd name="connsiteX9" fmla="*/ 93835 w 134399"/>
                <a:gd name="connsiteY9" fmla="*/ 0 h 181394"/>
                <a:gd name="connsiteX10" fmla="*/ 0 w 134399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399" h="181394">
                  <a:moveTo>
                    <a:pt x="0" y="90652"/>
                  </a:moveTo>
                  <a:cubicBezTo>
                    <a:pt x="0" y="147118"/>
                    <a:pt x="43832" y="181394"/>
                    <a:pt x="93835" y="181394"/>
                  </a:cubicBezTo>
                  <a:cubicBezTo>
                    <a:pt x="107583" y="181261"/>
                    <a:pt x="121250" y="179165"/>
                    <a:pt x="134400" y="175170"/>
                  </a:cubicBezTo>
                  <a:lnTo>
                    <a:pt x="134400" y="128176"/>
                  </a:lnTo>
                  <a:cubicBezTo>
                    <a:pt x="122893" y="134240"/>
                    <a:pt x="110034" y="137341"/>
                    <a:pt x="97011" y="137196"/>
                  </a:cubicBezTo>
                  <a:cubicBezTo>
                    <a:pt x="71048" y="137196"/>
                    <a:pt x="50003" y="116276"/>
                    <a:pt x="50003" y="90472"/>
                  </a:cubicBezTo>
                  <a:cubicBezTo>
                    <a:pt x="50003" y="64667"/>
                    <a:pt x="71048" y="43747"/>
                    <a:pt x="97011" y="43747"/>
                  </a:cubicBezTo>
                  <a:cubicBezTo>
                    <a:pt x="110034" y="43598"/>
                    <a:pt x="122893" y="46700"/>
                    <a:pt x="134400" y="52768"/>
                  </a:cubicBezTo>
                  <a:lnTo>
                    <a:pt x="134400" y="6314"/>
                  </a:lnTo>
                  <a:cubicBezTo>
                    <a:pt x="121287" y="2146"/>
                    <a:pt x="107602" y="15"/>
                    <a:pt x="93835" y="0"/>
                  </a:cubicBezTo>
                  <a:cubicBezTo>
                    <a:pt x="39385" y="0"/>
                    <a:pt x="0" y="38335"/>
                    <a:pt x="0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6" name="Freeform 26">
              <a:extLst>
                <a:ext uri="{FF2B5EF4-FFF2-40B4-BE49-F238E27FC236}">
                  <a16:creationId xmlns:a16="http://schemas.microsoft.com/office/drawing/2014/main" id="{83623A44-0F0F-1370-66F6-0846CAF90985}"/>
                </a:ext>
              </a:extLst>
            </p:cNvPr>
            <p:cNvSpPr/>
            <p:nvPr/>
          </p:nvSpPr>
          <p:spPr>
            <a:xfrm>
              <a:off x="7294401" y="3270889"/>
              <a:ext cx="134581" cy="181394"/>
            </a:xfrm>
            <a:custGeom>
              <a:avLst/>
              <a:gdLst>
                <a:gd name="connsiteX0" fmla="*/ 0 w 134581"/>
                <a:gd name="connsiteY0" fmla="*/ 90652 h 181394"/>
                <a:gd name="connsiteX1" fmla="*/ 93926 w 134581"/>
                <a:gd name="connsiteY1" fmla="*/ 181394 h 181394"/>
                <a:gd name="connsiteX2" fmla="*/ 134581 w 134581"/>
                <a:gd name="connsiteY2" fmla="*/ 175170 h 181394"/>
                <a:gd name="connsiteX3" fmla="*/ 134581 w 134581"/>
                <a:gd name="connsiteY3" fmla="*/ 128176 h 181394"/>
                <a:gd name="connsiteX4" fmla="*/ 97193 w 134581"/>
                <a:gd name="connsiteY4" fmla="*/ 137196 h 181394"/>
                <a:gd name="connsiteX5" fmla="*/ 50184 w 134581"/>
                <a:gd name="connsiteY5" fmla="*/ 90472 h 181394"/>
                <a:gd name="connsiteX6" fmla="*/ 97193 w 134581"/>
                <a:gd name="connsiteY6" fmla="*/ 43747 h 181394"/>
                <a:gd name="connsiteX7" fmla="*/ 134581 w 134581"/>
                <a:gd name="connsiteY7" fmla="*/ 52768 h 181394"/>
                <a:gd name="connsiteX8" fmla="*/ 134581 w 134581"/>
                <a:gd name="connsiteY8" fmla="*/ 6314 h 181394"/>
                <a:gd name="connsiteX9" fmla="*/ 93926 w 134581"/>
                <a:gd name="connsiteY9" fmla="*/ 0 h 181394"/>
                <a:gd name="connsiteX10" fmla="*/ 181 w 134581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581" h="181394">
                  <a:moveTo>
                    <a:pt x="0" y="90652"/>
                  </a:moveTo>
                  <a:cubicBezTo>
                    <a:pt x="0" y="147118"/>
                    <a:pt x="43832" y="181394"/>
                    <a:pt x="93926" y="181394"/>
                  </a:cubicBezTo>
                  <a:cubicBezTo>
                    <a:pt x="107708" y="181268"/>
                    <a:pt x="121400" y="179172"/>
                    <a:pt x="134581" y="175170"/>
                  </a:cubicBezTo>
                  <a:lnTo>
                    <a:pt x="134581" y="128176"/>
                  </a:lnTo>
                  <a:cubicBezTo>
                    <a:pt x="123065" y="134222"/>
                    <a:pt x="110216" y="137322"/>
                    <a:pt x="97193" y="137196"/>
                  </a:cubicBezTo>
                  <a:cubicBezTo>
                    <a:pt x="71231" y="137196"/>
                    <a:pt x="50184" y="116276"/>
                    <a:pt x="50184" y="90472"/>
                  </a:cubicBezTo>
                  <a:cubicBezTo>
                    <a:pt x="50184" y="64667"/>
                    <a:pt x="71231" y="43747"/>
                    <a:pt x="97193" y="43747"/>
                  </a:cubicBezTo>
                  <a:cubicBezTo>
                    <a:pt x="110217" y="43613"/>
                    <a:pt x="123068" y="46714"/>
                    <a:pt x="134581" y="52768"/>
                  </a:cubicBezTo>
                  <a:lnTo>
                    <a:pt x="134581" y="6314"/>
                  </a:lnTo>
                  <a:cubicBezTo>
                    <a:pt x="121434" y="2159"/>
                    <a:pt x="107722" y="30"/>
                    <a:pt x="93926" y="0"/>
                  </a:cubicBezTo>
                  <a:cubicBezTo>
                    <a:pt x="39476" y="0"/>
                    <a:pt x="181" y="38335"/>
                    <a:pt x="181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7" name="Freeform 27">
              <a:extLst>
                <a:ext uri="{FF2B5EF4-FFF2-40B4-BE49-F238E27FC236}">
                  <a16:creationId xmlns:a16="http://schemas.microsoft.com/office/drawing/2014/main" id="{8ABAB402-379C-A6D8-AF39-B22717AC8652}"/>
                </a:ext>
              </a:extLst>
            </p:cNvPr>
            <p:cNvSpPr/>
            <p:nvPr/>
          </p:nvSpPr>
          <p:spPr>
            <a:xfrm>
              <a:off x="7943079" y="3270861"/>
              <a:ext cx="182591" cy="181947"/>
            </a:xfrm>
            <a:custGeom>
              <a:avLst/>
              <a:gdLst>
                <a:gd name="connsiteX0" fmla="*/ 89568 w 182591"/>
                <a:gd name="connsiteY0" fmla="*/ 137224 h 181947"/>
                <a:gd name="connsiteX1" fmla="*/ 42832 w 182591"/>
                <a:gd name="connsiteY1" fmla="*/ 91494 h 181947"/>
                <a:gd name="connsiteX2" fmla="*/ 88842 w 182591"/>
                <a:gd name="connsiteY2" fmla="*/ 45041 h 181947"/>
                <a:gd name="connsiteX3" fmla="*/ 135578 w 182591"/>
                <a:gd name="connsiteY3" fmla="*/ 90772 h 181947"/>
                <a:gd name="connsiteX4" fmla="*/ 135578 w 182591"/>
                <a:gd name="connsiteY4" fmla="*/ 91131 h 181947"/>
                <a:gd name="connsiteX5" fmla="*/ 91220 w 182591"/>
                <a:gd name="connsiteY5" fmla="*/ 137218 h 181947"/>
                <a:gd name="connsiteX6" fmla="*/ 89568 w 182591"/>
                <a:gd name="connsiteY6" fmla="*/ 137224 h 181947"/>
                <a:gd name="connsiteX7" fmla="*/ 89568 w 182591"/>
                <a:gd name="connsiteY7" fmla="*/ 479 h 181947"/>
                <a:gd name="connsiteX8" fmla="*/ 17 w 182591"/>
                <a:gd name="connsiteY8" fmla="*/ 92919 h 181947"/>
                <a:gd name="connsiteX9" fmla="*/ 93017 w 182591"/>
                <a:gd name="connsiteY9" fmla="*/ 181931 h 181947"/>
                <a:gd name="connsiteX10" fmla="*/ 182586 w 182591"/>
                <a:gd name="connsiteY10" fmla="*/ 91131 h 181947"/>
                <a:gd name="connsiteX11" fmla="*/ 92781 w 182591"/>
                <a:gd name="connsiteY11" fmla="*/ 5 h 181947"/>
                <a:gd name="connsiteX12" fmla="*/ 89568 w 182591"/>
                <a:gd name="connsiteY12" fmla="*/ 28 h 18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591" h="181947">
                  <a:moveTo>
                    <a:pt x="89568" y="137224"/>
                  </a:moveTo>
                  <a:cubicBezTo>
                    <a:pt x="63959" y="137423"/>
                    <a:pt x="43032" y="116949"/>
                    <a:pt x="42832" y="91494"/>
                  </a:cubicBezTo>
                  <a:cubicBezTo>
                    <a:pt x="42633" y="66038"/>
                    <a:pt x="63233" y="45241"/>
                    <a:pt x="88842" y="45041"/>
                  </a:cubicBezTo>
                  <a:cubicBezTo>
                    <a:pt x="114452" y="44842"/>
                    <a:pt x="135378" y="65317"/>
                    <a:pt x="135578" y="90772"/>
                  </a:cubicBezTo>
                  <a:cubicBezTo>
                    <a:pt x="135578" y="90891"/>
                    <a:pt x="135578" y="91011"/>
                    <a:pt x="135578" y="91131"/>
                  </a:cubicBezTo>
                  <a:cubicBezTo>
                    <a:pt x="136132" y="116033"/>
                    <a:pt x="116267" y="136667"/>
                    <a:pt x="91220" y="137218"/>
                  </a:cubicBezTo>
                  <a:cubicBezTo>
                    <a:pt x="90666" y="137229"/>
                    <a:pt x="90122" y="137232"/>
                    <a:pt x="89568" y="137224"/>
                  </a:cubicBezTo>
                  <a:moveTo>
                    <a:pt x="89568" y="479"/>
                  </a:moveTo>
                  <a:cubicBezTo>
                    <a:pt x="39157" y="1425"/>
                    <a:pt x="-936" y="42812"/>
                    <a:pt x="17" y="92919"/>
                  </a:cubicBezTo>
                  <a:cubicBezTo>
                    <a:pt x="969" y="143026"/>
                    <a:pt x="42605" y="182877"/>
                    <a:pt x="93017" y="181931"/>
                  </a:cubicBezTo>
                  <a:cubicBezTo>
                    <a:pt x="142784" y="180997"/>
                    <a:pt x="182623" y="140607"/>
                    <a:pt x="182586" y="91131"/>
                  </a:cubicBezTo>
                  <a:cubicBezTo>
                    <a:pt x="183104" y="41317"/>
                    <a:pt x="142893" y="519"/>
                    <a:pt x="92781" y="5"/>
                  </a:cubicBezTo>
                  <a:cubicBezTo>
                    <a:pt x="91710" y="-6"/>
                    <a:pt x="90639" y="1"/>
                    <a:pt x="89568" y="28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8" name="Freeform 28">
              <a:extLst>
                <a:ext uri="{FF2B5EF4-FFF2-40B4-BE49-F238E27FC236}">
                  <a16:creationId xmlns:a16="http://schemas.microsoft.com/office/drawing/2014/main" id="{A0F49F63-D861-23D0-7A32-6898EA38AA9E}"/>
                </a:ext>
              </a:extLst>
            </p:cNvPr>
            <p:cNvSpPr/>
            <p:nvPr/>
          </p:nvSpPr>
          <p:spPr>
            <a:xfrm>
              <a:off x="7593692" y="3270799"/>
              <a:ext cx="121059" cy="181484"/>
            </a:xfrm>
            <a:custGeom>
              <a:avLst/>
              <a:gdLst>
                <a:gd name="connsiteX0" fmla="*/ 79678 w 121059"/>
                <a:gd name="connsiteY0" fmla="*/ 72612 h 181484"/>
                <a:gd name="connsiteX1" fmla="*/ 67427 w 121059"/>
                <a:gd name="connsiteY1" fmla="*/ 68733 h 181484"/>
                <a:gd name="connsiteX2" fmla="*/ 47099 w 121059"/>
                <a:gd name="connsiteY2" fmla="*/ 52046 h 181484"/>
                <a:gd name="connsiteX3" fmla="*/ 74324 w 121059"/>
                <a:gd name="connsiteY3" fmla="*/ 37614 h 181484"/>
                <a:gd name="connsiteX4" fmla="*/ 109081 w 121059"/>
                <a:gd name="connsiteY4" fmla="*/ 43026 h 181484"/>
                <a:gd name="connsiteX5" fmla="*/ 109081 w 121059"/>
                <a:gd name="connsiteY5" fmla="*/ 5592 h 181484"/>
                <a:gd name="connsiteX6" fmla="*/ 65703 w 121059"/>
                <a:gd name="connsiteY6" fmla="*/ 0 h 181484"/>
                <a:gd name="connsiteX7" fmla="*/ 0 w 121059"/>
                <a:gd name="connsiteY7" fmla="*/ 54752 h 181484"/>
                <a:gd name="connsiteX8" fmla="*/ 45375 w 121059"/>
                <a:gd name="connsiteY8" fmla="*/ 105986 h 181484"/>
                <a:gd name="connsiteX9" fmla="*/ 54994 w 121059"/>
                <a:gd name="connsiteY9" fmla="*/ 109143 h 181484"/>
                <a:gd name="connsiteX10" fmla="*/ 74778 w 121059"/>
                <a:gd name="connsiteY10" fmla="*/ 126462 h 181484"/>
                <a:gd name="connsiteX11" fmla="*/ 42471 w 121059"/>
                <a:gd name="connsiteY11" fmla="*/ 142878 h 181484"/>
                <a:gd name="connsiteX12" fmla="*/ 454 w 121059"/>
                <a:gd name="connsiteY12" fmla="*/ 136384 h 181484"/>
                <a:gd name="connsiteX13" fmla="*/ 454 w 121059"/>
                <a:gd name="connsiteY13" fmla="*/ 176704 h 181484"/>
                <a:gd name="connsiteX14" fmla="*/ 48460 w 121059"/>
                <a:gd name="connsiteY14" fmla="*/ 181484 h 181484"/>
                <a:gd name="connsiteX15" fmla="*/ 121060 w 121059"/>
                <a:gd name="connsiteY15" fmla="*/ 122673 h 181484"/>
                <a:gd name="connsiteX16" fmla="*/ 79043 w 121059"/>
                <a:gd name="connsiteY16" fmla="*/ 72612 h 181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1059" h="181484">
                  <a:moveTo>
                    <a:pt x="79678" y="72612"/>
                  </a:moveTo>
                  <a:lnTo>
                    <a:pt x="67427" y="68733"/>
                  </a:lnTo>
                  <a:cubicBezTo>
                    <a:pt x="60167" y="66388"/>
                    <a:pt x="47099" y="62690"/>
                    <a:pt x="47099" y="52046"/>
                  </a:cubicBezTo>
                  <a:cubicBezTo>
                    <a:pt x="47099" y="43567"/>
                    <a:pt x="56718" y="37614"/>
                    <a:pt x="74324" y="37614"/>
                  </a:cubicBezTo>
                  <a:cubicBezTo>
                    <a:pt x="86085" y="38079"/>
                    <a:pt x="97746" y="39896"/>
                    <a:pt x="109081" y="43026"/>
                  </a:cubicBezTo>
                  <a:lnTo>
                    <a:pt x="109081" y="5592"/>
                  </a:lnTo>
                  <a:cubicBezTo>
                    <a:pt x="94888" y="2071"/>
                    <a:pt x="80331" y="194"/>
                    <a:pt x="65703" y="0"/>
                  </a:cubicBezTo>
                  <a:cubicBezTo>
                    <a:pt x="24684" y="0"/>
                    <a:pt x="0" y="22009"/>
                    <a:pt x="0" y="54752"/>
                  </a:cubicBezTo>
                  <a:cubicBezTo>
                    <a:pt x="0" y="83797"/>
                    <a:pt x="20691" y="98229"/>
                    <a:pt x="45375" y="105986"/>
                  </a:cubicBezTo>
                  <a:cubicBezTo>
                    <a:pt x="48188" y="106888"/>
                    <a:pt x="52272" y="108151"/>
                    <a:pt x="54994" y="109143"/>
                  </a:cubicBezTo>
                  <a:cubicBezTo>
                    <a:pt x="65975" y="112571"/>
                    <a:pt x="74778" y="117622"/>
                    <a:pt x="74778" y="126462"/>
                  </a:cubicBezTo>
                  <a:cubicBezTo>
                    <a:pt x="74778" y="135301"/>
                    <a:pt x="64614" y="142878"/>
                    <a:pt x="42471" y="142878"/>
                  </a:cubicBezTo>
                  <a:cubicBezTo>
                    <a:pt x="28250" y="142457"/>
                    <a:pt x="14130" y="140275"/>
                    <a:pt x="454" y="136384"/>
                  </a:cubicBezTo>
                  <a:lnTo>
                    <a:pt x="454" y="176704"/>
                  </a:lnTo>
                  <a:cubicBezTo>
                    <a:pt x="16281" y="179724"/>
                    <a:pt x="32343" y="181324"/>
                    <a:pt x="48460" y="181484"/>
                  </a:cubicBezTo>
                  <a:cubicBezTo>
                    <a:pt x="82491" y="181484"/>
                    <a:pt x="121060" y="166691"/>
                    <a:pt x="121060" y="122673"/>
                  </a:cubicBezTo>
                  <a:cubicBezTo>
                    <a:pt x="121060" y="101296"/>
                    <a:pt x="107901" y="81632"/>
                    <a:pt x="79043" y="7261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9" name="Freeform 29">
              <a:extLst>
                <a:ext uri="{FF2B5EF4-FFF2-40B4-BE49-F238E27FC236}">
                  <a16:creationId xmlns:a16="http://schemas.microsoft.com/office/drawing/2014/main" id="{62CA1BBC-594E-0B3B-ACB5-5180E647EB68}"/>
                </a:ext>
              </a:extLst>
            </p:cNvPr>
            <p:cNvSpPr/>
            <p:nvPr/>
          </p:nvSpPr>
          <p:spPr>
            <a:xfrm>
              <a:off x="7202835" y="3063878"/>
              <a:ext cx="44194" cy="88432"/>
            </a:xfrm>
            <a:custGeom>
              <a:avLst/>
              <a:gdLst>
                <a:gd name="connsiteX0" fmla="*/ 22143 w 44194"/>
                <a:gd name="connsiteY0" fmla="*/ 0 h 88432"/>
                <a:gd name="connsiteX1" fmla="*/ 0 w 44194"/>
                <a:gd name="connsiteY1" fmla="*/ 21919 h 88432"/>
                <a:gd name="connsiteX2" fmla="*/ 0 w 44194"/>
                <a:gd name="connsiteY2" fmla="*/ 67831 h 88432"/>
                <a:gd name="connsiteX3" fmla="*/ 23514 w 44194"/>
                <a:gd name="connsiteY3" fmla="*/ 88387 h 88432"/>
                <a:gd name="connsiteX4" fmla="*/ 44195 w 44194"/>
                <a:gd name="connsiteY4" fmla="*/ 67831 h 88432"/>
                <a:gd name="connsiteX5" fmla="*/ 44195 w 44194"/>
                <a:gd name="connsiteY5" fmla="*/ 21919 h 88432"/>
                <a:gd name="connsiteX6" fmla="*/ 22143 w 44194"/>
                <a:gd name="connsiteY6" fmla="*/ 0 h 88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94" h="88432">
                  <a:moveTo>
                    <a:pt x="22143" y="0"/>
                  </a:moveTo>
                  <a:cubicBezTo>
                    <a:pt x="9949" y="0"/>
                    <a:pt x="50" y="9799"/>
                    <a:pt x="0" y="21919"/>
                  </a:cubicBezTo>
                  <a:lnTo>
                    <a:pt x="0" y="67831"/>
                  </a:lnTo>
                  <a:cubicBezTo>
                    <a:pt x="782" y="79961"/>
                    <a:pt x="11310" y="89165"/>
                    <a:pt x="23514" y="88387"/>
                  </a:cubicBezTo>
                  <a:cubicBezTo>
                    <a:pt x="34627" y="87679"/>
                    <a:pt x="43483" y="78877"/>
                    <a:pt x="44195" y="67831"/>
                  </a:cubicBezTo>
                  <a:lnTo>
                    <a:pt x="44195" y="21919"/>
                  </a:lnTo>
                  <a:cubicBezTo>
                    <a:pt x="44195" y="9813"/>
                    <a:pt x="34321" y="0"/>
                    <a:pt x="22143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51B57147-07A3-179D-3B44-669E31BA0779}"/>
                </a:ext>
              </a:extLst>
            </p:cNvPr>
            <p:cNvSpPr/>
            <p:nvPr/>
          </p:nvSpPr>
          <p:spPr>
            <a:xfrm>
              <a:off x="7324348" y="3003533"/>
              <a:ext cx="44104" cy="150094"/>
            </a:xfrm>
            <a:custGeom>
              <a:avLst/>
              <a:gdLst>
                <a:gd name="connsiteX0" fmla="*/ 22052 w 44104"/>
                <a:gd name="connsiteY0" fmla="*/ 150094 h 150094"/>
                <a:gd name="connsiteX1" fmla="*/ 44104 w 44104"/>
                <a:gd name="connsiteY1" fmla="*/ 128176 h 150094"/>
                <a:gd name="connsiteX2" fmla="*/ 44104 w 44104"/>
                <a:gd name="connsiteY2" fmla="*/ 21919 h 150094"/>
                <a:gd name="connsiteX3" fmla="*/ 22052 w 44104"/>
                <a:gd name="connsiteY3" fmla="*/ 0 h 150094"/>
                <a:gd name="connsiteX4" fmla="*/ 0 w 44104"/>
                <a:gd name="connsiteY4" fmla="*/ 21919 h 150094"/>
                <a:gd name="connsiteX5" fmla="*/ 0 w 44104"/>
                <a:gd name="connsiteY5" fmla="*/ 128176 h 150094"/>
                <a:gd name="connsiteX6" fmla="*/ 22052 w 44104"/>
                <a:gd name="connsiteY6" fmla="*/ 150094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22052" y="150094"/>
                  </a:moveTo>
                  <a:cubicBezTo>
                    <a:pt x="34231" y="150094"/>
                    <a:pt x="44104" y="140281"/>
                    <a:pt x="44104" y="128176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3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3" y="150094"/>
                    <a:pt x="22052" y="150094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1" name="Freeform 31">
              <a:extLst>
                <a:ext uri="{FF2B5EF4-FFF2-40B4-BE49-F238E27FC236}">
                  <a16:creationId xmlns:a16="http://schemas.microsoft.com/office/drawing/2014/main" id="{D2F4977B-6C3A-1749-28D3-74067758D800}"/>
                </a:ext>
              </a:extLst>
            </p:cNvPr>
            <p:cNvSpPr/>
            <p:nvPr/>
          </p:nvSpPr>
          <p:spPr>
            <a:xfrm>
              <a:off x="7445589" y="2921000"/>
              <a:ext cx="44104" cy="276375"/>
            </a:xfrm>
            <a:custGeom>
              <a:avLst/>
              <a:gdLst>
                <a:gd name="connsiteX0" fmla="*/ 22052 w 44104"/>
                <a:gd name="connsiteY0" fmla="*/ 0 h 276375"/>
                <a:gd name="connsiteX1" fmla="*/ 0 w 44104"/>
                <a:gd name="connsiteY1" fmla="*/ 21919 h 276375"/>
                <a:gd name="connsiteX2" fmla="*/ 0 w 44104"/>
                <a:gd name="connsiteY2" fmla="*/ 254457 h 276375"/>
                <a:gd name="connsiteX3" fmla="*/ 22052 w 44104"/>
                <a:gd name="connsiteY3" fmla="*/ 276376 h 276375"/>
                <a:gd name="connsiteX4" fmla="*/ 44104 w 44104"/>
                <a:gd name="connsiteY4" fmla="*/ 254457 h 276375"/>
                <a:gd name="connsiteX5" fmla="*/ 44104 w 44104"/>
                <a:gd name="connsiteY5" fmla="*/ 21919 h 276375"/>
                <a:gd name="connsiteX6" fmla="*/ 22052 w 44104"/>
                <a:gd name="connsiteY6" fmla="*/ 0 h 27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276375">
                  <a:moveTo>
                    <a:pt x="22052" y="0"/>
                  </a:moveTo>
                  <a:cubicBezTo>
                    <a:pt x="9873" y="0"/>
                    <a:pt x="0" y="9813"/>
                    <a:pt x="0" y="21919"/>
                  </a:cubicBezTo>
                  <a:lnTo>
                    <a:pt x="0" y="254457"/>
                  </a:lnTo>
                  <a:cubicBezTo>
                    <a:pt x="0" y="266563"/>
                    <a:pt x="9873" y="276376"/>
                    <a:pt x="22052" y="276376"/>
                  </a:cubicBezTo>
                  <a:cubicBezTo>
                    <a:pt x="34231" y="276376"/>
                    <a:pt x="44104" y="266563"/>
                    <a:pt x="44104" y="254457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2" name="Freeform 32">
              <a:extLst>
                <a:ext uri="{FF2B5EF4-FFF2-40B4-BE49-F238E27FC236}">
                  <a16:creationId xmlns:a16="http://schemas.microsoft.com/office/drawing/2014/main" id="{7539BE40-6861-0AFB-E72A-25B2630122C7}"/>
                </a:ext>
              </a:extLst>
            </p:cNvPr>
            <p:cNvSpPr/>
            <p:nvPr/>
          </p:nvSpPr>
          <p:spPr>
            <a:xfrm>
              <a:off x="7566921" y="3003533"/>
              <a:ext cx="44104" cy="150094"/>
            </a:xfrm>
            <a:custGeom>
              <a:avLst/>
              <a:gdLst>
                <a:gd name="connsiteX0" fmla="*/ 44104 w 44104"/>
                <a:gd name="connsiteY0" fmla="*/ 128176 h 150094"/>
                <a:gd name="connsiteX1" fmla="*/ 44104 w 44104"/>
                <a:gd name="connsiteY1" fmla="*/ 21919 h 150094"/>
                <a:gd name="connsiteX2" fmla="*/ 22052 w 44104"/>
                <a:gd name="connsiteY2" fmla="*/ 0 h 150094"/>
                <a:gd name="connsiteX3" fmla="*/ 0 w 44104"/>
                <a:gd name="connsiteY3" fmla="*/ 21919 h 150094"/>
                <a:gd name="connsiteX4" fmla="*/ 0 w 44104"/>
                <a:gd name="connsiteY4" fmla="*/ 128176 h 150094"/>
                <a:gd name="connsiteX5" fmla="*/ 22052 w 44104"/>
                <a:gd name="connsiteY5" fmla="*/ 150094 h 150094"/>
                <a:gd name="connsiteX6" fmla="*/ 44104 w 44104"/>
                <a:gd name="connsiteY6" fmla="*/ 128176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44104" y="128176"/>
                  </a:move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4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4" y="150094"/>
                    <a:pt x="22052" y="150094"/>
                  </a:cubicBezTo>
                  <a:cubicBezTo>
                    <a:pt x="34231" y="150094"/>
                    <a:pt x="44104" y="140281"/>
                    <a:pt x="44104" y="128176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3" name="Freeform 33">
              <a:extLst>
                <a:ext uri="{FF2B5EF4-FFF2-40B4-BE49-F238E27FC236}">
                  <a16:creationId xmlns:a16="http://schemas.microsoft.com/office/drawing/2014/main" id="{8726BE87-6F3D-1887-CD70-E89DF7FE7BFC}"/>
                </a:ext>
              </a:extLst>
            </p:cNvPr>
            <p:cNvSpPr/>
            <p:nvPr/>
          </p:nvSpPr>
          <p:spPr>
            <a:xfrm>
              <a:off x="7687800" y="3063876"/>
              <a:ext cx="44104" cy="89751"/>
            </a:xfrm>
            <a:custGeom>
              <a:avLst/>
              <a:gdLst>
                <a:gd name="connsiteX0" fmla="*/ 22415 w 44104"/>
                <a:gd name="connsiteY0" fmla="*/ 2 h 89751"/>
                <a:gd name="connsiteX1" fmla="*/ 0 w 44104"/>
                <a:gd name="connsiteY1" fmla="*/ 21738 h 89751"/>
                <a:gd name="connsiteX2" fmla="*/ 0 w 44104"/>
                <a:gd name="connsiteY2" fmla="*/ 21921 h 89751"/>
                <a:gd name="connsiteX3" fmla="*/ 0 w 44104"/>
                <a:gd name="connsiteY3" fmla="*/ 67833 h 89751"/>
                <a:gd name="connsiteX4" fmla="*/ 22052 w 44104"/>
                <a:gd name="connsiteY4" fmla="*/ 89752 h 89751"/>
                <a:gd name="connsiteX5" fmla="*/ 44104 w 44104"/>
                <a:gd name="connsiteY5" fmla="*/ 67833 h 89751"/>
                <a:gd name="connsiteX6" fmla="*/ 44104 w 44104"/>
                <a:gd name="connsiteY6" fmla="*/ 21921 h 89751"/>
                <a:gd name="connsiteX7" fmla="*/ 22143 w 44104"/>
                <a:gd name="connsiteY7" fmla="*/ 2 h 89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104" h="89751">
                  <a:moveTo>
                    <a:pt x="22415" y="2"/>
                  </a:moveTo>
                  <a:cubicBezTo>
                    <a:pt x="10191" y="-148"/>
                    <a:pt x="154" y="9584"/>
                    <a:pt x="0" y="21738"/>
                  </a:cubicBezTo>
                  <a:cubicBezTo>
                    <a:pt x="0" y="21799"/>
                    <a:pt x="0" y="21860"/>
                    <a:pt x="0" y="21921"/>
                  </a:cubicBezTo>
                  <a:lnTo>
                    <a:pt x="0" y="67833"/>
                  </a:lnTo>
                  <a:cubicBezTo>
                    <a:pt x="0" y="79939"/>
                    <a:pt x="9874" y="89752"/>
                    <a:pt x="22052" y="89752"/>
                  </a:cubicBezTo>
                  <a:cubicBezTo>
                    <a:pt x="34231" y="89752"/>
                    <a:pt x="44104" y="79939"/>
                    <a:pt x="44104" y="67833"/>
                  </a:cubicBezTo>
                  <a:lnTo>
                    <a:pt x="44104" y="21921"/>
                  </a:lnTo>
                  <a:cubicBezTo>
                    <a:pt x="44104" y="9850"/>
                    <a:pt x="34285" y="51"/>
                    <a:pt x="22143" y="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4" name="Freeform 34">
              <a:extLst>
                <a:ext uri="{FF2B5EF4-FFF2-40B4-BE49-F238E27FC236}">
                  <a16:creationId xmlns:a16="http://schemas.microsoft.com/office/drawing/2014/main" id="{EB3564BA-B2F9-645B-AD4D-30EC3199A221}"/>
                </a:ext>
              </a:extLst>
            </p:cNvPr>
            <p:cNvSpPr/>
            <p:nvPr/>
          </p:nvSpPr>
          <p:spPr>
            <a:xfrm>
              <a:off x="7809447" y="3002127"/>
              <a:ext cx="44107" cy="151500"/>
            </a:xfrm>
            <a:custGeom>
              <a:avLst/>
              <a:gdLst>
                <a:gd name="connsiteX0" fmla="*/ 22009 w 44107"/>
                <a:gd name="connsiteY0" fmla="*/ 151500 h 151500"/>
                <a:gd name="connsiteX1" fmla="*/ 44061 w 44107"/>
                <a:gd name="connsiteY1" fmla="*/ 129582 h 151500"/>
                <a:gd name="connsiteX2" fmla="*/ 44061 w 44107"/>
                <a:gd name="connsiteY2" fmla="*/ 23325 h 151500"/>
                <a:gd name="connsiteX3" fmla="*/ 23470 w 44107"/>
                <a:gd name="connsiteY3" fmla="*/ 46 h 151500"/>
                <a:gd name="connsiteX4" fmla="*/ 48 w 44107"/>
                <a:gd name="connsiteY4" fmla="*/ 20514 h 151500"/>
                <a:gd name="connsiteX5" fmla="*/ 48 w 44107"/>
                <a:gd name="connsiteY5" fmla="*/ 23325 h 151500"/>
                <a:gd name="connsiteX6" fmla="*/ 48 w 44107"/>
                <a:gd name="connsiteY6" fmla="*/ 129582 h 151500"/>
                <a:gd name="connsiteX7" fmla="*/ 21918 w 44107"/>
                <a:gd name="connsiteY7" fmla="*/ 151500 h 151500"/>
                <a:gd name="connsiteX8" fmla="*/ 22009 w 44107"/>
                <a:gd name="connsiteY8" fmla="*/ 151500 h 15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151500">
                  <a:moveTo>
                    <a:pt x="22009" y="151500"/>
                  </a:moveTo>
                  <a:cubicBezTo>
                    <a:pt x="34188" y="151500"/>
                    <a:pt x="44061" y="141688"/>
                    <a:pt x="44061" y="129582"/>
                  </a:cubicBezTo>
                  <a:lnTo>
                    <a:pt x="44061" y="23325"/>
                  </a:lnTo>
                  <a:cubicBezTo>
                    <a:pt x="44841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1"/>
                    <a:pt x="-16" y="22389"/>
                    <a:pt x="48" y="23325"/>
                  </a:cubicBezTo>
                  <a:lnTo>
                    <a:pt x="48" y="129582"/>
                  </a:lnTo>
                  <a:cubicBezTo>
                    <a:pt x="-7" y="141637"/>
                    <a:pt x="9785" y="151451"/>
                    <a:pt x="21918" y="151500"/>
                  </a:cubicBezTo>
                  <a:cubicBezTo>
                    <a:pt x="21945" y="151500"/>
                    <a:pt x="21982" y="151500"/>
                    <a:pt x="22009" y="15150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5" name="Freeform 35">
              <a:extLst>
                <a:ext uri="{FF2B5EF4-FFF2-40B4-BE49-F238E27FC236}">
                  <a16:creationId xmlns:a16="http://schemas.microsoft.com/office/drawing/2014/main" id="{0B4EEF7D-1D1F-7611-2AD6-3168E2EE165C}"/>
                </a:ext>
              </a:extLst>
            </p:cNvPr>
            <p:cNvSpPr/>
            <p:nvPr/>
          </p:nvSpPr>
          <p:spPr>
            <a:xfrm>
              <a:off x="7930779" y="2919593"/>
              <a:ext cx="44108" cy="279187"/>
            </a:xfrm>
            <a:custGeom>
              <a:avLst/>
              <a:gdLst>
                <a:gd name="connsiteX0" fmla="*/ 44061 w 44108"/>
                <a:gd name="connsiteY0" fmla="*/ 255863 h 279187"/>
                <a:gd name="connsiteX1" fmla="*/ 44061 w 44108"/>
                <a:gd name="connsiteY1" fmla="*/ 23325 h 279187"/>
                <a:gd name="connsiteX2" fmla="*/ 23470 w 44108"/>
                <a:gd name="connsiteY2" fmla="*/ 46 h 279187"/>
                <a:gd name="connsiteX3" fmla="*/ 48 w 44108"/>
                <a:gd name="connsiteY3" fmla="*/ 20514 h 279187"/>
                <a:gd name="connsiteX4" fmla="*/ 48 w 44108"/>
                <a:gd name="connsiteY4" fmla="*/ 23325 h 279187"/>
                <a:gd name="connsiteX5" fmla="*/ 48 w 44108"/>
                <a:gd name="connsiteY5" fmla="*/ 255863 h 279187"/>
                <a:gd name="connsiteX6" fmla="*/ 20639 w 44108"/>
                <a:gd name="connsiteY6" fmla="*/ 279142 h 279187"/>
                <a:gd name="connsiteX7" fmla="*/ 44061 w 44108"/>
                <a:gd name="connsiteY7" fmla="*/ 258674 h 279187"/>
                <a:gd name="connsiteX8" fmla="*/ 44061 w 44108"/>
                <a:gd name="connsiteY8" fmla="*/ 255863 h 279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8" h="279187">
                  <a:moveTo>
                    <a:pt x="44061" y="255863"/>
                  </a:moveTo>
                  <a:lnTo>
                    <a:pt x="44061" y="23325"/>
                  </a:lnTo>
                  <a:cubicBezTo>
                    <a:pt x="44842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0"/>
                    <a:pt x="-16" y="22389"/>
                    <a:pt x="48" y="23325"/>
                  </a:cubicBezTo>
                  <a:lnTo>
                    <a:pt x="48" y="255863"/>
                  </a:lnTo>
                  <a:cubicBezTo>
                    <a:pt x="-733" y="267944"/>
                    <a:pt x="8487" y="278366"/>
                    <a:pt x="20639" y="279142"/>
                  </a:cubicBezTo>
                  <a:cubicBezTo>
                    <a:pt x="32790" y="279919"/>
                    <a:pt x="43281" y="270754"/>
                    <a:pt x="44061" y="258674"/>
                  </a:cubicBezTo>
                  <a:cubicBezTo>
                    <a:pt x="44125" y="257737"/>
                    <a:pt x="44125" y="256799"/>
                    <a:pt x="44061" y="255863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6" name="Freeform 36">
              <a:extLst>
                <a:ext uri="{FF2B5EF4-FFF2-40B4-BE49-F238E27FC236}">
                  <a16:creationId xmlns:a16="http://schemas.microsoft.com/office/drawing/2014/main" id="{9A55B643-50C9-ECA1-F047-7AF4A01DADB7}"/>
                </a:ext>
              </a:extLst>
            </p:cNvPr>
            <p:cNvSpPr/>
            <p:nvPr/>
          </p:nvSpPr>
          <p:spPr>
            <a:xfrm>
              <a:off x="8051886" y="3003443"/>
              <a:ext cx="44285" cy="150187"/>
            </a:xfrm>
            <a:custGeom>
              <a:avLst/>
              <a:gdLst>
                <a:gd name="connsiteX0" fmla="*/ 21961 w 44285"/>
                <a:gd name="connsiteY0" fmla="*/ 150185 h 150187"/>
                <a:gd name="connsiteX1" fmla="*/ 44286 w 44285"/>
                <a:gd name="connsiteY1" fmla="*/ 128720 h 150187"/>
                <a:gd name="connsiteX2" fmla="*/ 44286 w 44285"/>
                <a:gd name="connsiteY2" fmla="*/ 128266 h 150187"/>
                <a:gd name="connsiteX3" fmla="*/ 44286 w 44285"/>
                <a:gd name="connsiteY3" fmla="*/ 22009 h 150187"/>
                <a:gd name="connsiteX4" fmla="*/ 22143 w 44285"/>
                <a:gd name="connsiteY4" fmla="*/ 0 h 150187"/>
                <a:gd name="connsiteX5" fmla="*/ 0 w 44285"/>
                <a:gd name="connsiteY5" fmla="*/ 22009 h 150187"/>
                <a:gd name="connsiteX6" fmla="*/ 0 w 44285"/>
                <a:gd name="connsiteY6" fmla="*/ 128266 h 150187"/>
                <a:gd name="connsiteX7" fmla="*/ 22052 w 44285"/>
                <a:gd name="connsiteY7" fmla="*/ 150185 h 15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285" h="150187">
                  <a:moveTo>
                    <a:pt x="21961" y="150185"/>
                  </a:moveTo>
                  <a:cubicBezTo>
                    <a:pt x="34086" y="150384"/>
                    <a:pt x="44086" y="140774"/>
                    <a:pt x="44286" y="128720"/>
                  </a:cubicBezTo>
                  <a:cubicBezTo>
                    <a:pt x="44286" y="128569"/>
                    <a:pt x="44286" y="128417"/>
                    <a:pt x="44286" y="128266"/>
                  </a:cubicBezTo>
                  <a:lnTo>
                    <a:pt x="44286" y="22009"/>
                  </a:lnTo>
                  <a:cubicBezTo>
                    <a:pt x="44286" y="9854"/>
                    <a:pt x="34376" y="0"/>
                    <a:pt x="22143" y="0"/>
                  </a:cubicBezTo>
                  <a:cubicBezTo>
                    <a:pt x="9910" y="0"/>
                    <a:pt x="0" y="9854"/>
                    <a:pt x="0" y="22009"/>
                  </a:cubicBezTo>
                  <a:lnTo>
                    <a:pt x="0" y="128266"/>
                  </a:lnTo>
                  <a:cubicBezTo>
                    <a:pt x="0" y="140372"/>
                    <a:pt x="9874" y="150185"/>
                    <a:pt x="22052" y="150185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46A6ACD1-E596-9055-243C-B9CF5CFB813D}"/>
                </a:ext>
              </a:extLst>
            </p:cNvPr>
            <p:cNvSpPr/>
            <p:nvPr/>
          </p:nvSpPr>
          <p:spPr>
            <a:xfrm>
              <a:off x="8173172" y="3063878"/>
              <a:ext cx="44107" cy="91156"/>
            </a:xfrm>
            <a:custGeom>
              <a:avLst/>
              <a:gdLst>
                <a:gd name="connsiteX0" fmla="*/ 22007 w 44107"/>
                <a:gd name="connsiteY0" fmla="*/ 0 h 91156"/>
                <a:gd name="connsiteX1" fmla="*/ 46 w 44107"/>
                <a:gd name="connsiteY1" fmla="*/ 21829 h 91156"/>
                <a:gd name="connsiteX2" fmla="*/ 46 w 44107"/>
                <a:gd name="connsiteY2" fmla="*/ 21919 h 91156"/>
                <a:gd name="connsiteX3" fmla="*/ 46 w 44107"/>
                <a:gd name="connsiteY3" fmla="*/ 67831 h 91156"/>
                <a:gd name="connsiteX4" fmla="*/ 20637 w 44107"/>
                <a:gd name="connsiteY4" fmla="*/ 91110 h 91156"/>
                <a:gd name="connsiteX5" fmla="*/ 44059 w 44107"/>
                <a:gd name="connsiteY5" fmla="*/ 70642 h 91156"/>
                <a:gd name="connsiteX6" fmla="*/ 44059 w 44107"/>
                <a:gd name="connsiteY6" fmla="*/ 67831 h 91156"/>
                <a:gd name="connsiteX7" fmla="*/ 44059 w 44107"/>
                <a:gd name="connsiteY7" fmla="*/ 21919 h 91156"/>
                <a:gd name="connsiteX8" fmla="*/ 22007 w 44107"/>
                <a:gd name="connsiteY8" fmla="*/ 0 h 9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91156">
                  <a:moveTo>
                    <a:pt x="22007" y="0"/>
                  </a:moveTo>
                  <a:cubicBezTo>
                    <a:pt x="9874" y="0"/>
                    <a:pt x="46" y="9773"/>
                    <a:pt x="46" y="21829"/>
                  </a:cubicBezTo>
                  <a:cubicBezTo>
                    <a:pt x="46" y="21858"/>
                    <a:pt x="46" y="21889"/>
                    <a:pt x="46" y="21919"/>
                  </a:cubicBezTo>
                  <a:lnTo>
                    <a:pt x="46" y="67831"/>
                  </a:lnTo>
                  <a:cubicBezTo>
                    <a:pt x="-734" y="79912"/>
                    <a:pt x="8486" y="90334"/>
                    <a:pt x="20637" y="91110"/>
                  </a:cubicBezTo>
                  <a:cubicBezTo>
                    <a:pt x="32789" y="91887"/>
                    <a:pt x="43279" y="82722"/>
                    <a:pt x="44059" y="70642"/>
                  </a:cubicBezTo>
                  <a:cubicBezTo>
                    <a:pt x="44123" y="69705"/>
                    <a:pt x="44123" y="68767"/>
                    <a:pt x="44059" y="67831"/>
                  </a:cubicBezTo>
                  <a:lnTo>
                    <a:pt x="44059" y="21919"/>
                  </a:lnTo>
                  <a:cubicBezTo>
                    <a:pt x="44059" y="9813"/>
                    <a:pt x="34186" y="0"/>
                    <a:pt x="22007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0342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21F2830-F0A3-2EAC-C709-5C928A8C4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55BE63C-8C0C-FC75-3DF2-F8F96A3C8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754" y="1244599"/>
            <a:ext cx="11544396" cy="4835321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9B4362-70A2-3ADC-C4AA-ADA6E4E09C94}"/>
              </a:ext>
            </a:extLst>
          </p:cNvPr>
          <p:cNvSpPr>
            <a:spLocks/>
          </p:cNvSpPr>
          <p:nvPr/>
        </p:nvSpPr>
        <p:spPr bwMode="ltGray">
          <a:xfrm>
            <a:off x="323850" y="6448930"/>
            <a:ext cx="3285935" cy="409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defTabSz="8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" panose="020B0503020201020303"/>
              </a:rPr>
              <a:t>© 2026 Cisco and/or its affiliates. All rights reserved.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2B348-7CFA-9BD7-7FBA-A3E160A677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" panose="020B0503020201020303"/>
              </a:defRPr>
            </a:lvl1pPr>
          </a:lstStyle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ECAE8E-F596-3416-3914-B7C065191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" panose="020B0503020201020303"/>
              </a:defRPr>
            </a:lvl1pPr>
          </a:lstStyle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7" descr="Cisco Logo">
            <a:extLst>
              <a:ext uri="{FF2B5EF4-FFF2-40B4-BE49-F238E27FC236}">
                <a16:creationId xmlns:a16="http://schemas.microsoft.com/office/drawing/2014/main" id="{E912C7E4-465D-A60D-49E8-6866FAAE655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8"/>
              </a:ext>
            </a:extLst>
          </a:blip>
          <a:srcRect/>
          <a:stretch/>
        </p:blipFill>
        <p:spPr>
          <a:xfrm>
            <a:off x="11520088" y="6354445"/>
            <a:ext cx="348061" cy="182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AE3397-B7E0-F9B7-D1AC-C859F3CFC5A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85550" y="6672580"/>
            <a:ext cx="765175" cy="107722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370733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2" r:id="rId1"/>
    <p:sldLayoutId id="2147483748" r:id="rId2"/>
    <p:sldLayoutId id="2147483787" r:id="rId3"/>
    <p:sldLayoutId id="2147483788" r:id="rId4"/>
    <p:sldLayoutId id="2147483773" r:id="rId5"/>
    <p:sldLayoutId id="2147483799" r:id="rId6"/>
    <p:sldLayoutId id="2147483800" r:id="rId7"/>
    <p:sldLayoutId id="2147483801" r:id="rId8"/>
    <p:sldLayoutId id="2147483668" r:id="rId9"/>
    <p:sldLayoutId id="2147483747" r:id="rId10"/>
    <p:sldLayoutId id="2147483754" r:id="rId11"/>
    <p:sldLayoutId id="2147483753" r:id="rId12"/>
    <p:sldLayoutId id="2147483763" r:id="rId13"/>
    <p:sldLayoutId id="2147483764" r:id="rId14"/>
    <p:sldLayoutId id="2147483771" r:id="rId15"/>
    <p:sldLayoutId id="2147483777" r:id="rId16"/>
    <p:sldLayoutId id="2147483804" r:id="rId17"/>
    <p:sldLayoutId id="2147483789" r:id="rId18"/>
    <p:sldLayoutId id="2147483805" r:id="rId19"/>
    <p:sldLayoutId id="2147483812" r:id="rId20"/>
    <p:sldLayoutId id="2147483811" r:id="rId21"/>
    <p:sldLayoutId id="2147483809" r:id="rId22"/>
    <p:sldLayoutId id="2147483808" r:id="rId23"/>
    <p:sldLayoutId id="2147483807" r:id="rId24"/>
    <p:sldLayoutId id="2147483810" r:id="rId25"/>
    <p:sldLayoutId id="2147483796" r:id="rId26"/>
    <p:sldLayoutId id="2147483780" r:id="rId27"/>
    <p:sldLayoutId id="2147483784" r:id="rId28"/>
    <p:sldLayoutId id="2147483778" r:id="rId29"/>
    <p:sldLayoutId id="2147483781" r:id="rId30"/>
    <p:sldLayoutId id="2147483779" r:id="rId31"/>
    <p:sldLayoutId id="2147483774" r:id="rId32"/>
    <p:sldLayoutId id="2147483775" r:id="rId33"/>
    <p:sldLayoutId id="2147483776" r:id="rId34"/>
    <p:sldLayoutId id="2147483783" r:id="rId35"/>
    <p:sldLayoutId id="2147483797" r:id="rId36"/>
    <p:sldLayoutId id="2147483794" r:id="rId37"/>
    <p:sldLayoutId id="2147483806" r:id="rId38"/>
    <p:sldLayoutId id="2147483798" r:id="rId39"/>
    <p:sldLayoutId id="2147483791" r:id="rId40"/>
    <p:sldLayoutId id="2147483793" r:id="rId41"/>
    <p:sldLayoutId id="2147483792" r:id="rId42"/>
    <p:sldLayoutId id="2147483795" r:id="rId43"/>
    <p:sldLayoutId id="2147483762" r:id="rId44"/>
    <p:sldLayoutId id="2147483785" r:id="rId45"/>
    <p:sldLayoutId id="2147483786" r:id="rId46"/>
    <p:sldLayoutId id="2147483790" r:id="rId47"/>
    <p:sldLayoutId id="2147483756" r:id="rId48"/>
    <p:sldLayoutId id="2147483761" r:id="rId49"/>
    <p:sldLayoutId id="2147483758" r:id="rId50"/>
    <p:sldLayoutId id="2147483760" r:id="rId51"/>
    <p:sldLayoutId id="2147483757" r:id="rId52"/>
    <p:sldLayoutId id="2147483802" r:id="rId53"/>
    <p:sldLayoutId id="2147483751" r:id="rId54"/>
    <p:sldLayoutId id="2147483803" r:id="rId55"/>
    <p:sldLayoutId id="2147483749" r:id="rId5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indent="0" algn="l" defTabSz="912276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Tx/>
        <a:buSzPct val="70000"/>
        <a:buFont typeface="Arial" panose="020B0604020202020204" pitchFamily="34" charset="0"/>
        <a:buNone/>
        <a:defRPr lang="en-US" sz="3200" b="0" i="0" u="none" kern="1200" dirty="0">
          <a:solidFill>
            <a:schemeClr val="bg1"/>
          </a:solidFill>
          <a:latin typeface="+mj-lt"/>
          <a:ea typeface="CiscoSansTT Thin" charset="0"/>
          <a:cs typeface="CiscoSansTT Thin" charset="0"/>
        </a:defRPr>
      </a:lvl1pPr>
      <a:lvl2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2pPr>
      <a:lvl3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3pPr>
      <a:lvl4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4pPr>
      <a:lvl5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5pPr>
      <a:lvl6pPr marL="60959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6pPr>
      <a:lvl7pPr marL="1219190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7pPr>
      <a:lvl8pPr marL="182878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8pPr>
      <a:lvl9pPr marL="2438379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8288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1pPr>
      <a:lvl2pPr marL="36576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8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2pPr>
      <a:lvl3pPr marL="54864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3pPr>
      <a:lvl4pPr marL="73152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4pPr>
      <a:lvl5pPr marL="91440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2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5pPr>
      <a:lvl6pPr marL="1151798" indent="-228592" algn="l" defTabSz="914362" rtl="0" eaLnBrk="1" latinLnBrk="0" hangingPunct="1">
        <a:spcBef>
          <a:spcPts val="800"/>
        </a:spcBef>
        <a:buFont typeface="Arial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247781" indent="-228561" algn="l" defTabSz="914362" rtl="0" eaLnBrk="1" latinLnBrk="0" hangingPunct="1">
        <a:spcBef>
          <a:spcPts val="800"/>
        </a:spcBef>
        <a:buFont typeface="Arial" pitchFamily="34" charset="0"/>
        <a:buChar char="•"/>
        <a:defRPr sz="1067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267" indent="0" algn="l" defTabSz="91436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8" indent="-228592" algn="l" defTabSz="91436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6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5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3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6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7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04">
          <p15:clr>
            <a:srgbClr val="F26B43"/>
          </p15:clr>
        </p15:guide>
        <p15:guide id="3" pos="7476">
          <p15:clr>
            <a:srgbClr val="F26B43"/>
          </p15:clr>
        </p15:guide>
        <p15:guide id="6" pos="3840">
          <p15:clr>
            <a:srgbClr val="F26B43"/>
          </p15:clr>
        </p15:guide>
        <p15:guide id="9" orient="horz" pos="3827">
          <p15:clr>
            <a:srgbClr val="9FCC3B"/>
          </p15:clr>
        </p15:guide>
        <p15:guide id="10" orient="horz" pos="202">
          <p15:clr>
            <a:srgbClr val="F26B43"/>
          </p15:clr>
        </p15:guide>
        <p15:guide id="11" orient="horz" pos="2160">
          <p15:clr>
            <a:srgbClr val="F26B43"/>
          </p15:clr>
        </p15:guide>
        <p15:guide id="12" orient="horz" pos="392">
          <p15:clr>
            <a:srgbClr val="A4A3A4"/>
          </p15:clr>
        </p15:guide>
        <p15:guide id="13" orient="horz" pos="2552">
          <p15:clr>
            <a:srgbClr val="A4A3A4"/>
          </p15:clr>
        </p15:guide>
        <p15:guide id="14" orient="horz" pos="600">
          <p15:clr>
            <a:srgbClr val="A4A3A4"/>
          </p15:clr>
        </p15:guide>
        <p15:guide id="15" orient="horz" pos="1766">
          <p15:clr>
            <a:srgbClr val="A4A3A4"/>
          </p15:clr>
        </p15:guide>
        <p15:guide id="16" orient="horz" pos="2355">
          <p15:clr>
            <a:srgbClr val="A4A3A4"/>
          </p15:clr>
        </p15:guide>
        <p15:guide id="18" orient="horz" pos="4118">
          <p15:clr>
            <a:srgbClr val="F26B43"/>
          </p15:clr>
        </p15:guide>
        <p15:guide id="19" orient="horz" pos="1178">
          <p15:clr>
            <a:srgbClr val="A4A3A4"/>
          </p15:clr>
        </p15:guide>
        <p15:guide id="20" orient="horz" pos="1374">
          <p15:clr>
            <a:srgbClr val="A4A3A4"/>
          </p15:clr>
        </p15:guide>
        <p15:guide id="21" orient="horz" pos="1570">
          <p15:clr>
            <a:srgbClr val="A4A3A4"/>
          </p15:clr>
        </p15:guide>
        <p15:guide id="22" pos="703">
          <p15:clr>
            <a:srgbClr val="A4A3A4"/>
          </p15:clr>
        </p15:guide>
        <p15:guide id="23" pos="820">
          <p15:clr>
            <a:srgbClr val="A4A3A4"/>
          </p15:clr>
        </p15:guide>
        <p15:guide id="24" pos="1321">
          <p15:clr>
            <a:srgbClr val="A4A3A4"/>
          </p15:clr>
        </p15:guide>
        <p15:guide id="25" pos="1435">
          <p15:clr>
            <a:srgbClr val="A4A3A4"/>
          </p15:clr>
        </p15:guide>
        <p15:guide id="26" pos="1936">
          <p15:clr>
            <a:srgbClr val="A4A3A4"/>
          </p15:clr>
        </p15:guide>
        <p15:guide id="27" pos="2051">
          <p15:clr>
            <a:srgbClr val="A4A3A4"/>
          </p15:clr>
        </p15:guide>
        <p15:guide id="28" pos="2551">
          <p15:clr>
            <a:srgbClr val="A4A3A4"/>
          </p15:clr>
        </p15:guide>
        <p15:guide id="29" pos="2665">
          <p15:clr>
            <a:srgbClr val="A4A3A4"/>
          </p15:clr>
        </p15:guide>
        <p15:guide id="30" pos="3167">
          <p15:clr>
            <a:srgbClr val="A4A3A4"/>
          </p15:clr>
        </p15:guide>
        <p15:guide id="31" pos="3281">
          <p15:clr>
            <a:srgbClr val="A4A3A4"/>
          </p15:clr>
        </p15:guide>
        <p15:guide id="32" pos="3783">
          <p15:clr>
            <a:srgbClr val="A4A3A4"/>
          </p15:clr>
        </p15:guide>
        <p15:guide id="33" pos="3896">
          <p15:clr>
            <a:srgbClr val="A4A3A4"/>
          </p15:clr>
        </p15:guide>
        <p15:guide id="34" pos="4397">
          <p15:clr>
            <a:srgbClr val="A4A3A4"/>
          </p15:clr>
        </p15:guide>
        <p15:guide id="35" pos="4512">
          <p15:clr>
            <a:srgbClr val="A4A3A4"/>
          </p15:clr>
        </p15:guide>
        <p15:guide id="36" pos="5013">
          <p15:clr>
            <a:srgbClr val="A4A3A4"/>
          </p15:clr>
        </p15:guide>
        <p15:guide id="37" pos="5128">
          <p15:clr>
            <a:srgbClr val="A4A3A4"/>
          </p15:clr>
        </p15:guide>
        <p15:guide id="38" pos="5629">
          <p15:clr>
            <a:srgbClr val="A4A3A4"/>
          </p15:clr>
        </p15:guide>
        <p15:guide id="39" pos="5742">
          <p15:clr>
            <a:srgbClr val="A4A3A4"/>
          </p15:clr>
        </p15:guide>
        <p15:guide id="40" pos="6244">
          <p15:clr>
            <a:srgbClr val="A4A3A4"/>
          </p15:clr>
        </p15:guide>
        <p15:guide id="41" pos="6359">
          <p15:clr>
            <a:srgbClr val="A4A3A4"/>
          </p15:clr>
        </p15:guide>
        <p15:guide id="42" pos="6859">
          <p15:clr>
            <a:srgbClr val="A4A3A4"/>
          </p15:clr>
        </p15:guide>
        <p15:guide id="43" pos="6975">
          <p15:clr>
            <a:srgbClr val="A4A3A4"/>
          </p15:clr>
        </p15:guide>
        <p15:guide id="44" orient="horz" pos="784">
          <p15:clr>
            <a:srgbClr val="A4A3A4"/>
          </p15:clr>
        </p15:guide>
        <p15:guide id="45" orient="horz" pos="980">
          <p15:clr>
            <a:srgbClr val="A4A3A4"/>
          </p15:clr>
        </p15:guide>
        <p15:guide id="46" orient="horz" pos="1962">
          <p15:clr>
            <a:srgbClr val="A4A3A4"/>
          </p15:clr>
        </p15:guide>
        <p15:guide id="47" orient="horz" pos="2747">
          <p15:clr>
            <a:srgbClr val="A4A3A4"/>
          </p15:clr>
        </p15:guide>
        <p15:guide id="48" orient="horz" pos="2945">
          <p15:clr>
            <a:srgbClr val="A4A3A4"/>
          </p15:clr>
        </p15:guide>
        <p15:guide id="49" orient="horz" pos="3141">
          <p15:clr>
            <a:srgbClr val="A4A3A4"/>
          </p15:clr>
        </p15:guide>
        <p15:guide id="50" orient="horz" pos="3337">
          <p15:clr>
            <a:srgbClr val="A4A3A4"/>
          </p15:clr>
        </p15:guide>
        <p15:guide id="51" orient="horz" pos="3535">
          <p15:clr>
            <a:srgbClr val="A4A3A4"/>
          </p15:clr>
        </p15:guide>
        <p15:guide id="52" orient="horz" pos="3730">
          <p15:clr>
            <a:srgbClr val="A4A3A4"/>
          </p15:clr>
        </p15:guide>
        <p15:guide id="53" orient="horz" pos="3936">
          <p15:clr>
            <a:srgbClr val="A4A3A4"/>
          </p15:clr>
        </p15:guide>
        <p15:guide id="54" orient="horz" pos="187">
          <p15:clr>
            <a:srgbClr val="9FCC3B"/>
          </p15:clr>
        </p15:guide>
        <p15:guide id="55" pos="455">
          <p15:clr>
            <a:srgbClr val="9FCC3B"/>
          </p15:clr>
        </p15:guide>
        <p15:guide id="56" pos="1069">
          <p15:clr>
            <a:srgbClr val="9FCC3B"/>
          </p15:clr>
        </p15:guide>
        <p15:guide id="57" pos="1685">
          <p15:clr>
            <a:srgbClr val="9FCC3B"/>
          </p15:clr>
        </p15:guide>
        <p15:guide id="58" pos="2301">
          <p15:clr>
            <a:srgbClr val="9FCC3B"/>
          </p15:clr>
        </p15:guide>
        <p15:guide id="59" pos="2915">
          <p15:clr>
            <a:srgbClr val="9FCC3B"/>
          </p15:clr>
        </p15:guide>
        <p15:guide id="60" pos="3531">
          <p15:clr>
            <a:srgbClr val="9FCC3B"/>
          </p15:clr>
        </p15:guide>
        <p15:guide id="61" pos="4146">
          <p15:clr>
            <a:srgbClr val="9FCC3B"/>
          </p15:clr>
        </p15:guide>
        <p15:guide id="62" pos="4762">
          <p15:clr>
            <a:srgbClr val="9FCC3B"/>
          </p15:clr>
        </p15:guide>
        <p15:guide id="63" pos="5378">
          <p15:clr>
            <a:srgbClr val="9FCC3B"/>
          </p15:clr>
        </p15:guide>
        <p15:guide id="64" pos="5992">
          <p15:clr>
            <a:srgbClr val="9FCC3B"/>
          </p15:clr>
        </p15:guide>
        <p15:guide id="65" pos="6609">
          <p15:clr>
            <a:srgbClr val="9FCC3B"/>
          </p15:clr>
        </p15:guide>
        <p15:guide id="66" pos="7225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isco.sharepoint.com/:x:/r/sites/CampaignTaggingandTracking-TeamHub/Shared%20Documents/04%20-%20Move%20to%20Workfront/Campaign%20Tagging%20and%20Tracking%20Dependencies%20-%20August%202023%20-%20Copy.xlsx?d=w3060eb64a6a34730a68916e4c4b95d8f&amp;csf=1&amp;web=1&amp;e=2cI0LF" TargetMode="Externa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7F654-DCD6-0872-5994-3B80F08AD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Workfront &amp; CTT Integration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0AA607-FD47-2BFC-9114-999425F72F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Proof of Concept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F7DE3F-016F-A21A-D010-48C5F92D7C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Amanda Pattenden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132A02-875E-3C1C-2E02-585E1065A89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E63FAE1-729C-0BB5-98A8-95E7D4C6DF5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June 2026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1577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951C0D2-457B-4E87-DE1D-01DF737B1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E43DBE-7D0F-3C64-539B-99F6D73E4F75}"/>
              </a:ext>
            </a:extLst>
          </p:cNvPr>
          <p:cNvSpPr txBox="1"/>
          <p:nvPr/>
        </p:nvSpPr>
        <p:spPr>
          <a:xfrm>
            <a:off x="907517" y="902602"/>
            <a:ext cx="10376967" cy="3008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kern="1200" dirty="0">
                <a:solidFill>
                  <a:schemeClr val="accent2"/>
                </a:solidFill>
                <a:latin typeface="+mn-lt"/>
                <a:ea typeface="ＭＳ Ｐゴシック" charset="0"/>
              </a:rPr>
              <a:t>The proposal supports the Workfront end-state by reducing reporting and adoption risk during the transition</a:t>
            </a:r>
            <a:endParaRPr lang="en-GB" sz="1600" kern="1200" dirty="0" err="1">
              <a:solidFill>
                <a:schemeClr val="accent2"/>
              </a:solidFill>
              <a:latin typeface="+mn-lt"/>
              <a:ea typeface="ＭＳ Ｐゴシック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ED9E490-94D5-77E7-2F96-35202716CDA6}"/>
              </a:ext>
            </a:extLst>
          </p:cNvPr>
          <p:cNvSpPr/>
          <p:nvPr/>
        </p:nvSpPr>
        <p:spPr>
          <a:xfrm>
            <a:off x="1002890" y="1474839"/>
            <a:ext cx="1805203" cy="371659"/>
          </a:xfrm>
          <a:prstGeom prst="roundRect">
            <a:avLst/>
          </a:prstGeom>
          <a:gradFill flip="none" rotWithShape="1">
            <a:gsLst>
              <a:gs pos="5000">
                <a:srgbClr val="0A60FF"/>
              </a:gs>
              <a:gs pos="95000">
                <a:srgbClr val="02C8FF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Position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B2C5CF-AD8D-2766-FE26-E51B971388E9}"/>
              </a:ext>
            </a:extLst>
          </p:cNvPr>
          <p:cNvSpPr txBox="1"/>
          <p:nvPr/>
        </p:nvSpPr>
        <p:spPr>
          <a:xfrm>
            <a:off x="4743081" y="2853394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GB" sz="16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4C718FB-CF37-958A-AA5A-18802C760DEB}"/>
              </a:ext>
            </a:extLst>
          </p:cNvPr>
          <p:cNvGrpSpPr/>
          <p:nvPr/>
        </p:nvGrpSpPr>
        <p:grpSpPr>
          <a:xfrm>
            <a:off x="713821" y="2704813"/>
            <a:ext cx="3392424" cy="3055866"/>
            <a:chOff x="713821" y="3079463"/>
            <a:chExt cx="3392424" cy="3055866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B033076A-18CA-157B-7100-74C4EA328957}"/>
                </a:ext>
              </a:extLst>
            </p:cNvPr>
            <p:cNvSpPr/>
            <p:nvPr/>
          </p:nvSpPr>
          <p:spPr>
            <a:xfrm>
              <a:off x="714005" y="3079463"/>
              <a:ext cx="3392056" cy="3055866"/>
            </a:xfrm>
            <a:prstGeom prst="roundRect">
              <a:avLst>
                <a:gd name="adj" fmla="val 9753"/>
              </a:avLst>
            </a:prstGeom>
            <a:noFill/>
            <a:ln w="158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 anchorCtr="0">
              <a:noAutofit/>
            </a:bodyPr>
            <a:lstStyle/>
            <a:p>
              <a:pPr marL="182880" indent="-182880" algn="l">
                <a:buFont typeface="Arial" panose="020B0604020202020204" pitchFamily="34" charset="0"/>
                <a:buChar char="•"/>
              </a:pPr>
              <a:endParaRPr lang="en-GB" sz="1600" dirty="0">
                <a:solidFill>
                  <a:schemeClr val="bg1"/>
                </a:solidFill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9C292DC-D1AA-1A5B-257E-46B5D47CD21F}"/>
                </a:ext>
              </a:extLst>
            </p:cNvPr>
            <p:cNvCxnSpPr>
              <a:cxnSpLocks/>
            </p:cNvCxnSpPr>
            <p:nvPr/>
          </p:nvCxnSpPr>
          <p:spPr>
            <a:xfrm>
              <a:off x="713821" y="3748157"/>
              <a:ext cx="3392424" cy="0"/>
            </a:xfrm>
            <a:prstGeom prst="line">
              <a:avLst/>
            </a:prstGeom>
            <a:noFill/>
            <a:ln w="79375">
              <a:gradFill flip="none" rotWithShape="1">
                <a:gsLst>
                  <a:gs pos="37000">
                    <a:srgbClr val="02C8FF"/>
                  </a:gs>
                  <a:gs pos="5000">
                    <a:srgbClr val="0A60FF"/>
                  </a:gs>
                  <a:gs pos="44000">
                    <a:srgbClr val="02C8FF"/>
                  </a:gs>
                  <a:gs pos="75000">
                    <a:srgbClr val="FF007F"/>
                  </a:gs>
                  <a:gs pos="95000">
                    <a:srgbClr val="FF9000"/>
                  </a:gs>
                </a:gsLst>
                <a:lin ang="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502B4CB-5B43-6284-795A-07BBE087EB5A}"/>
                </a:ext>
              </a:extLst>
            </p:cNvPr>
            <p:cNvSpPr txBox="1"/>
            <p:nvPr/>
          </p:nvSpPr>
          <p:spPr>
            <a:xfrm>
              <a:off x="1314658" y="3159538"/>
              <a:ext cx="2190750" cy="50148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</a:pPr>
              <a:r>
                <a:rPr lang="en-US" sz="1600" kern="1200" dirty="0">
                  <a:solidFill>
                    <a:schemeClr val="bg1"/>
                  </a:solidFill>
                  <a:latin typeface="+mn-lt"/>
                  <a:ea typeface="ＭＳ Ｐゴシック" charset="0"/>
                </a:rPr>
                <a:t>Recommendation</a:t>
              </a:r>
              <a:endParaRPr lang="en-GB" sz="1600" kern="1200" dirty="0" err="1">
                <a:solidFill>
                  <a:schemeClr val="bg1"/>
                </a:solidFill>
                <a:latin typeface="+mn-lt"/>
                <a:ea typeface="ＭＳ Ｐゴシック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49FC5FA-6B40-37FC-AB7F-02B2F06ABD9A}"/>
                </a:ext>
              </a:extLst>
            </p:cNvPr>
            <p:cNvSpPr txBox="1"/>
            <p:nvPr/>
          </p:nvSpPr>
          <p:spPr>
            <a:xfrm>
              <a:off x="841316" y="3835293"/>
              <a:ext cx="3137433" cy="20569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82880" indent="-182880" algn="l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sz="1600" kern="1200" dirty="0">
                  <a:solidFill>
                    <a:schemeClr val="bg1"/>
                  </a:solidFill>
                  <a:latin typeface="+mn-lt"/>
                  <a:ea typeface="ＭＳ Ｐゴシック" charset="0"/>
                </a:rPr>
                <a:t>Fund a focused POC that integrates Workfront with CTT</a:t>
              </a:r>
            </a:p>
            <a:p>
              <a:pPr marL="182880" indent="-182880" algn="l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bg1"/>
                  </a:solidFill>
                  <a:ea typeface="ＭＳ Ｐゴシック" charset="0"/>
                </a:rPr>
                <a:t>Use CTT Temporarily as a compatibility layer while Workfront adoption expands</a:t>
              </a:r>
            </a:p>
            <a:p>
              <a:pPr marL="182880" indent="-182880" algn="l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sz="1600" kern="1200" dirty="0">
                  <a:solidFill>
                    <a:schemeClr val="bg1"/>
                  </a:solidFill>
                  <a:latin typeface="+mn-lt"/>
                  <a:ea typeface="ＭＳ Ｐゴシック" charset="0"/>
                </a:rPr>
                <a:t>Write CTT-Generated IDs</a:t>
              </a:r>
              <a:r>
                <a:rPr lang="en-US" sz="1600" dirty="0">
                  <a:solidFill>
                    <a:schemeClr val="bg1"/>
                  </a:solidFill>
                  <a:ea typeface="ＭＳ Ｐゴシック" charset="0"/>
                </a:rPr>
                <a:t> back to Workfront</a:t>
              </a:r>
              <a:endParaRPr lang="en-GB" sz="1600" kern="1200" dirty="0" err="1">
                <a:solidFill>
                  <a:schemeClr val="bg1"/>
                </a:solidFill>
                <a:latin typeface="+mn-lt"/>
                <a:ea typeface="ＭＳ Ｐゴシック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8A43E09-10A6-C048-8A73-D625AFBC094C}"/>
              </a:ext>
            </a:extLst>
          </p:cNvPr>
          <p:cNvGrpSpPr/>
          <p:nvPr/>
        </p:nvGrpSpPr>
        <p:grpSpPr>
          <a:xfrm>
            <a:off x="4346021" y="2704813"/>
            <a:ext cx="3392424" cy="3055866"/>
            <a:chOff x="713821" y="3079463"/>
            <a:chExt cx="3392424" cy="3055866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57C15A96-DB04-6409-3DD1-7BF516C21FAD}"/>
                </a:ext>
              </a:extLst>
            </p:cNvPr>
            <p:cNvSpPr/>
            <p:nvPr/>
          </p:nvSpPr>
          <p:spPr>
            <a:xfrm>
              <a:off x="714005" y="3079463"/>
              <a:ext cx="3392056" cy="3055866"/>
            </a:xfrm>
            <a:prstGeom prst="roundRect">
              <a:avLst>
                <a:gd name="adj" fmla="val 9753"/>
              </a:avLst>
            </a:prstGeom>
            <a:noFill/>
            <a:ln w="158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 anchorCtr="0">
              <a:noAutofit/>
            </a:bodyPr>
            <a:lstStyle/>
            <a:p>
              <a:pPr marL="182880" indent="-182880" algn="l">
                <a:buFont typeface="Arial" panose="020B0604020202020204" pitchFamily="34" charset="0"/>
                <a:buChar char="•"/>
              </a:pPr>
              <a:endParaRPr lang="en-GB" sz="1600" dirty="0">
                <a:solidFill>
                  <a:schemeClr val="bg1"/>
                </a:solidFill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E222309-9A74-64DE-86E8-D7FCA623D1C3}"/>
                </a:ext>
              </a:extLst>
            </p:cNvPr>
            <p:cNvCxnSpPr>
              <a:cxnSpLocks/>
            </p:cNvCxnSpPr>
            <p:nvPr/>
          </p:nvCxnSpPr>
          <p:spPr>
            <a:xfrm>
              <a:off x="713821" y="3748157"/>
              <a:ext cx="3392424" cy="0"/>
            </a:xfrm>
            <a:prstGeom prst="line">
              <a:avLst/>
            </a:prstGeom>
            <a:noFill/>
            <a:ln w="79375">
              <a:gradFill flip="none" rotWithShape="1">
                <a:gsLst>
                  <a:gs pos="37000">
                    <a:srgbClr val="02C8FF"/>
                  </a:gs>
                  <a:gs pos="5000">
                    <a:srgbClr val="0A60FF"/>
                  </a:gs>
                  <a:gs pos="44000">
                    <a:srgbClr val="02C8FF"/>
                  </a:gs>
                  <a:gs pos="75000">
                    <a:srgbClr val="FF007F"/>
                  </a:gs>
                  <a:gs pos="95000">
                    <a:srgbClr val="FF9000"/>
                  </a:gs>
                </a:gsLst>
                <a:lin ang="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05A8DD9-DE06-8A61-CB5D-02944033D631}"/>
                </a:ext>
              </a:extLst>
            </p:cNvPr>
            <p:cNvSpPr txBox="1"/>
            <p:nvPr/>
          </p:nvSpPr>
          <p:spPr>
            <a:xfrm>
              <a:off x="1314658" y="3159538"/>
              <a:ext cx="2190750" cy="50148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</a:pPr>
              <a:r>
                <a:rPr lang="en-US" sz="1600" kern="1200" dirty="0">
                  <a:solidFill>
                    <a:schemeClr val="bg1"/>
                  </a:solidFill>
                  <a:latin typeface="+mn-lt"/>
                  <a:ea typeface="ＭＳ Ｐゴシック" charset="0"/>
                </a:rPr>
                <a:t>Not a Detour</a:t>
              </a:r>
              <a:endParaRPr lang="en-GB" sz="1600" kern="1200" dirty="0" err="1">
                <a:solidFill>
                  <a:schemeClr val="bg1"/>
                </a:solidFill>
                <a:latin typeface="+mn-lt"/>
                <a:ea typeface="ＭＳ Ｐゴシック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C386EDA-0E22-96A1-E390-AD26FDDCFA59}"/>
                </a:ext>
              </a:extLst>
            </p:cNvPr>
            <p:cNvSpPr txBox="1"/>
            <p:nvPr/>
          </p:nvSpPr>
          <p:spPr>
            <a:xfrm>
              <a:off x="841316" y="3835292"/>
              <a:ext cx="3137433" cy="22353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82880" indent="-182880" algn="l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sz="1600" kern="1200" dirty="0">
                  <a:solidFill>
                    <a:schemeClr val="bg1"/>
                  </a:solidFill>
                  <a:latin typeface="+mn-lt"/>
                  <a:ea typeface="ＭＳ Ｐゴシック" charset="0"/>
                </a:rPr>
                <a:t>The POC aligns data attributes to th</a:t>
              </a:r>
              <a:r>
                <a:rPr lang="en-US" sz="1600" dirty="0">
                  <a:solidFill>
                    <a:schemeClr val="bg1"/>
                  </a:solidFill>
                  <a:ea typeface="ＭＳ Ｐゴシック" charset="0"/>
                </a:rPr>
                <a:t>e future Workfront Model</a:t>
              </a:r>
            </a:p>
            <a:p>
              <a:pPr marL="182880" indent="-182880" algn="l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bg1"/>
                  </a:solidFill>
                  <a:ea typeface="ＭＳ Ｐゴシック" charset="0"/>
                </a:rPr>
                <a:t>Gives </a:t>
              </a:r>
              <a:r>
                <a:rPr lang="en-US" sz="1600" kern="1200" dirty="0">
                  <a:solidFill>
                    <a:schemeClr val="bg1"/>
                  </a:solidFill>
                  <a:latin typeface="+mn-lt"/>
                  <a:ea typeface="ＭＳ Ｐゴシック" charset="0"/>
                </a:rPr>
                <a:t>evidence to plan the migration and decommission criteria</a:t>
              </a:r>
            </a:p>
            <a:p>
              <a:pPr marL="182880" indent="-182880" algn="l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bg1"/>
                  </a:solidFill>
                  <a:ea typeface="ＭＳ Ｐゴシック" charset="0"/>
                </a:rPr>
                <a:t>It limits disruption to team and reports already dependent on CTT IDs</a:t>
              </a:r>
              <a:endParaRPr lang="en-GB" sz="1600" kern="1200" dirty="0" err="1">
                <a:solidFill>
                  <a:schemeClr val="bg1"/>
                </a:solidFill>
                <a:latin typeface="+mn-lt"/>
                <a:ea typeface="ＭＳ Ｐゴシック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46CAD8A-4508-ACF9-9A98-42F33181EEAE}"/>
              </a:ext>
            </a:extLst>
          </p:cNvPr>
          <p:cNvGrpSpPr/>
          <p:nvPr/>
        </p:nvGrpSpPr>
        <p:grpSpPr>
          <a:xfrm>
            <a:off x="7978221" y="2704813"/>
            <a:ext cx="3392424" cy="3055866"/>
            <a:chOff x="713821" y="3079463"/>
            <a:chExt cx="3392424" cy="3055866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24BB3F72-24B0-06CC-80A0-8BE223C7441D}"/>
                </a:ext>
              </a:extLst>
            </p:cNvPr>
            <p:cNvSpPr/>
            <p:nvPr/>
          </p:nvSpPr>
          <p:spPr>
            <a:xfrm>
              <a:off x="714005" y="3079463"/>
              <a:ext cx="3392056" cy="3055866"/>
            </a:xfrm>
            <a:prstGeom prst="roundRect">
              <a:avLst>
                <a:gd name="adj" fmla="val 9753"/>
              </a:avLst>
            </a:prstGeom>
            <a:noFill/>
            <a:ln w="158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 anchorCtr="0">
              <a:noAutofit/>
            </a:bodyPr>
            <a:lstStyle/>
            <a:p>
              <a:pPr marL="182880" indent="-182880" algn="l">
                <a:buFont typeface="Arial" panose="020B0604020202020204" pitchFamily="34" charset="0"/>
                <a:buChar char="•"/>
              </a:pPr>
              <a:endParaRPr lang="en-GB" sz="1600" dirty="0">
                <a:solidFill>
                  <a:schemeClr val="bg1"/>
                </a:solidFill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7158AFA-869A-CA82-15D3-8AE182648B1C}"/>
                </a:ext>
              </a:extLst>
            </p:cNvPr>
            <p:cNvCxnSpPr>
              <a:cxnSpLocks/>
            </p:cNvCxnSpPr>
            <p:nvPr/>
          </p:nvCxnSpPr>
          <p:spPr>
            <a:xfrm>
              <a:off x="713821" y="3748157"/>
              <a:ext cx="3392424" cy="0"/>
            </a:xfrm>
            <a:prstGeom prst="line">
              <a:avLst/>
            </a:prstGeom>
            <a:noFill/>
            <a:ln w="79375">
              <a:gradFill flip="none" rotWithShape="1">
                <a:gsLst>
                  <a:gs pos="37000">
                    <a:srgbClr val="02C8FF"/>
                  </a:gs>
                  <a:gs pos="5000">
                    <a:srgbClr val="0A60FF"/>
                  </a:gs>
                  <a:gs pos="44000">
                    <a:srgbClr val="02C8FF"/>
                  </a:gs>
                  <a:gs pos="75000">
                    <a:srgbClr val="FF007F"/>
                  </a:gs>
                  <a:gs pos="95000">
                    <a:srgbClr val="FF9000"/>
                  </a:gs>
                </a:gsLst>
                <a:lin ang="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088A88D-68A1-3EB3-EBEA-CB44C8A01561}"/>
                </a:ext>
              </a:extLst>
            </p:cNvPr>
            <p:cNvSpPr txBox="1"/>
            <p:nvPr/>
          </p:nvSpPr>
          <p:spPr>
            <a:xfrm>
              <a:off x="1314658" y="3159538"/>
              <a:ext cx="2190750" cy="50148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</a:pPr>
              <a:r>
                <a:rPr lang="en-US" sz="1600" kern="1200" dirty="0">
                  <a:solidFill>
                    <a:schemeClr val="bg1"/>
                  </a:solidFill>
                  <a:latin typeface="+mn-lt"/>
                  <a:ea typeface="ＭＳ Ｐゴシック" charset="0"/>
                </a:rPr>
                <a:t>Management Ask</a:t>
              </a:r>
              <a:endParaRPr lang="en-GB" sz="1600" kern="1200" dirty="0" err="1">
                <a:solidFill>
                  <a:schemeClr val="bg1"/>
                </a:solidFill>
                <a:latin typeface="+mn-lt"/>
                <a:ea typeface="ＭＳ Ｐゴシック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2297B81-DC23-3447-99E4-B555369D96D6}"/>
                </a:ext>
              </a:extLst>
            </p:cNvPr>
            <p:cNvSpPr txBox="1"/>
            <p:nvPr/>
          </p:nvSpPr>
          <p:spPr>
            <a:xfrm>
              <a:off x="841316" y="3835293"/>
              <a:ext cx="3137433" cy="20569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82880" indent="-182880" algn="l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sz="1600" kern="1200" dirty="0">
                  <a:solidFill>
                    <a:schemeClr val="bg1"/>
                  </a:solidFill>
                  <a:latin typeface="+mn-lt"/>
                  <a:ea typeface="ＭＳ Ｐゴシック" charset="0"/>
                </a:rPr>
                <a:t>Approve a proof of concept and across impacted teams</a:t>
              </a:r>
            </a:p>
            <a:p>
              <a:pPr marL="182880" indent="-182880" algn="l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bg1"/>
                  </a:solidFill>
                  <a:ea typeface="ＭＳ Ｐゴシック" charset="0"/>
                </a:rPr>
                <a:t>Agree success measures for the POC</a:t>
              </a:r>
            </a:p>
            <a:p>
              <a:pPr marL="182880" indent="-182880" algn="l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sz="1600" kern="1200" dirty="0">
                  <a:solidFill>
                    <a:schemeClr val="bg1"/>
                  </a:solidFill>
                  <a:latin typeface="+mn-lt"/>
                  <a:ea typeface="ＭＳ Ｐゴシック" charset="0"/>
                </a:rPr>
                <a:t>Use finding to make a scale/decommission decision</a:t>
              </a:r>
              <a:endParaRPr lang="en-GB" sz="1600" kern="1200" dirty="0" err="1">
                <a:solidFill>
                  <a:schemeClr val="bg1"/>
                </a:solidFill>
                <a:latin typeface="+mn-lt"/>
                <a:ea typeface="ＭＳ Ｐゴシック" charset="0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0783A029-8665-C0A7-0371-CAB5BE7001EB}"/>
              </a:ext>
            </a:extLst>
          </p:cNvPr>
          <p:cNvSpPr txBox="1"/>
          <p:nvPr/>
        </p:nvSpPr>
        <p:spPr>
          <a:xfrm>
            <a:off x="907517" y="1967435"/>
            <a:ext cx="10376967" cy="5477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dirty="0">
                <a:solidFill>
                  <a:schemeClr val="bg1"/>
                </a:solidFill>
                <a:ea typeface="ＭＳ Ｐゴシック" charset="0"/>
              </a:rPr>
              <a:t>We know the strategic direction is to use Workfront as the marketing activation and data source and to decommission the Campaign Tagging and Tracking Tool</a:t>
            </a:r>
            <a:endParaRPr lang="en-GB" sz="16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084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FCC63-B862-C6FA-E261-2FF0EF438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Reality – Workfront vs CTT</a:t>
            </a:r>
            <a:endParaRPr lang="en-GB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30783E4-C48F-5985-DC50-FD488B0BE085}"/>
              </a:ext>
            </a:extLst>
          </p:cNvPr>
          <p:cNvSpPr/>
          <p:nvPr/>
        </p:nvSpPr>
        <p:spPr>
          <a:xfrm>
            <a:off x="717140" y="1004939"/>
            <a:ext cx="1805203" cy="371659"/>
          </a:xfrm>
          <a:prstGeom prst="roundRect">
            <a:avLst/>
          </a:prstGeom>
          <a:gradFill flip="none" rotWithShape="1">
            <a:gsLst>
              <a:gs pos="5000">
                <a:srgbClr val="0A60FF"/>
              </a:gs>
              <a:gs pos="95000">
                <a:srgbClr val="02C8FF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Position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7988E1-6D95-FB75-4D8E-78A19247D7DE}"/>
              </a:ext>
            </a:extLst>
          </p:cNvPr>
          <p:cNvSpPr txBox="1"/>
          <p:nvPr/>
        </p:nvSpPr>
        <p:spPr>
          <a:xfrm>
            <a:off x="798379" y="1544657"/>
            <a:ext cx="10595242" cy="5847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algn="ctr" defTabSz="912276" fontAlgn="base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defRPr sz="1600">
                <a:solidFill>
                  <a:schemeClr val="bg1"/>
                </a:solidFill>
                <a:ea typeface="ＭＳ Ｐゴシック" charset="0"/>
              </a:defRPr>
            </a:lvl1pPr>
          </a:lstStyle>
          <a:p>
            <a:r>
              <a:rPr lang="en-US" dirty="0"/>
              <a:t>Workfront is the destination, but CTT is still the operating model and a direct cutover risks breaking measurement before all upstream and downstream dependencies are ready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4F3E2F3-F750-60BD-2B6B-E725F05F1F2E}"/>
              </a:ext>
            </a:extLst>
          </p:cNvPr>
          <p:cNvGrpSpPr/>
          <p:nvPr/>
        </p:nvGrpSpPr>
        <p:grpSpPr>
          <a:xfrm>
            <a:off x="663781" y="2387600"/>
            <a:ext cx="3447638" cy="3638550"/>
            <a:chOff x="731521" y="2387600"/>
            <a:chExt cx="3447638" cy="363855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27AD45BD-02CC-8DE7-EC94-CC28CB112D62}"/>
                </a:ext>
              </a:extLst>
            </p:cNvPr>
            <p:cNvSpPr/>
            <p:nvPr/>
          </p:nvSpPr>
          <p:spPr>
            <a:xfrm>
              <a:off x="731521" y="2387600"/>
              <a:ext cx="3447638" cy="3638550"/>
            </a:xfrm>
            <a:prstGeom prst="roundRect">
              <a:avLst>
                <a:gd name="adj" fmla="val 8379"/>
              </a:avLst>
            </a:prstGeom>
            <a:noFill/>
            <a:ln w="158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 anchorCtr="0">
              <a:noAutofit/>
            </a:bodyPr>
            <a:lstStyle/>
            <a:p>
              <a:pPr algn="l"/>
              <a:endParaRPr lang="en-GB" sz="1600" dirty="0">
                <a:solidFill>
                  <a:schemeClr val="bg1"/>
                </a:solidFill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EECEFF8-D9C0-A4E3-4A50-9600C8C8FD02}"/>
                </a:ext>
              </a:extLst>
            </p:cNvPr>
            <p:cNvCxnSpPr>
              <a:cxnSpLocks/>
            </p:cNvCxnSpPr>
            <p:nvPr/>
          </p:nvCxnSpPr>
          <p:spPr>
            <a:xfrm>
              <a:off x="731696" y="2909957"/>
              <a:ext cx="3447288" cy="0"/>
            </a:xfrm>
            <a:prstGeom prst="line">
              <a:avLst/>
            </a:prstGeom>
            <a:noFill/>
            <a:ln w="79375">
              <a:gradFill flip="none" rotWithShape="1">
                <a:gsLst>
                  <a:gs pos="37000">
                    <a:srgbClr val="02C8FF"/>
                  </a:gs>
                  <a:gs pos="5000">
                    <a:srgbClr val="0A60FF"/>
                  </a:gs>
                  <a:gs pos="44000">
                    <a:srgbClr val="02C8FF"/>
                  </a:gs>
                  <a:gs pos="75000">
                    <a:srgbClr val="FF007F"/>
                  </a:gs>
                  <a:gs pos="95000">
                    <a:srgbClr val="FF9000"/>
                  </a:gs>
                </a:gsLst>
                <a:lin ang="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BFEA6B-DCC7-E53E-633F-BF1C65E49E1C}"/>
                </a:ext>
              </a:extLst>
            </p:cNvPr>
            <p:cNvSpPr txBox="1"/>
            <p:nvPr/>
          </p:nvSpPr>
          <p:spPr>
            <a:xfrm>
              <a:off x="855140" y="2436054"/>
              <a:ext cx="3200400" cy="4445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</a:pPr>
              <a:r>
                <a:rPr lang="en-US" sz="1600" kern="1200" dirty="0">
                  <a:solidFill>
                    <a:schemeClr val="bg1"/>
                  </a:solidFill>
                  <a:latin typeface="+mn-lt"/>
                  <a:ea typeface="ＭＳ Ｐゴシック" charset="0"/>
                </a:rPr>
                <a:t>Known Constraints</a:t>
              </a:r>
              <a:endParaRPr lang="en-GB" sz="1600" kern="1200" dirty="0" err="1">
                <a:solidFill>
                  <a:schemeClr val="bg1"/>
                </a:solidFill>
                <a:latin typeface="+mn-lt"/>
                <a:ea typeface="ＭＳ Ｐゴシック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96BECDB-9767-FEE2-8A4A-49242A773874}"/>
                </a:ext>
              </a:extLst>
            </p:cNvPr>
            <p:cNvSpPr txBox="1"/>
            <p:nvPr/>
          </p:nvSpPr>
          <p:spPr>
            <a:xfrm>
              <a:off x="797990" y="3039304"/>
              <a:ext cx="3314700" cy="270580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82880" indent="-182880" algn="l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sz="1400" kern="1200" dirty="0">
                  <a:solidFill>
                    <a:schemeClr val="bg1"/>
                  </a:solidFill>
                  <a:latin typeface="+mn-lt"/>
                  <a:ea typeface="ＭＳ Ｐゴシック" charset="0"/>
                </a:rPr>
                <a:t>Not all marketing activities pass through Workfront Today</a:t>
              </a:r>
            </a:p>
            <a:p>
              <a:pPr marL="182880" indent="-182880" algn="l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  <a:ea typeface="ＭＳ Ｐゴシック" charset="0"/>
                </a:rPr>
                <a:t>Current SFDC change constraints limit how quickly new tracking parameters can be adopted downstream</a:t>
              </a:r>
            </a:p>
            <a:p>
              <a:pPr marL="182880" indent="-182880" algn="l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  <a:ea typeface="ＭＳ Ｐゴシック" charset="0"/>
                </a:rPr>
                <a:t>Attribution models and funnel reports still use CTT IDs</a:t>
              </a:r>
            </a:p>
            <a:p>
              <a:pPr marL="182880" indent="-182880" algn="l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sz="1400" kern="1200" dirty="0">
                  <a:solidFill>
                    <a:schemeClr val="bg1"/>
                  </a:solidFill>
                  <a:latin typeface="+mn-lt"/>
                  <a:ea typeface="ＭＳ Ｐゴシック" charset="0"/>
                </a:rPr>
                <a:t>Future </a:t>
              </a:r>
              <a:r>
                <a:rPr lang="en-US" sz="1400" dirty="0">
                  <a:solidFill>
                    <a:schemeClr val="bg1"/>
                  </a:solidFill>
                  <a:ea typeface="ＭＳ Ｐゴシック" charset="0"/>
                </a:rPr>
                <a:t>marketing automation tooling and data lake creation is not fully settled</a:t>
              </a:r>
              <a:endParaRPr lang="en-GB" sz="1400" kern="1200" dirty="0" err="1">
                <a:solidFill>
                  <a:schemeClr val="bg1"/>
                </a:solidFill>
                <a:latin typeface="+mn-lt"/>
                <a:ea typeface="ＭＳ Ｐゴシック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8F3A72C-D827-0787-9578-DB2F014F169B}"/>
              </a:ext>
            </a:extLst>
          </p:cNvPr>
          <p:cNvGrpSpPr/>
          <p:nvPr/>
        </p:nvGrpSpPr>
        <p:grpSpPr>
          <a:xfrm>
            <a:off x="4372181" y="2387600"/>
            <a:ext cx="3447638" cy="3638550"/>
            <a:chOff x="731521" y="2387600"/>
            <a:chExt cx="3447638" cy="363855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58892526-6BFD-4AA9-89AC-77C8E9AC55D9}"/>
                </a:ext>
              </a:extLst>
            </p:cNvPr>
            <p:cNvSpPr/>
            <p:nvPr/>
          </p:nvSpPr>
          <p:spPr>
            <a:xfrm>
              <a:off x="731521" y="2387600"/>
              <a:ext cx="3447638" cy="3638550"/>
            </a:xfrm>
            <a:prstGeom prst="roundRect">
              <a:avLst>
                <a:gd name="adj" fmla="val 8379"/>
              </a:avLst>
            </a:prstGeom>
            <a:noFill/>
            <a:ln w="158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 anchorCtr="0">
              <a:noAutofit/>
            </a:bodyPr>
            <a:lstStyle/>
            <a:p>
              <a:pPr algn="l"/>
              <a:endParaRPr lang="en-GB" sz="1600" dirty="0">
                <a:solidFill>
                  <a:schemeClr val="bg1"/>
                </a:solidFill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8462E22-0301-0510-B669-64DB9BC97342}"/>
                </a:ext>
              </a:extLst>
            </p:cNvPr>
            <p:cNvCxnSpPr>
              <a:cxnSpLocks/>
            </p:cNvCxnSpPr>
            <p:nvPr/>
          </p:nvCxnSpPr>
          <p:spPr>
            <a:xfrm>
              <a:off x="731696" y="2909957"/>
              <a:ext cx="3447288" cy="0"/>
            </a:xfrm>
            <a:prstGeom prst="line">
              <a:avLst/>
            </a:prstGeom>
            <a:noFill/>
            <a:ln w="79375">
              <a:gradFill flip="none" rotWithShape="1">
                <a:gsLst>
                  <a:gs pos="37000">
                    <a:srgbClr val="02C8FF"/>
                  </a:gs>
                  <a:gs pos="5000">
                    <a:srgbClr val="0A60FF"/>
                  </a:gs>
                  <a:gs pos="44000">
                    <a:srgbClr val="02C8FF"/>
                  </a:gs>
                  <a:gs pos="75000">
                    <a:srgbClr val="FF007F"/>
                  </a:gs>
                  <a:gs pos="95000">
                    <a:srgbClr val="FF9000"/>
                  </a:gs>
                </a:gsLst>
                <a:lin ang="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3F5C2B3-75AD-2F42-D784-41E4F41B5E77}"/>
                </a:ext>
              </a:extLst>
            </p:cNvPr>
            <p:cNvSpPr txBox="1"/>
            <p:nvPr/>
          </p:nvSpPr>
          <p:spPr>
            <a:xfrm>
              <a:off x="855140" y="2436054"/>
              <a:ext cx="3200400" cy="4445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</a:pPr>
              <a:r>
                <a:rPr lang="en-US" sz="1600" kern="1200" dirty="0">
                  <a:solidFill>
                    <a:schemeClr val="bg1"/>
                  </a:solidFill>
                  <a:latin typeface="+mn-lt"/>
                  <a:ea typeface="ＭＳ Ｐゴシック" charset="0"/>
                </a:rPr>
                <a:t>Embedded CTT Role</a:t>
              </a:r>
              <a:endParaRPr lang="en-GB" sz="1600" kern="1200" dirty="0" err="1">
                <a:solidFill>
                  <a:schemeClr val="bg1"/>
                </a:solidFill>
                <a:latin typeface="+mn-lt"/>
                <a:ea typeface="ＭＳ Ｐゴシック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FA808F4-536E-1658-7AF0-56D46B2B1F2C}"/>
                </a:ext>
              </a:extLst>
            </p:cNvPr>
            <p:cNvSpPr txBox="1"/>
            <p:nvPr/>
          </p:nvSpPr>
          <p:spPr>
            <a:xfrm>
              <a:off x="797990" y="3039304"/>
              <a:ext cx="3314700" cy="270580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82880" indent="-182880" algn="l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sz="1400" kern="1200" dirty="0">
                  <a:solidFill>
                    <a:schemeClr val="bg1"/>
                  </a:solidFill>
                  <a:latin typeface="+mn-lt"/>
                  <a:ea typeface="ＭＳ Ｐゴシック" charset="0"/>
                </a:rPr>
                <a:t>Activity ID tracks marketing activities and program alignment</a:t>
              </a:r>
            </a:p>
            <a:p>
              <a:pPr marL="182880" indent="-182880" algn="l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  <a:ea typeface="ＭＳ Ｐゴシック" charset="0"/>
                </a:rPr>
                <a:t>Offer ID tracks content consumed by customers</a:t>
              </a:r>
            </a:p>
            <a:p>
              <a:pPr marL="182880" indent="-182880" algn="l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sz="1400" kern="1200" dirty="0">
                  <a:solidFill>
                    <a:schemeClr val="bg1"/>
                  </a:solidFill>
                  <a:latin typeface="+mn-lt"/>
                  <a:ea typeface="ＭＳ Ｐゴシック" charset="0"/>
                </a:rPr>
                <a:t>Drive to ID tracks the channel that delivered th</a:t>
              </a:r>
              <a:r>
                <a:rPr lang="en-US" sz="1400" dirty="0">
                  <a:solidFill>
                    <a:schemeClr val="bg1"/>
                  </a:solidFill>
                  <a:ea typeface="ＭＳ Ｐゴシック" charset="0"/>
                </a:rPr>
                <a:t>e touchpoint</a:t>
              </a:r>
            </a:p>
            <a:p>
              <a:pPr marL="182880" indent="-182880" algn="l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sz="1400" kern="1200" dirty="0">
                  <a:solidFill>
                    <a:schemeClr val="bg1"/>
                  </a:solidFill>
                  <a:latin typeface="+mn-lt"/>
                  <a:ea typeface="ＭＳ Ｐゴシック" charset="0"/>
                </a:rPr>
                <a:t>CTT attributes are used across lead enrichment, lead creation, routing and reporting</a:t>
              </a:r>
              <a:endParaRPr lang="en-GB" sz="1400" kern="1200" dirty="0" err="1">
                <a:solidFill>
                  <a:schemeClr val="bg1"/>
                </a:solidFill>
                <a:latin typeface="+mn-lt"/>
                <a:ea typeface="ＭＳ Ｐゴシック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9D07CBE-E359-AC46-1B24-ADDC2C3C4665}"/>
              </a:ext>
            </a:extLst>
          </p:cNvPr>
          <p:cNvGrpSpPr/>
          <p:nvPr/>
        </p:nvGrpSpPr>
        <p:grpSpPr>
          <a:xfrm>
            <a:off x="8080581" y="2385254"/>
            <a:ext cx="3447638" cy="3638550"/>
            <a:chOff x="731521" y="2387600"/>
            <a:chExt cx="3447638" cy="3638550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5369F9B0-E64D-64EA-4E57-8F7B7F747E45}"/>
                </a:ext>
              </a:extLst>
            </p:cNvPr>
            <p:cNvSpPr/>
            <p:nvPr/>
          </p:nvSpPr>
          <p:spPr>
            <a:xfrm>
              <a:off x="731521" y="2387600"/>
              <a:ext cx="3447638" cy="3638550"/>
            </a:xfrm>
            <a:prstGeom prst="roundRect">
              <a:avLst>
                <a:gd name="adj" fmla="val 8379"/>
              </a:avLst>
            </a:prstGeom>
            <a:noFill/>
            <a:ln w="158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 anchorCtr="0">
              <a:noAutofit/>
            </a:bodyPr>
            <a:lstStyle/>
            <a:p>
              <a:pPr algn="l"/>
              <a:endParaRPr lang="en-GB" sz="1600" dirty="0">
                <a:solidFill>
                  <a:schemeClr val="bg1"/>
                </a:solidFill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F94EA6F-9D06-CBB0-4FEE-C0F5FD9DD197}"/>
                </a:ext>
              </a:extLst>
            </p:cNvPr>
            <p:cNvCxnSpPr>
              <a:cxnSpLocks/>
            </p:cNvCxnSpPr>
            <p:nvPr/>
          </p:nvCxnSpPr>
          <p:spPr>
            <a:xfrm>
              <a:off x="731696" y="2909957"/>
              <a:ext cx="3447288" cy="0"/>
            </a:xfrm>
            <a:prstGeom prst="line">
              <a:avLst/>
            </a:prstGeom>
            <a:noFill/>
            <a:ln w="79375">
              <a:gradFill flip="none" rotWithShape="1">
                <a:gsLst>
                  <a:gs pos="37000">
                    <a:srgbClr val="02C8FF"/>
                  </a:gs>
                  <a:gs pos="5000">
                    <a:srgbClr val="0A60FF"/>
                  </a:gs>
                  <a:gs pos="44000">
                    <a:srgbClr val="02C8FF"/>
                  </a:gs>
                  <a:gs pos="75000">
                    <a:srgbClr val="FF007F"/>
                  </a:gs>
                  <a:gs pos="95000">
                    <a:srgbClr val="FF9000"/>
                  </a:gs>
                </a:gsLst>
                <a:lin ang="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954BDCF-E15A-703D-E7BE-C8167E07027A}"/>
                </a:ext>
              </a:extLst>
            </p:cNvPr>
            <p:cNvSpPr txBox="1"/>
            <p:nvPr/>
          </p:nvSpPr>
          <p:spPr>
            <a:xfrm>
              <a:off x="855140" y="2436054"/>
              <a:ext cx="3200400" cy="4445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</a:pPr>
              <a:r>
                <a:rPr lang="en-US" sz="1600" kern="1200" dirty="0">
                  <a:solidFill>
                    <a:schemeClr val="bg1"/>
                  </a:solidFill>
                  <a:latin typeface="+mn-lt"/>
                  <a:ea typeface="ＭＳ Ｐゴシック" charset="0"/>
                </a:rPr>
                <a:t>Business Implication</a:t>
              </a:r>
              <a:endParaRPr lang="en-GB" sz="1600" kern="1200" dirty="0" err="1">
                <a:solidFill>
                  <a:schemeClr val="bg1"/>
                </a:solidFill>
                <a:latin typeface="+mn-lt"/>
                <a:ea typeface="ＭＳ Ｐゴシック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A1B3FFA-3EC6-E534-8FE3-02E037C4195D}"/>
                </a:ext>
              </a:extLst>
            </p:cNvPr>
            <p:cNvSpPr txBox="1"/>
            <p:nvPr/>
          </p:nvSpPr>
          <p:spPr>
            <a:xfrm>
              <a:off x="797990" y="3039304"/>
              <a:ext cx="3314700" cy="270580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82880" indent="-182880" algn="l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sz="1400" kern="1200" dirty="0">
                  <a:solidFill>
                    <a:schemeClr val="bg1"/>
                  </a:solidFill>
                  <a:latin typeface="+mn-lt"/>
                  <a:ea typeface="ＭＳ Ｐゴシック" charset="0"/>
                </a:rPr>
                <a:t>If CTT is removed before readiness is proven, teams may move to Workfront without reliable reporting</a:t>
              </a:r>
            </a:p>
            <a:p>
              <a:pPr marL="182880" indent="-182880" algn="l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  <a:ea typeface="ＭＳ Ｐゴシック" charset="0"/>
                </a:rPr>
                <a:t>Marketing performance insight could be fragmented between online &amp; offline and non-Workfront activities</a:t>
              </a:r>
            </a:p>
            <a:p>
              <a:pPr marL="182880" indent="-182880" algn="l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  <a:ea typeface="ＭＳ Ｐゴシック" charset="0"/>
                </a:rPr>
                <a:t>The transition may be slow due to higher priority projects that are still “in flight”</a:t>
              </a:r>
            </a:p>
            <a:p>
              <a:pPr marL="182880" indent="-182880" algn="l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Char char="•"/>
              </a:pPr>
              <a:endParaRPr lang="en-GB" sz="1400" kern="1200" dirty="0" err="1">
                <a:solidFill>
                  <a:schemeClr val="bg1"/>
                </a:solidFill>
                <a:latin typeface="+mn-lt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7057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10975-B070-30C5-913D-8DADEA82E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the Bridge Matters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8572AE-843C-BFE4-78EE-11CDE3ABDF2D}"/>
              </a:ext>
            </a:extLst>
          </p:cNvPr>
          <p:cNvSpPr txBox="1"/>
          <p:nvPr/>
        </p:nvSpPr>
        <p:spPr>
          <a:xfrm>
            <a:off x="1177065" y="881299"/>
            <a:ext cx="9837871" cy="37600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defTabSz="912276" fontAlgn="base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defRPr sz="1600">
                <a:solidFill>
                  <a:schemeClr val="accent2"/>
                </a:solidFill>
                <a:ea typeface="ＭＳ Ｐゴシック" charset="0"/>
              </a:defRPr>
            </a:lvl1pPr>
          </a:lstStyle>
          <a:p>
            <a:pPr algn="ctr"/>
            <a:r>
              <a:rPr lang="en-US" dirty="0"/>
              <a:t>CTT Dependencies are broad and business critical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0AA1AEE-9B53-315B-A57C-57390F51DF26}"/>
              </a:ext>
            </a:extLst>
          </p:cNvPr>
          <p:cNvSpPr/>
          <p:nvPr/>
        </p:nvSpPr>
        <p:spPr>
          <a:xfrm>
            <a:off x="938528" y="1797050"/>
            <a:ext cx="2611119" cy="3803650"/>
          </a:xfrm>
          <a:prstGeom prst="roundRect">
            <a:avLst>
              <a:gd name="adj" fmla="val 9371"/>
            </a:avLst>
          </a:prstGeom>
          <a:noFill/>
          <a:ln w="15875">
            <a:gradFill flip="none" rotWithShape="1">
              <a:gsLst>
                <a:gs pos="37000">
                  <a:srgbClr val="02C8FF"/>
                </a:gs>
                <a:gs pos="5000">
                  <a:srgbClr val="0A60FF"/>
                </a:gs>
                <a:gs pos="44000">
                  <a:srgbClr val="02C8FF"/>
                </a:gs>
                <a:gs pos="75000">
                  <a:srgbClr val="FF007F"/>
                </a:gs>
                <a:gs pos="95000">
                  <a:srgbClr val="FF9000"/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F41E69-F02B-E1B4-EBE4-0431DEDB46E4}"/>
              </a:ext>
            </a:extLst>
          </p:cNvPr>
          <p:cNvSpPr txBox="1"/>
          <p:nvPr/>
        </p:nvSpPr>
        <p:spPr>
          <a:xfrm>
            <a:off x="3848100" y="2489200"/>
            <a:ext cx="1041400" cy="16891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GB" sz="16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E4B7919-79C2-6E90-11E9-DCD7DAEDB25D}"/>
              </a:ext>
            </a:extLst>
          </p:cNvPr>
          <p:cNvGrpSpPr/>
          <p:nvPr/>
        </p:nvGrpSpPr>
        <p:grpSpPr>
          <a:xfrm>
            <a:off x="4700015" y="1797050"/>
            <a:ext cx="2615184" cy="1778000"/>
            <a:chOff x="4700015" y="1797050"/>
            <a:chExt cx="2615184" cy="17780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5F753BF-4524-D54F-6043-C4BF8CA8FCB5}"/>
                </a:ext>
              </a:extLst>
            </p:cNvPr>
            <p:cNvSpPr/>
            <p:nvPr/>
          </p:nvSpPr>
          <p:spPr>
            <a:xfrm>
              <a:off x="4702048" y="1797050"/>
              <a:ext cx="2611119" cy="1778000"/>
            </a:xfrm>
            <a:prstGeom prst="roundRect">
              <a:avLst>
                <a:gd name="adj" fmla="val 10596"/>
              </a:avLst>
            </a:prstGeom>
            <a:noFill/>
            <a:ln w="158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 anchorCtr="0">
              <a:noAutofit/>
            </a:bodyPr>
            <a:lstStyle/>
            <a:p>
              <a:pPr marL="182880" indent="-182880" algn="l">
                <a:buFont typeface="Arial" panose="020B0604020202020204" pitchFamily="34" charset="0"/>
                <a:buChar char="•"/>
              </a:pPr>
              <a:endParaRPr lang="en-GB" sz="1600" dirty="0">
                <a:solidFill>
                  <a:schemeClr val="bg1"/>
                </a:solidFill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0213638-E387-257D-5F78-65211E81090B}"/>
                </a:ext>
              </a:extLst>
            </p:cNvPr>
            <p:cNvCxnSpPr>
              <a:cxnSpLocks/>
            </p:cNvCxnSpPr>
            <p:nvPr/>
          </p:nvCxnSpPr>
          <p:spPr>
            <a:xfrm>
              <a:off x="4700015" y="2249557"/>
              <a:ext cx="2615184" cy="0"/>
            </a:xfrm>
            <a:prstGeom prst="line">
              <a:avLst/>
            </a:prstGeom>
            <a:noFill/>
            <a:ln w="79375">
              <a:gradFill flip="none" rotWithShape="1">
                <a:gsLst>
                  <a:gs pos="37000">
                    <a:srgbClr val="02C8FF"/>
                  </a:gs>
                  <a:gs pos="5000">
                    <a:srgbClr val="0A60FF"/>
                  </a:gs>
                  <a:gs pos="44000">
                    <a:srgbClr val="02C8FF"/>
                  </a:gs>
                  <a:gs pos="75000">
                    <a:srgbClr val="FF007F"/>
                  </a:gs>
                  <a:gs pos="95000">
                    <a:srgbClr val="FF9000"/>
                  </a:gs>
                </a:gsLst>
                <a:lin ang="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2A39E8B-5C9E-2240-B1A5-C9AC6E9B8EA4}"/>
                </a:ext>
              </a:extLst>
            </p:cNvPr>
            <p:cNvSpPr txBox="1"/>
            <p:nvPr/>
          </p:nvSpPr>
          <p:spPr>
            <a:xfrm>
              <a:off x="4924933" y="1875659"/>
              <a:ext cx="2165349" cy="29528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</a:pPr>
              <a:r>
                <a:rPr lang="en-US" sz="1600" dirty="0">
                  <a:solidFill>
                    <a:schemeClr val="bg1"/>
                  </a:solidFill>
                  <a:ea typeface="ＭＳ Ｐゴシック" charset="0"/>
                </a:rPr>
                <a:t>Leads &amp; Routing</a:t>
              </a:r>
              <a:endParaRPr lang="en-GB" sz="1600" kern="1200" dirty="0" err="1">
                <a:solidFill>
                  <a:schemeClr val="bg1"/>
                </a:solidFill>
                <a:latin typeface="+mn-lt"/>
                <a:ea typeface="ＭＳ Ｐゴシック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54B9025-A8C1-E2CA-3B92-3E4C6329AF6F}"/>
                </a:ext>
              </a:extLst>
            </p:cNvPr>
            <p:cNvSpPr txBox="1"/>
            <p:nvPr/>
          </p:nvSpPr>
          <p:spPr>
            <a:xfrm>
              <a:off x="4810632" y="2373383"/>
              <a:ext cx="2393950" cy="113665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>
              <a:defPPr>
                <a:defRPr lang="en-US"/>
              </a:defPPr>
              <a:lvl1pPr marL="182880" indent="-182880" defTabSz="912276" fontAlgn="base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bg1"/>
                  </a:solidFill>
                  <a:ea typeface="ＭＳ Ｐゴシック" charset="0"/>
                </a:defRPr>
              </a:lvl1pPr>
            </a:lstStyle>
            <a:p>
              <a:r>
                <a:rPr lang="en-US" sz="1400" dirty="0"/>
                <a:t>SFDC lead creation</a:t>
              </a:r>
            </a:p>
            <a:p>
              <a:r>
                <a:rPr lang="en-US" sz="1400" dirty="0"/>
                <a:t>Lean Data</a:t>
              </a:r>
            </a:p>
            <a:p>
              <a:r>
                <a:rPr lang="en-US" sz="1400" dirty="0"/>
                <a:t>Outreach / Gong Engage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EE025FF-BB6D-67AF-115E-204A4796EA9F}"/>
              </a:ext>
            </a:extLst>
          </p:cNvPr>
          <p:cNvGrpSpPr/>
          <p:nvPr/>
        </p:nvGrpSpPr>
        <p:grpSpPr>
          <a:xfrm>
            <a:off x="8065515" y="1790700"/>
            <a:ext cx="2615184" cy="1778000"/>
            <a:chOff x="4700015" y="1797050"/>
            <a:chExt cx="2615184" cy="177800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DE1464EC-A123-A6C7-8A20-BFBCE7335CE4}"/>
                </a:ext>
              </a:extLst>
            </p:cNvPr>
            <p:cNvSpPr/>
            <p:nvPr/>
          </p:nvSpPr>
          <p:spPr>
            <a:xfrm>
              <a:off x="4702048" y="1797050"/>
              <a:ext cx="2611119" cy="1778000"/>
            </a:xfrm>
            <a:prstGeom prst="roundRect">
              <a:avLst>
                <a:gd name="adj" fmla="val 10596"/>
              </a:avLst>
            </a:prstGeom>
            <a:noFill/>
            <a:ln w="158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 anchorCtr="0">
              <a:noAutofit/>
            </a:bodyPr>
            <a:lstStyle/>
            <a:p>
              <a:pPr marL="182880" indent="-182880" algn="l">
                <a:buFont typeface="Arial" panose="020B0604020202020204" pitchFamily="34" charset="0"/>
                <a:buChar char="•"/>
              </a:pPr>
              <a:endParaRPr lang="en-GB" sz="1600" dirty="0">
                <a:solidFill>
                  <a:schemeClr val="bg1"/>
                </a:solidFill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F946DA8-FB24-2C08-F8AA-7984FB0D6D90}"/>
                </a:ext>
              </a:extLst>
            </p:cNvPr>
            <p:cNvCxnSpPr>
              <a:cxnSpLocks/>
            </p:cNvCxnSpPr>
            <p:nvPr/>
          </p:nvCxnSpPr>
          <p:spPr>
            <a:xfrm>
              <a:off x="4700015" y="2249557"/>
              <a:ext cx="2615184" cy="0"/>
            </a:xfrm>
            <a:prstGeom prst="line">
              <a:avLst/>
            </a:prstGeom>
            <a:noFill/>
            <a:ln w="79375">
              <a:gradFill flip="none" rotWithShape="1">
                <a:gsLst>
                  <a:gs pos="37000">
                    <a:srgbClr val="02C8FF"/>
                  </a:gs>
                  <a:gs pos="5000">
                    <a:srgbClr val="0A60FF"/>
                  </a:gs>
                  <a:gs pos="44000">
                    <a:srgbClr val="02C8FF"/>
                  </a:gs>
                  <a:gs pos="75000">
                    <a:srgbClr val="FF007F"/>
                  </a:gs>
                  <a:gs pos="95000">
                    <a:srgbClr val="FF9000"/>
                  </a:gs>
                </a:gsLst>
                <a:lin ang="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12C0065-4E80-ED30-502F-B88B3AB881F7}"/>
                </a:ext>
              </a:extLst>
            </p:cNvPr>
            <p:cNvSpPr txBox="1"/>
            <p:nvPr/>
          </p:nvSpPr>
          <p:spPr>
            <a:xfrm>
              <a:off x="4924933" y="1875659"/>
              <a:ext cx="2165349" cy="29528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</a:pPr>
              <a:r>
                <a:rPr lang="en-US" sz="1600" dirty="0">
                  <a:solidFill>
                    <a:schemeClr val="bg1"/>
                  </a:solidFill>
                  <a:ea typeface="ＭＳ Ｐゴシック" charset="0"/>
                </a:rPr>
                <a:t>Automation</a:t>
              </a:r>
              <a:endParaRPr lang="en-GB" sz="1600" kern="1200" dirty="0" err="1">
                <a:solidFill>
                  <a:schemeClr val="bg1"/>
                </a:solidFill>
                <a:latin typeface="+mn-lt"/>
                <a:ea typeface="ＭＳ Ｐゴシック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6FD1E8F-5C4A-45BC-D13C-178A7704E6B6}"/>
                </a:ext>
              </a:extLst>
            </p:cNvPr>
            <p:cNvSpPr txBox="1"/>
            <p:nvPr/>
          </p:nvSpPr>
          <p:spPr>
            <a:xfrm>
              <a:off x="4810632" y="2373383"/>
              <a:ext cx="2393950" cy="113665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>
              <a:defPPr>
                <a:defRPr lang="en-US"/>
              </a:defPPr>
              <a:lvl1pPr marL="182880" indent="-182880" defTabSz="912276" fontAlgn="base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bg1"/>
                  </a:solidFill>
                  <a:ea typeface="ＭＳ Ｐゴシック" charset="0"/>
                </a:defRPr>
              </a:lvl1pPr>
            </a:lstStyle>
            <a:p>
              <a:r>
                <a:rPr lang="en-US" sz="1400" dirty="0"/>
                <a:t>Eloqua Forms</a:t>
              </a:r>
            </a:p>
            <a:p>
              <a:r>
                <a:rPr lang="en-US" sz="1400" dirty="0"/>
                <a:t>Always On/Nurture Journeys</a:t>
              </a:r>
            </a:p>
            <a:p>
              <a:r>
                <a:rPr lang="en-US" sz="1400" dirty="0"/>
                <a:t>App Cloud Lite Processing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A31B057-38C5-9B8F-2654-B96439D14407}"/>
              </a:ext>
            </a:extLst>
          </p:cNvPr>
          <p:cNvGrpSpPr/>
          <p:nvPr/>
        </p:nvGrpSpPr>
        <p:grpSpPr>
          <a:xfrm>
            <a:off x="4700015" y="3852932"/>
            <a:ext cx="2615184" cy="1778000"/>
            <a:chOff x="4700015" y="1797050"/>
            <a:chExt cx="2615184" cy="1778000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92EBB3D1-6988-F6E3-A11C-6CB113D66E9F}"/>
                </a:ext>
              </a:extLst>
            </p:cNvPr>
            <p:cNvSpPr/>
            <p:nvPr/>
          </p:nvSpPr>
          <p:spPr>
            <a:xfrm>
              <a:off x="4702048" y="1797050"/>
              <a:ext cx="2611119" cy="1778000"/>
            </a:xfrm>
            <a:prstGeom prst="roundRect">
              <a:avLst>
                <a:gd name="adj" fmla="val 10596"/>
              </a:avLst>
            </a:prstGeom>
            <a:noFill/>
            <a:ln w="158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 anchorCtr="0">
              <a:noAutofit/>
            </a:bodyPr>
            <a:lstStyle/>
            <a:p>
              <a:pPr marL="182880" indent="-182880" algn="l">
                <a:buFont typeface="Arial" panose="020B0604020202020204" pitchFamily="34" charset="0"/>
                <a:buChar char="•"/>
              </a:pPr>
              <a:endParaRPr lang="en-GB" sz="1600" dirty="0">
                <a:solidFill>
                  <a:schemeClr val="bg1"/>
                </a:solidFill>
              </a:endParaRP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6313210-F63B-D110-8BD4-D393B1B961F1}"/>
                </a:ext>
              </a:extLst>
            </p:cNvPr>
            <p:cNvCxnSpPr>
              <a:cxnSpLocks/>
            </p:cNvCxnSpPr>
            <p:nvPr/>
          </p:nvCxnSpPr>
          <p:spPr>
            <a:xfrm>
              <a:off x="4700015" y="2249557"/>
              <a:ext cx="2615184" cy="0"/>
            </a:xfrm>
            <a:prstGeom prst="line">
              <a:avLst/>
            </a:prstGeom>
            <a:noFill/>
            <a:ln w="79375">
              <a:gradFill flip="none" rotWithShape="1">
                <a:gsLst>
                  <a:gs pos="37000">
                    <a:srgbClr val="02C8FF"/>
                  </a:gs>
                  <a:gs pos="5000">
                    <a:srgbClr val="0A60FF"/>
                  </a:gs>
                  <a:gs pos="44000">
                    <a:srgbClr val="02C8FF"/>
                  </a:gs>
                  <a:gs pos="75000">
                    <a:srgbClr val="FF007F"/>
                  </a:gs>
                  <a:gs pos="95000">
                    <a:srgbClr val="FF9000"/>
                  </a:gs>
                </a:gsLst>
                <a:lin ang="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5EDB777-5428-97F7-43E7-33BEE77ABCD7}"/>
                </a:ext>
              </a:extLst>
            </p:cNvPr>
            <p:cNvSpPr txBox="1"/>
            <p:nvPr/>
          </p:nvSpPr>
          <p:spPr>
            <a:xfrm>
              <a:off x="4924933" y="1875659"/>
              <a:ext cx="2165349" cy="29528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</a:pPr>
              <a:r>
                <a:rPr lang="en-US" sz="1600" dirty="0">
                  <a:solidFill>
                    <a:schemeClr val="bg1"/>
                  </a:solidFill>
                  <a:ea typeface="ＭＳ Ｐゴシック" charset="0"/>
                </a:rPr>
                <a:t>Integration</a:t>
              </a:r>
              <a:endParaRPr lang="en-GB" sz="1600" kern="1200" dirty="0" err="1">
                <a:solidFill>
                  <a:schemeClr val="bg1"/>
                </a:solidFill>
                <a:latin typeface="+mn-lt"/>
                <a:ea typeface="ＭＳ Ｐゴシック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2463AB3-BF91-E8A6-7AE1-D3AB1BE2E119}"/>
                </a:ext>
              </a:extLst>
            </p:cNvPr>
            <p:cNvSpPr txBox="1"/>
            <p:nvPr/>
          </p:nvSpPr>
          <p:spPr>
            <a:xfrm>
              <a:off x="4810632" y="2298087"/>
              <a:ext cx="2393950" cy="113665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>
              <a:defPPr>
                <a:defRPr lang="en-US"/>
              </a:defPPr>
              <a:lvl1pPr marL="182880" indent="-182880" defTabSz="912276" fontAlgn="base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bg1"/>
                  </a:solidFill>
                  <a:ea typeface="ＭＳ Ｐゴシック" charset="0"/>
                </a:defRPr>
              </a:lvl1pPr>
            </a:lstStyle>
            <a:p>
              <a:r>
                <a:rPr lang="en-US" sz="1400" dirty="0"/>
                <a:t>Tray.io</a:t>
              </a:r>
            </a:p>
            <a:p>
              <a:r>
                <a:rPr lang="en-US" sz="1400" dirty="0"/>
                <a:t>SFDC</a:t>
              </a:r>
            </a:p>
            <a:p>
              <a:r>
                <a:rPr lang="en-US" sz="1400" dirty="0"/>
                <a:t>Allocadia</a:t>
              </a:r>
            </a:p>
            <a:p>
              <a:r>
                <a:rPr lang="en-US" sz="1400" dirty="0"/>
                <a:t>Eloqua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643C7A8-3A1F-8E3E-EC8D-EE449F3AEC8B}"/>
              </a:ext>
            </a:extLst>
          </p:cNvPr>
          <p:cNvGrpSpPr/>
          <p:nvPr/>
        </p:nvGrpSpPr>
        <p:grpSpPr>
          <a:xfrm>
            <a:off x="8065515" y="3725793"/>
            <a:ext cx="2615184" cy="1778000"/>
            <a:chOff x="4700015" y="1797050"/>
            <a:chExt cx="2615184" cy="1778000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C78ED9CC-BC7A-0E43-78DB-2D932014CF9D}"/>
                </a:ext>
              </a:extLst>
            </p:cNvPr>
            <p:cNvSpPr/>
            <p:nvPr/>
          </p:nvSpPr>
          <p:spPr>
            <a:xfrm>
              <a:off x="4702048" y="1797050"/>
              <a:ext cx="2611119" cy="1778000"/>
            </a:xfrm>
            <a:prstGeom prst="roundRect">
              <a:avLst>
                <a:gd name="adj" fmla="val 10596"/>
              </a:avLst>
            </a:prstGeom>
            <a:noFill/>
            <a:ln w="158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 anchorCtr="0">
              <a:noAutofit/>
            </a:bodyPr>
            <a:lstStyle/>
            <a:p>
              <a:pPr marL="182880" indent="-182880" algn="l">
                <a:buFont typeface="Arial" panose="020B0604020202020204" pitchFamily="34" charset="0"/>
                <a:buChar char="•"/>
              </a:pPr>
              <a:endParaRPr lang="en-GB" sz="1600" dirty="0">
                <a:solidFill>
                  <a:schemeClr val="bg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C446941-11BC-74A8-9DE5-581C02115BB6}"/>
                </a:ext>
              </a:extLst>
            </p:cNvPr>
            <p:cNvCxnSpPr>
              <a:cxnSpLocks/>
            </p:cNvCxnSpPr>
            <p:nvPr/>
          </p:nvCxnSpPr>
          <p:spPr>
            <a:xfrm>
              <a:off x="4700015" y="2249557"/>
              <a:ext cx="2615184" cy="0"/>
            </a:xfrm>
            <a:prstGeom prst="line">
              <a:avLst/>
            </a:prstGeom>
            <a:noFill/>
            <a:ln w="79375">
              <a:gradFill flip="none" rotWithShape="1">
                <a:gsLst>
                  <a:gs pos="37000">
                    <a:srgbClr val="02C8FF"/>
                  </a:gs>
                  <a:gs pos="5000">
                    <a:srgbClr val="0A60FF"/>
                  </a:gs>
                  <a:gs pos="44000">
                    <a:srgbClr val="02C8FF"/>
                  </a:gs>
                  <a:gs pos="75000">
                    <a:srgbClr val="FF007F"/>
                  </a:gs>
                  <a:gs pos="95000">
                    <a:srgbClr val="FF9000"/>
                  </a:gs>
                </a:gsLst>
                <a:lin ang="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8BE0E1A-F76B-6319-3AAC-98FF1901E781}"/>
                </a:ext>
              </a:extLst>
            </p:cNvPr>
            <p:cNvSpPr txBox="1"/>
            <p:nvPr/>
          </p:nvSpPr>
          <p:spPr>
            <a:xfrm>
              <a:off x="4924933" y="1875659"/>
              <a:ext cx="2165349" cy="29528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</a:pPr>
              <a:r>
                <a:rPr lang="en-US" sz="1600" dirty="0">
                  <a:solidFill>
                    <a:schemeClr val="bg1"/>
                  </a:solidFill>
                  <a:ea typeface="ＭＳ Ｐゴシック" charset="0"/>
                </a:rPr>
                <a:t>Reporting</a:t>
              </a:r>
              <a:endParaRPr lang="en-GB" sz="1600" kern="1200" dirty="0" err="1">
                <a:solidFill>
                  <a:schemeClr val="bg1"/>
                </a:solidFill>
                <a:latin typeface="+mn-lt"/>
                <a:ea typeface="ＭＳ Ｐゴシック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94CDBDC-F7AA-80FE-DEBC-C600251261A5}"/>
                </a:ext>
              </a:extLst>
            </p:cNvPr>
            <p:cNvSpPr txBox="1"/>
            <p:nvPr/>
          </p:nvSpPr>
          <p:spPr>
            <a:xfrm>
              <a:off x="4810632" y="2298087"/>
              <a:ext cx="2393950" cy="113665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>
              <a:defPPr>
                <a:defRPr lang="en-US"/>
              </a:defPPr>
              <a:lvl1pPr marL="182880" indent="-182880" defTabSz="912276" fontAlgn="base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bg1"/>
                  </a:solidFill>
                  <a:ea typeface="ＭＳ Ｐゴシック" charset="0"/>
                </a:defRPr>
              </a:lvl1pPr>
            </a:lstStyle>
            <a:p>
              <a:r>
                <a:rPr lang="en-US" sz="1400" dirty="0"/>
                <a:t>Ace Reporting</a:t>
              </a:r>
            </a:p>
            <a:p>
              <a:r>
                <a:rPr lang="en-US" sz="1400" dirty="0"/>
                <a:t>CDF</a:t>
              </a:r>
            </a:p>
            <a:p>
              <a:r>
                <a:rPr lang="en-US" sz="1400" dirty="0"/>
                <a:t>Adobe Weblogs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B76F425C-75E9-1264-A860-FD7557ADB9E9}"/>
              </a:ext>
            </a:extLst>
          </p:cNvPr>
          <p:cNvSpPr txBox="1"/>
          <p:nvPr/>
        </p:nvSpPr>
        <p:spPr>
          <a:xfrm>
            <a:off x="1129662" y="1891548"/>
            <a:ext cx="2228850" cy="34955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Dependency Inventory</a:t>
            </a:r>
            <a:endParaRPr lang="en-GB" sz="16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E493A37-E2D9-B7A8-7EDA-695450ACEE17}"/>
              </a:ext>
            </a:extLst>
          </p:cNvPr>
          <p:cNvSpPr txBox="1"/>
          <p:nvPr/>
        </p:nvSpPr>
        <p:spPr>
          <a:xfrm>
            <a:off x="1129662" y="2440199"/>
            <a:ext cx="2228850" cy="10619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9600" kern="1200" dirty="0">
                <a:solidFill>
                  <a:schemeClr val="bg1"/>
                </a:solidFill>
                <a:latin typeface="Impact" panose="020B0806030902050204" pitchFamily="34" charset="0"/>
                <a:ea typeface="ＭＳ Ｐゴシック" charset="0"/>
              </a:rPr>
              <a:t>28</a:t>
            </a:r>
            <a:endParaRPr lang="en-GB" sz="9600" kern="1200" dirty="0" err="1">
              <a:solidFill>
                <a:schemeClr val="bg1"/>
              </a:solidFill>
              <a:latin typeface="Impact" panose="020B0806030902050204" pitchFamily="34" charset="0"/>
              <a:ea typeface="ＭＳ Ｐゴシック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0E168BE-0719-081C-1BA3-EDE25A5A53C1}"/>
              </a:ext>
            </a:extLst>
          </p:cNvPr>
          <p:cNvSpPr txBox="1"/>
          <p:nvPr/>
        </p:nvSpPr>
        <p:spPr>
          <a:xfrm>
            <a:off x="1402394" y="3685346"/>
            <a:ext cx="1683386" cy="128180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16 Mandatory</a:t>
            </a:r>
          </a:p>
          <a:p>
            <a: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ea typeface="ＭＳ Ｐゴシック" charset="0"/>
              </a:rPr>
              <a:t>2 Conditional</a:t>
            </a:r>
          </a:p>
          <a:p>
            <a: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10 Operational</a:t>
            </a:r>
            <a:endParaRPr lang="en-GB" sz="16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6F1CF4-DA92-B2DD-D38C-B3AB0DADD071}"/>
              </a:ext>
            </a:extLst>
          </p:cNvPr>
          <p:cNvSpPr txBox="1"/>
          <p:nvPr/>
        </p:nvSpPr>
        <p:spPr>
          <a:xfrm>
            <a:off x="1211576" y="4849717"/>
            <a:ext cx="2065022" cy="5922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000" kern="1200" dirty="0">
                <a:solidFill>
                  <a:schemeClr val="bg1"/>
                </a:solidFill>
                <a:latin typeface="+mn-lt"/>
                <a:ea typeface="ＭＳ Ｐゴシック" charset="0"/>
                <a:hlinkClick r:id="rId2"/>
              </a:rPr>
              <a:t>Campaign Tagging and Tracking Dependency Audit</a:t>
            </a:r>
            <a:endParaRPr lang="en-GB" sz="10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82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CA0B2-ACF6-A354-CE9E-529AB753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Opportunity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AF7D80-FBCB-DBA1-1F8C-3A0DD47EB562}"/>
              </a:ext>
            </a:extLst>
          </p:cNvPr>
          <p:cNvSpPr txBox="1"/>
          <p:nvPr/>
        </p:nvSpPr>
        <p:spPr>
          <a:xfrm>
            <a:off x="1855358" y="881298"/>
            <a:ext cx="8481285" cy="69350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defTabSz="912276" fontAlgn="base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defRPr sz="1600">
                <a:solidFill>
                  <a:schemeClr val="accent2"/>
                </a:solidFill>
                <a:ea typeface="ＭＳ Ｐゴシック" charset="0"/>
              </a:defRPr>
            </a:lvl1pPr>
          </a:lstStyle>
          <a:p>
            <a:pPr algn="ctr"/>
            <a:r>
              <a:rPr lang="en-US" dirty="0"/>
              <a:t>Use CTT as a controlled transition layer to allow the ability to run the business while building toward Workfront as the source of truth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424A967-A95A-4C4D-4EE3-1414C6A2B536}"/>
              </a:ext>
            </a:extLst>
          </p:cNvPr>
          <p:cNvSpPr/>
          <p:nvPr/>
        </p:nvSpPr>
        <p:spPr>
          <a:xfrm>
            <a:off x="587581" y="2082800"/>
            <a:ext cx="3447638" cy="3638550"/>
          </a:xfrm>
          <a:prstGeom prst="roundRect">
            <a:avLst>
              <a:gd name="adj" fmla="val 8379"/>
            </a:avLst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algn="l"/>
            <a:endParaRPr lang="en-GB" sz="1600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EAA65FD-8E79-1DEE-4FA5-34A0A9DD6B8F}"/>
              </a:ext>
            </a:extLst>
          </p:cNvPr>
          <p:cNvCxnSpPr>
            <a:cxnSpLocks/>
          </p:cNvCxnSpPr>
          <p:nvPr/>
        </p:nvCxnSpPr>
        <p:spPr>
          <a:xfrm>
            <a:off x="587756" y="2605157"/>
            <a:ext cx="3447288" cy="0"/>
          </a:xfrm>
          <a:prstGeom prst="line">
            <a:avLst/>
          </a:prstGeom>
          <a:noFill/>
          <a:ln w="79375">
            <a:gradFill flip="none" rotWithShape="1">
              <a:gsLst>
                <a:gs pos="37000">
                  <a:srgbClr val="02C8FF"/>
                </a:gs>
                <a:gs pos="5000">
                  <a:srgbClr val="0A60FF"/>
                </a:gs>
                <a:gs pos="44000">
                  <a:srgbClr val="02C8FF"/>
                </a:gs>
                <a:gs pos="75000">
                  <a:srgbClr val="FF007F"/>
                </a:gs>
                <a:gs pos="95000">
                  <a:srgbClr val="FF9000"/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39C110C-82A9-B11B-1EBA-12940958322A}"/>
              </a:ext>
            </a:extLst>
          </p:cNvPr>
          <p:cNvSpPr txBox="1"/>
          <p:nvPr/>
        </p:nvSpPr>
        <p:spPr>
          <a:xfrm>
            <a:off x="711200" y="2131254"/>
            <a:ext cx="3200400" cy="444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20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Today</a:t>
            </a:r>
            <a:endParaRPr lang="en-GB" sz="20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F90DC3-9DEE-C11E-5F0A-AD003B8FF99C}"/>
              </a:ext>
            </a:extLst>
          </p:cNvPr>
          <p:cNvSpPr txBox="1"/>
          <p:nvPr/>
        </p:nvSpPr>
        <p:spPr>
          <a:xfrm>
            <a:off x="654050" y="2734504"/>
            <a:ext cx="3314700" cy="270580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182880" indent="-182880" defTabSz="912276" fontAlgn="base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ea typeface="ＭＳ Ｐゴシック" charset="0"/>
              </a:defRPr>
            </a:lvl1pPr>
          </a:lstStyle>
          <a:p>
            <a:r>
              <a:rPr lang="en-US" sz="1800" dirty="0"/>
              <a:t>CTT creates and validates legacy IDs.</a:t>
            </a:r>
          </a:p>
          <a:p>
            <a:r>
              <a:rPr lang="en-US" sz="1800" dirty="0"/>
              <a:t>Workfront adoption is incomplete.</a:t>
            </a:r>
          </a:p>
          <a:p>
            <a:r>
              <a:rPr lang="en-US" sz="1800" dirty="0"/>
              <a:t>Reporting depends on OCIDs across multiple systems.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1CDF11A-3ACC-8FD6-320F-D848C080664D}"/>
              </a:ext>
            </a:extLst>
          </p:cNvPr>
          <p:cNvSpPr/>
          <p:nvPr/>
        </p:nvSpPr>
        <p:spPr>
          <a:xfrm>
            <a:off x="4295981" y="2082800"/>
            <a:ext cx="3447638" cy="3638550"/>
          </a:xfrm>
          <a:prstGeom prst="roundRect">
            <a:avLst>
              <a:gd name="adj" fmla="val 8379"/>
            </a:avLst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algn="l"/>
            <a:endParaRPr lang="en-GB" sz="1600" dirty="0">
              <a:solidFill>
                <a:schemeClr val="bg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CDAE886-DC68-DC8D-C7C4-5239F27ED5FA}"/>
              </a:ext>
            </a:extLst>
          </p:cNvPr>
          <p:cNvCxnSpPr>
            <a:cxnSpLocks/>
          </p:cNvCxnSpPr>
          <p:nvPr/>
        </p:nvCxnSpPr>
        <p:spPr>
          <a:xfrm>
            <a:off x="4296156" y="2605157"/>
            <a:ext cx="3447288" cy="0"/>
          </a:xfrm>
          <a:prstGeom prst="line">
            <a:avLst/>
          </a:prstGeom>
          <a:noFill/>
          <a:ln w="79375">
            <a:gradFill flip="none" rotWithShape="1">
              <a:gsLst>
                <a:gs pos="37000">
                  <a:srgbClr val="02C8FF"/>
                </a:gs>
                <a:gs pos="5000">
                  <a:srgbClr val="0A60FF"/>
                </a:gs>
                <a:gs pos="44000">
                  <a:srgbClr val="02C8FF"/>
                </a:gs>
                <a:gs pos="75000">
                  <a:srgbClr val="FF007F"/>
                </a:gs>
                <a:gs pos="95000">
                  <a:srgbClr val="FF9000"/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575984B-9F42-4753-71FA-C07548AA4EC9}"/>
              </a:ext>
            </a:extLst>
          </p:cNvPr>
          <p:cNvSpPr txBox="1"/>
          <p:nvPr/>
        </p:nvSpPr>
        <p:spPr>
          <a:xfrm>
            <a:off x="4419600" y="2131254"/>
            <a:ext cx="3200400" cy="444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20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POC Bridge</a:t>
            </a:r>
            <a:endParaRPr lang="en-GB" sz="20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54D936-FD34-E273-7BDC-F6F581023AE3}"/>
              </a:ext>
            </a:extLst>
          </p:cNvPr>
          <p:cNvSpPr txBox="1"/>
          <p:nvPr/>
        </p:nvSpPr>
        <p:spPr>
          <a:xfrm>
            <a:off x="4362450" y="2734504"/>
            <a:ext cx="3314700" cy="270580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182880" indent="-182880" defTabSz="912276" fontAlgn="base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ea typeface="ＭＳ Ｐゴシック" charset="0"/>
              </a:defRPr>
            </a:lvl1pPr>
          </a:lstStyle>
          <a:p>
            <a:r>
              <a:rPr lang="en-US" sz="1800" dirty="0"/>
              <a:t>Workfront triggers CTT ID creation for pilot activations.</a:t>
            </a:r>
          </a:p>
          <a:p>
            <a:r>
              <a:rPr lang="en-US" sz="1800" dirty="0"/>
              <a:t>CTT carries Workfront-aligned FY27 data attributes.</a:t>
            </a:r>
          </a:p>
          <a:p>
            <a:r>
              <a:rPr lang="en-US" sz="1800" dirty="0"/>
              <a:t>IDs are written back to Workfront.</a:t>
            </a:r>
          </a:p>
          <a:p>
            <a:endParaRPr lang="en-GB" sz="1800" dirty="0" err="1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C4F21C1-E759-4113-91DB-64FF1D4DB690}"/>
              </a:ext>
            </a:extLst>
          </p:cNvPr>
          <p:cNvSpPr/>
          <p:nvPr/>
        </p:nvSpPr>
        <p:spPr>
          <a:xfrm>
            <a:off x="8004381" y="2080454"/>
            <a:ext cx="3447638" cy="3638550"/>
          </a:xfrm>
          <a:prstGeom prst="roundRect">
            <a:avLst>
              <a:gd name="adj" fmla="val 8379"/>
            </a:avLst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algn="l"/>
            <a:endParaRPr lang="en-GB" sz="1600" dirty="0">
              <a:solidFill>
                <a:schemeClr val="bg1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B1F6E59-D8DF-1917-216C-AC5C87AD9F85}"/>
              </a:ext>
            </a:extLst>
          </p:cNvPr>
          <p:cNvCxnSpPr>
            <a:cxnSpLocks/>
          </p:cNvCxnSpPr>
          <p:nvPr/>
        </p:nvCxnSpPr>
        <p:spPr>
          <a:xfrm>
            <a:off x="8004556" y="2602811"/>
            <a:ext cx="3447288" cy="0"/>
          </a:xfrm>
          <a:prstGeom prst="line">
            <a:avLst/>
          </a:prstGeom>
          <a:noFill/>
          <a:ln w="79375">
            <a:gradFill flip="none" rotWithShape="1">
              <a:gsLst>
                <a:gs pos="37000">
                  <a:srgbClr val="02C8FF"/>
                </a:gs>
                <a:gs pos="5000">
                  <a:srgbClr val="0A60FF"/>
                </a:gs>
                <a:gs pos="44000">
                  <a:srgbClr val="02C8FF"/>
                </a:gs>
                <a:gs pos="75000">
                  <a:srgbClr val="FF007F"/>
                </a:gs>
                <a:gs pos="95000">
                  <a:srgbClr val="FF9000"/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B970176-9BC1-F053-1354-74018A53E306}"/>
              </a:ext>
            </a:extLst>
          </p:cNvPr>
          <p:cNvSpPr txBox="1"/>
          <p:nvPr/>
        </p:nvSpPr>
        <p:spPr>
          <a:xfrm>
            <a:off x="8128000" y="2128908"/>
            <a:ext cx="3200400" cy="444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20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Future State</a:t>
            </a:r>
            <a:endParaRPr lang="en-GB" sz="20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4783B9-04C0-758A-D2D9-F8A652A2A6D5}"/>
              </a:ext>
            </a:extLst>
          </p:cNvPr>
          <p:cNvSpPr txBox="1"/>
          <p:nvPr/>
        </p:nvSpPr>
        <p:spPr>
          <a:xfrm>
            <a:off x="8070850" y="2732158"/>
            <a:ext cx="3314700" cy="270580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182880" indent="-182880" defTabSz="912276" fontAlgn="base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ea typeface="ＭＳ Ｐゴシック" charset="0"/>
              </a:defRPr>
            </a:lvl1pPr>
          </a:lstStyle>
          <a:p>
            <a:r>
              <a:rPr lang="en-US" sz="1800" dirty="0"/>
              <a:t>Workfront data and standardized UTMs become the governed reporting source.</a:t>
            </a:r>
          </a:p>
          <a:p>
            <a:r>
              <a:rPr lang="en-US" sz="1800" dirty="0"/>
              <a:t>Legacy OCIDs are mapped, retired and removed.</a:t>
            </a:r>
          </a:p>
          <a:p>
            <a:r>
              <a:rPr lang="en-US" sz="1800" dirty="0"/>
              <a:t>CTT is decommissioned when readiness criteria are met.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724110-35EB-2DF1-C31E-C5B89EC865C0}"/>
              </a:ext>
            </a:extLst>
          </p:cNvPr>
          <p:cNvSpPr txBox="1"/>
          <p:nvPr/>
        </p:nvSpPr>
        <p:spPr>
          <a:xfrm>
            <a:off x="891540" y="5909953"/>
            <a:ext cx="10332720" cy="52937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algn="ctr" defTabSz="912276" fontAlgn="base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defRPr sz="1600">
                <a:solidFill>
                  <a:schemeClr val="accent2"/>
                </a:solidFill>
                <a:ea typeface="ＭＳ Ｐゴシック" charset="0"/>
              </a:defRPr>
            </a:lvl1pPr>
          </a:lstStyle>
          <a:p>
            <a:r>
              <a:rPr b="1" i="1" dirty="0">
                <a:solidFill>
                  <a:schemeClr val="bg1"/>
                </a:solidFill>
              </a:rPr>
              <a:t>Principle: </a:t>
            </a:r>
            <a:r>
              <a:rPr i="1" dirty="0">
                <a:solidFill>
                  <a:schemeClr val="bg1"/>
                </a:solidFill>
              </a:rPr>
              <a:t>do not preserve CTT as a permanent destination; adapt it so every step improves Workfront readiness and decommission evidence.</a:t>
            </a:r>
          </a:p>
        </p:txBody>
      </p:sp>
    </p:spTree>
    <p:extLst>
      <p:ext uri="{BB962C8B-B14F-4D97-AF65-F5344CB8AC3E}">
        <p14:creationId xmlns:p14="http://schemas.microsoft.com/office/powerpoint/2010/main" val="2510956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C1B5A-8202-C4DE-FFD1-D8091710E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of Concept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8C8857-7E7A-3ADF-C043-8DB9FFDFA47F}"/>
              </a:ext>
            </a:extLst>
          </p:cNvPr>
          <p:cNvSpPr txBox="1"/>
          <p:nvPr/>
        </p:nvSpPr>
        <p:spPr>
          <a:xfrm>
            <a:off x="1612559" y="940308"/>
            <a:ext cx="8966882" cy="55194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algn="ctr" defTabSz="912276" fontAlgn="base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defRPr sz="1600">
                <a:solidFill>
                  <a:schemeClr val="accent2"/>
                </a:solidFill>
                <a:ea typeface="ＭＳ Ｐゴシック" charset="0"/>
              </a:defRPr>
            </a:lvl1pPr>
          </a:lstStyle>
          <a:p>
            <a:r>
              <a:rPr dirty="0"/>
              <a:t>The POC proves whether Workfront-originated activations can receive CTT-compatible IDs without manual effort or reporting gaps.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BFA6A23-D60B-1DD7-9C3C-EB44C4FD7C21}"/>
              </a:ext>
            </a:extLst>
          </p:cNvPr>
          <p:cNvGrpSpPr/>
          <p:nvPr/>
        </p:nvGrpSpPr>
        <p:grpSpPr>
          <a:xfrm>
            <a:off x="1085123" y="1768778"/>
            <a:ext cx="10021754" cy="2017092"/>
            <a:chOff x="1085123" y="1768778"/>
            <a:chExt cx="10021754" cy="2017092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252437B-2A7D-E54A-A781-5586902A038A}"/>
                </a:ext>
              </a:extLst>
            </p:cNvPr>
            <p:cNvSpPr/>
            <p:nvPr/>
          </p:nvSpPr>
          <p:spPr>
            <a:xfrm>
              <a:off x="1085123" y="1768778"/>
              <a:ext cx="2178642" cy="1177621"/>
            </a:xfrm>
            <a:custGeom>
              <a:avLst/>
              <a:gdLst>
                <a:gd name="csX0" fmla="*/ 0 w 2178642"/>
                <a:gd name="csY0" fmla="*/ 0 h 871456"/>
                <a:gd name="csX1" fmla="*/ 1742914 w 2178642"/>
                <a:gd name="csY1" fmla="*/ 0 h 871456"/>
                <a:gd name="csX2" fmla="*/ 2178642 w 2178642"/>
                <a:gd name="csY2" fmla="*/ 435728 h 871456"/>
                <a:gd name="csX3" fmla="*/ 1742914 w 2178642"/>
                <a:gd name="csY3" fmla="*/ 871456 h 871456"/>
                <a:gd name="csX4" fmla="*/ 0 w 2178642"/>
                <a:gd name="csY4" fmla="*/ 871456 h 871456"/>
                <a:gd name="csX5" fmla="*/ 435728 w 2178642"/>
                <a:gd name="csY5" fmla="*/ 435728 h 871456"/>
                <a:gd name="csX6" fmla="*/ 0 w 2178642"/>
                <a:gd name="csY6" fmla="*/ 0 h 8714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178642" h="871456">
                  <a:moveTo>
                    <a:pt x="0" y="0"/>
                  </a:moveTo>
                  <a:lnTo>
                    <a:pt x="1742914" y="0"/>
                  </a:lnTo>
                  <a:lnTo>
                    <a:pt x="2178642" y="435728"/>
                  </a:lnTo>
                  <a:lnTo>
                    <a:pt x="1742914" y="871456"/>
                  </a:lnTo>
                  <a:lnTo>
                    <a:pt x="0" y="871456"/>
                  </a:lnTo>
                  <a:lnTo>
                    <a:pt x="435728" y="435728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gradFill>
                <a:gsLst>
                  <a:gs pos="0">
                    <a:srgbClr val="0A60FF"/>
                  </a:gs>
                  <a:gs pos="95000">
                    <a:srgbClr val="02C8FF"/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609559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700">
                  <a:solidFill>
                    <a:schemeClr val="bg1"/>
                  </a:solidFill>
                </a:rPr>
                <a:t>Workfront Activation</a:t>
              </a:r>
              <a:endParaRPr lang="en-GB" sz="1700" dirty="0">
                <a:solidFill>
                  <a:schemeClr val="bg1"/>
                </a:solidFill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DBF8A73-0133-8BFE-6636-80223714E33F}"/>
                </a:ext>
              </a:extLst>
            </p:cNvPr>
            <p:cNvSpPr/>
            <p:nvPr/>
          </p:nvSpPr>
          <p:spPr>
            <a:xfrm>
              <a:off x="3045901" y="1768778"/>
              <a:ext cx="2178642" cy="1177621"/>
            </a:xfrm>
            <a:custGeom>
              <a:avLst/>
              <a:gdLst>
                <a:gd name="csX0" fmla="*/ 0 w 2178642"/>
                <a:gd name="csY0" fmla="*/ 0 h 871456"/>
                <a:gd name="csX1" fmla="*/ 1742914 w 2178642"/>
                <a:gd name="csY1" fmla="*/ 0 h 871456"/>
                <a:gd name="csX2" fmla="*/ 2178642 w 2178642"/>
                <a:gd name="csY2" fmla="*/ 435728 h 871456"/>
                <a:gd name="csX3" fmla="*/ 1742914 w 2178642"/>
                <a:gd name="csY3" fmla="*/ 871456 h 871456"/>
                <a:gd name="csX4" fmla="*/ 0 w 2178642"/>
                <a:gd name="csY4" fmla="*/ 871456 h 871456"/>
                <a:gd name="csX5" fmla="*/ 435728 w 2178642"/>
                <a:gd name="csY5" fmla="*/ 435728 h 871456"/>
                <a:gd name="csX6" fmla="*/ 0 w 2178642"/>
                <a:gd name="csY6" fmla="*/ 0 h 8714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178642" h="871456">
                  <a:moveTo>
                    <a:pt x="0" y="0"/>
                  </a:moveTo>
                  <a:lnTo>
                    <a:pt x="1742914" y="0"/>
                  </a:lnTo>
                  <a:lnTo>
                    <a:pt x="2178642" y="435728"/>
                  </a:lnTo>
                  <a:lnTo>
                    <a:pt x="1742914" y="871456"/>
                  </a:lnTo>
                  <a:lnTo>
                    <a:pt x="0" y="871456"/>
                  </a:lnTo>
                  <a:lnTo>
                    <a:pt x="435728" y="435728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gradFill>
                <a:gsLst>
                  <a:gs pos="0">
                    <a:srgbClr val="0A60FF"/>
                  </a:gs>
                  <a:gs pos="95000">
                    <a:srgbClr val="02C8FF"/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609559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700" dirty="0">
                  <a:solidFill>
                    <a:schemeClr val="bg1"/>
                  </a:solidFill>
                </a:rPr>
                <a:t>Integration </a:t>
              </a:r>
            </a:p>
            <a:p>
              <a:pPr algn="ctr" defTabSz="609559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700" dirty="0">
                  <a:solidFill>
                    <a:schemeClr val="bg1"/>
                  </a:solidFill>
                </a:rPr>
                <a:t>Trigger</a:t>
              </a:r>
              <a:endParaRPr lang="en-GB" sz="1700" dirty="0">
                <a:solidFill>
                  <a:schemeClr val="bg1"/>
                </a:solidFill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7DB11CA-0A2F-F5C7-DF77-654BD963EED1}"/>
                </a:ext>
              </a:extLst>
            </p:cNvPr>
            <p:cNvSpPr/>
            <p:nvPr/>
          </p:nvSpPr>
          <p:spPr>
            <a:xfrm>
              <a:off x="5006679" y="1768778"/>
              <a:ext cx="2178642" cy="1177621"/>
            </a:xfrm>
            <a:custGeom>
              <a:avLst/>
              <a:gdLst>
                <a:gd name="csX0" fmla="*/ 0 w 2178642"/>
                <a:gd name="csY0" fmla="*/ 0 h 871456"/>
                <a:gd name="csX1" fmla="*/ 1742914 w 2178642"/>
                <a:gd name="csY1" fmla="*/ 0 h 871456"/>
                <a:gd name="csX2" fmla="*/ 2178642 w 2178642"/>
                <a:gd name="csY2" fmla="*/ 435728 h 871456"/>
                <a:gd name="csX3" fmla="*/ 1742914 w 2178642"/>
                <a:gd name="csY3" fmla="*/ 871456 h 871456"/>
                <a:gd name="csX4" fmla="*/ 0 w 2178642"/>
                <a:gd name="csY4" fmla="*/ 871456 h 871456"/>
                <a:gd name="csX5" fmla="*/ 435728 w 2178642"/>
                <a:gd name="csY5" fmla="*/ 435728 h 871456"/>
                <a:gd name="csX6" fmla="*/ 0 w 2178642"/>
                <a:gd name="csY6" fmla="*/ 0 h 8714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178642" h="871456">
                  <a:moveTo>
                    <a:pt x="0" y="0"/>
                  </a:moveTo>
                  <a:lnTo>
                    <a:pt x="1742914" y="0"/>
                  </a:lnTo>
                  <a:lnTo>
                    <a:pt x="2178642" y="435728"/>
                  </a:lnTo>
                  <a:lnTo>
                    <a:pt x="1742914" y="871456"/>
                  </a:lnTo>
                  <a:lnTo>
                    <a:pt x="0" y="871456"/>
                  </a:lnTo>
                  <a:lnTo>
                    <a:pt x="435728" y="435728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gradFill>
                <a:gsLst>
                  <a:gs pos="0">
                    <a:srgbClr val="0A60FF"/>
                  </a:gs>
                  <a:gs pos="95000">
                    <a:srgbClr val="02C8FF"/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609559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700" dirty="0">
                  <a:solidFill>
                    <a:schemeClr val="bg1"/>
                  </a:solidFill>
                </a:rPr>
                <a:t>CTT ID </a:t>
              </a:r>
            </a:p>
            <a:p>
              <a:pPr algn="ctr" defTabSz="609559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700" dirty="0">
                  <a:solidFill>
                    <a:schemeClr val="bg1"/>
                  </a:solidFill>
                </a:rPr>
                <a:t>Services</a:t>
              </a:r>
              <a:endParaRPr lang="en-GB" sz="1700" dirty="0">
                <a:solidFill>
                  <a:schemeClr val="bg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BE946EA-30CF-CB5C-6FAB-031EDEA8EDAD}"/>
                </a:ext>
              </a:extLst>
            </p:cNvPr>
            <p:cNvSpPr/>
            <p:nvPr/>
          </p:nvSpPr>
          <p:spPr>
            <a:xfrm>
              <a:off x="6967457" y="1768778"/>
              <a:ext cx="2178642" cy="1177621"/>
            </a:xfrm>
            <a:custGeom>
              <a:avLst/>
              <a:gdLst>
                <a:gd name="csX0" fmla="*/ 0 w 2178642"/>
                <a:gd name="csY0" fmla="*/ 0 h 871456"/>
                <a:gd name="csX1" fmla="*/ 1742914 w 2178642"/>
                <a:gd name="csY1" fmla="*/ 0 h 871456"/>
                <a:gd name="csX2" fmla="*/ 2178642 w 2178642"/>
                <a:gd name="csY2" fmla="*/ 435728 h 871456"/>
                <a:gd name="csX3" fmla="*/ 1742914 w 2178642"/>
                <a:gd name="csY3" fmla="*/ 871456 h 871456"/>
                <a:gd name="csX4" fmla="*/ 0 w 2178642"/>
                <a:gd name="csY4" fmla="*/ 871456 h 871456"/>
                <a:gd name="csX5" fmla="*/ 435728 w 2178642"/>
                <a:gd name="csY5" fmla="*/ 435728 h 871456"/>
                <a:gd name="csX6" fmla="*/ 0 w 2178642"/>
                <a:gd name="csY6" fmla="*/ 0 h 8714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178642" h="871456">
                  <a:moveTo>
                    <a:pt x="0" y="0"/>
                  </a:moveTo>
                  <a:lnTo>
                    <a:pt x="1742914" y="0"/>
                  </a:lnTo>
                  <a:lnTo>
                    <a:pt x="2178642" y="435728"/>
                  </a:lnTo>
                  <a:lnTo>
                    <a:pt x="1742914" y="871456"/>
                  </a:lnTo>
                  <a:lnTo>
                    <a:pt x="0" y="871456"/>
                  </a:lnTo>
                  <a:lnTo>
                    <a:pt x="435728" y="435728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gradFill>
                <a:gsLst>
                  <a:gs pos="0">
                    <a:srgbClr val="0A60FF"/>
                  </a:gs>
                  <a:gs pos="95000">
                    <a:srgbClr val="02C8FF"/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609559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700" dirty="0">
                  <a:solidFill>
                    <a:schemeClr val="bg1"/>
                  </a:solidFill>
                </a:rPr>
                <a:t>Write-Back to Workfront</a:t>
              </a:r>
              <a:endParaRPr lang="en-GB" sz="1700" dirty="0">
                <a:solidFill>
                  <a:schemeClr val="bg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A87FDE7-1CF3-5A0E-69B1-E5C05C942F77}"/>
                </a:ext>
              </a:extLst>
            </p:cNvPr>
            <p:cNvSpPr/>
            <p:nvPr/>
          </p:nvSpPr>
          <p:spPr>
            <a:xfrm>
              <a:off x="8928235" y="1768778"/>
              <a:ext cx="2178642" cy="1177621"/>
            </a:xfrm>
            <a:custGeom>
              <a:avLst/>
              <a:gdLst>
                <a:gd name="csX0" fmla="*/ 0 w 2178642"/>
                <a:gd name="csY0" fmla="*/ 0 h 871456"/>
                <a:gd name="csX1" fmla="*/ 1742914 w 2178642"/>
                <a:gd name="csY1" fmla="*/ 0 h 871456"/>
                <a:gd name="csX2" fmla="*/ 2178642 w 2178642"/>
                <a:gd name="csY2" fmla="*/ 435728 h 871456"/>
                <a:gd name="csX3" fmla="*/ 1742914 w 2178642"/>
                <a:gd name="csY3" fmla="*/ 871456 h 871456"/>
                <a:gd name="csX4" fmla="*/ 0 w 2178642"/>
                <a:gd name="csY4" fmla="*/ 871456 h 871456"/>
                <a:gd name="csX5" fmla="*/ 435728 w 2178642"/>
                <a:gd name="csY5" fmla="*/ 435728 h 871456"/>
                <a:gd name="csX6" fmla="*/ 0 w 2178642"/>
                <a:gd name="csY6" fmla="*/ 0 h 8714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178642" h="871456">
                  <a:moveTo>
                    <a:pt x="0" y="0"/>
                  </a:moveTo>
                  <a:lnTo>
                    <a:pt x="1742914" y="0"/>
                  </a:lnTo>
                  <a:lnTo>
                    <a:pt x="2178642" y="435728"/>
                  </a:lnTo>
                  <a:lnTo>
                    <a:pt x="1742914" y="871456"/>
                  </a:lnTo>
                  <a:lnTo>
                    <a:pt x="0" y="871456"/>
                  </a:lnTo>
                  <a:lnTo>
                    <a:pt x="435728" y="435728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gradFill>
                <a:gsLst>
                  <a:gs pos="0">
                    <a:srgbClr val="0A60FF"/>
                  </a:gs>
                  <a:gs pos="95000">
                    <a:srgbClr val="02C8FF"/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609559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700">
                  <a:solidFill>
                    <a:schemeClr val="bg1"/>
                  </a:solidFill>
                </a:rPr>
                <a:t>Reporting Prototype</a:t>
              </a:r>
              <a:endParaRPr lang="en-GB" sz="1700" dirty="0">
                <a:solidFill>
                  <a:schemeClr val="bg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5807932-9145-0C2C-8782-482B524307B0}"/>
                </a:ext>
              </a:extLst>
            </p:cNvPr>
            <p:cNvSpPr txBox="1"/>
            <p:nvPr/>
          </p:nvSpPr>
          <p:spPr>
            <a:xfrm>
              <a:off x="1206704" y="3054350"/>
              <a:ext cx="1554480" cy="73152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 defTabSz="912276" fontAlgn="base">
                <a:spcAft>
                  <a:spcPts val="1000"/>
                </a:spcAft>
                <a:buClr>
                  <a:schemeClr val="bg1"/>
                </a:buClr>
                <a:buSzPct val="100000"/>
              </a:pPr>
              <a:r>
                <a:rPr lang="en-US" sz="1100" dirty="0">
                  <a:solidFill>
                    <a:schemeClr val="bg1"/>
                  </a:solidFill>
                </a:rPr>
                <a:t>Channel or content task is approved for pilot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BCE4951-8105-225B-1513-F8F35AC84D3B}"/>
                </a:ext>
              </a:extLst>
            </p:cNvPr>
            <p:cNvSpPr txBox="1"/>
            <p:nvPr/>
          </p:nvSpPr>
          <p:spPr>
            <a:xfrm>
              <a:off x="3167482" y="3054350"/>
              <a:ext cx="1554480" cy="73152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en-US"/>
              </a:defPPr>
              <a:lvl1pPr algn="ctr" defTabSz="912276" fontAlgn="base">
                <a:spcAft>
                  <a:spcPts val="1000"/>
                </a:spcAft>
                <a:buClr>
                  <a:schemeClr val="bg1"/>
                </a:buClr>
                <a:buSzPct val="100000"/>
                <a:defRPr sz="1100">
                  <a:solidFill>
                    <a:schemeClr val="bg1"/>
                  </a:solidFill>
                </a:defRPr>
              </a:lvl1pPr>
            </a:lstStyle>
            <a:p>
              <a:r>
                <a:rPr lang="en-US" dirty="0"/>
                <a:t>Create/update event carries required attributes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B503422-93C2-FF1D-4326-625D967AD4EE}"/>
                </a:ext>
              </a:extLst>
            </p:cNvPr>
            <p:cNvSpPr txBox="1"/>
            <p:nvPr/>
          </p:nvSpPr>
          <p:spPr>
            <a:xfrm>
              <a:off x="5128260" y="3054350"/>
              <a:ext cx="1554480" cy="73152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en-US"/>
              </a:defPPr>
              <a:lvl1pPr algn="ctr" defTabSz="912276" fontAlgn="base">
                <a:spcAft>
                  <a:spcPts val="1000"/>
                </a:spcAft>
                <a:buClr>
                  <a:schemeClr val="bg1"/>
                </a:buClr>
                <a:buSzPct val="100000"/>
                <a:defRPr sz="1100">
                  <a:solidFill>
                    <a:schemeClr val="bg1"/>
                  </a:solidFill>
                </a:defRPr>
              </a:lvl1pPr>
            </a:lstStyle>
            <a:p>
              <a:r>
                <a:rPr lang="en-US" dirty="0"/>
                <a:t>Create Activity ID for channel activation; Offer ID for content activation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CAA8F48-5E9F-6AA2-7B56-1A0827F61014}"/>
                </a:ext>
              </a:extLst>
            </p:cNvPr>
            <p:cNvSpPr txBox="1"/>
            <p:nvPr/>
          </p:nvSpPr>
          <p:spPr>
            <a:xfrm>
              <a:off x="7089038" y="3054350"/>
              <a:ext cx="1554480" cy="73152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en-US"/>
              </a:defPPr>
              <a:lvl1pPr algn="ctr" defTabSz="912276" fontAlgn="base">
                <a:spcAft>
                  <a:spcPts val="1000"/>
                </a:spcAft>
                <a:buClr>
                  <a:schemeClr val="bg1"/>
                </a:buClr>
                <a:buSzPct val="100000"/>
                <a:defRPr sz="1100">
                  <a:solidFill>
                    <a:schemeClr val="bg1"/>
                  </a:solidFill>
                </a:defRPr>
              </a:lvl1pPr>
            </a:lstStyle>
            <a:p>
              <a:r>
                <a:rPr lang="en-US" dirty="0"/>
                <a:t>Store generated IDs and reporting attributes on Workfront task/project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62EBF9F-FADA-A637-273F-B9FD5E0E7BA2}"/>
                </a:ext>
              </a:extLst>
            </p:cNvPr>
            <p:cNvSpPr txBox="1"/>
            <p:nvPr/>
          </p:nvSpPr>
          <p:spPr>
            <a:xfrm>
              <a:off x="9049816" y="3054350"/>
              <a:ext cx="1554480" cy="73152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en-US"/>
              </a:defPPr>
              <a:lvl1pPr algn="ctr" defTabSz="912276" fontAlgn="base">
                <a:spcAft>
                  <a:spcPts val="1000"/>
                </a:spcAft>
                <a:buClr>
                  <a:schemeClr val="bg1"/>
                </a:buClr>
                <a:buSzPct val="100000"/>
                <a:defRPr sz="1100">
                  <a:solidFill>
                    <a:schemeClr val="bg1"/>
                  </a:solidFill>
                </a:defRPr>
              </a:lvl1pPr>
            </a:lstStyle>
            <a:p>
              <a:r>
                <a:rPr lang="en-US" dirty="0"/>
                <a:t>Validate consistent Workfront + CTT view for online/offline activity</a:t>
              </a:r>
            </a:p>
            <a:p>
              <a:endParaRPr lang="en-GB" dirty="0" err="1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30B5CA2-5374-A438-1814-4DA1E6BB0B59}"/>
              </a:ext>
            </a:extLst>
          </p:cNvPr>
          <p:cNvGrpSpPr/>
          <p:nvPr/>
        </p:nvGrpSpPr>
        <p:grpSpPr>
          <a:xfrm>
            <a:off x="1206704" y="4215892"/>
            <a:ext cx="2615184" cy="1778000"/>
            <a:chOff x="4700015" y="1797050"/>
            <a:chExt cx="2615184" cy="177800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CDC942D6-933D-41E3-BE1D-14E182D48FBD}"/>
                </a:ext>
              </a:extLst>
            </p:cNvPr>
            <p:cNvSpPr/>
            <p:nvPr/>
          </p:nvSpPr>
          <p:spPr>
            <a:xfrm>
              <a:off x="4702048" y="1797050"/>
              <a:ext cx="2611119" cy="1778000"/>
            </a:xfrm>
            <a:prstGeom prst="roundRect">
              <a:avLst>
                <a:gd name="adj" fmla="val 10596"/>
              </a:avLst>
            </a:prstGeom>
            <a:noFill/>
            <a:ln w="158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 anchorCtr="0">
              <a:noAutofit/>
            </a:bodyPr>
            <a:lstStyle/>
            <a:p>
              <a:pPr marL="182880" indent="-182880" algn="l">
                <a:buFont typeface="Arial" panose="020B0604020202020204" pitchFamily="34" charset="0"/>
                <a:buChar char="•"/>
              </a:pPr>
              <a:endParaRPr lang="en-GB" sz="1600" dirty="0">
                <a:solidFill>
                  <a:schemeClr val="bg1"/>
                </a:solidFill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FED7B17-BDF2-888B-2D0E-5F7C7B482B3D}"/>
                </a:ext>
              </a:extLst>
            </p:cNvPr>
            <p:cNvCxnSpPr>
              <a:cxnSpLocks/>
            </p:cNvCxnSpPr>
            <p:nvPr/>
          </p:nvCxnSpPr>
          <p:spPr>
            <a:xfrm>
              <a:off x="4700015" y="2249557"/>
              <a:ext cx="2615184" cy="0"/>
            </a:xfrm>
            <a:prstGeom prst="line">
              <a:avLst/>
            </a:prstGeom>
            <a:noFill/>
            <a:ln w="79375">
              <a:gradFill flip="none" rotWithShape="1">
                <a:gsLst>
                  <a:gs pos="37000">
                    <a:srgbClr val="02C8FF"/>
                  </a:gs>
                  <a:gs pos="5000">
                    <a:srgbClr val="0A60FF"/>
                  </a:gs>
                  <a:gs pos="44000">
                    <a:srgbClr val="02C8FF"/>
                  </a:gs>
                  <a:gs pos="75000">
                    <a:srgbClr val="FF007F"/>
                  </a:gs>
                  <a:gs pos="95000">
                    <a:srgbClr val="FF9000"/>
                  </a:gs>
                </a:gsLst>
                <a:lin ang="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507A06C-1D75-AA37-2588-5AB8EA4BBBBB}"/>
                </a:ext>
              </a:extLst>
            </p:cNvPr>
            <p:cNvSpPr txBox="1"/>
            <p:nvPr/>
          </p:nvSpPr>
          <p:spPr>
            <a:xfrm>
              <a:off x="4924933" y="1875659"/>
              <a:ext cx="2165349" cy="29528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</a:pPr>
              <a:r>
                <a:rPr lang="en-US" sz="1600" dirty="0">
                  <a:solidFill>
                    <a:schemeClr val="bg1"/>
                  </a:solidFill>
                  <a:ea typeface="ＭＳ Ｐゴシック" charset="0"/>
                </a:rPr>
                <a:t>Activity IDs</a:t>
              </a:r>
              <a:endParaRPr lang="en-GB" sz="1600" kern="1200" dirty="0" err="1">
                <a:solidFill>
                  <a:schemeClr val="bg1"/>
                </a:solidFill>
                <a:latin typeface="+mn-lt"/>
                <a:ea typeface="ＭＳ Ｐゴシック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3D6776E-F56E-DC76-C092-DCF03BD46F68}"/>
                </a:ext>
              </a:extLst>
            </p:cNvPr>
            <p:cNvSpPr txBox="1"/>
            <p:nvPr/>
          </p:nvSpPr>
          <p:spPr>
            <a:xfrm>
              <a:off x="4810632" y="2298087"/>
              <a:ext cx="2393950" cy="113665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en-US"/>
              </a:defPPr>
              <a:lvl1pPr algn="ctr" defTabSz="912276" fontAlgn="base">
                <a:spcAft>
                  <a:spcPts val="1000"/>
                </a:spcAft>
                <a:buClr>
                  <a:schemeClr val="bg1"/>
                </a:buClr>
                <a:buSzPct val="100000"/>
                <a:defRPr sz="1100">
                  <a:solidFill>
                    <a:schemeClr val="bg1"/>
                  </a:solidFill>
                </a:defRPr>
              </a:lvl1pPr>
            </a:lstStyle>
            <a:p>
              <a:r>
                <a:rPr lang="en-US" sz="1400" dirty="0"/>
                <a:t>Automatically created for channel activations so driving initiatives can still be measured while Workfront adoption grows.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D28C993-2A9D-819F-AC52-6C4861AFA339}"/>
              </a:ext>
            </a:extLst>
          </p:cNvPr>
          <p:cNvGrpSpPr/>
          <p:nvPr/>
        </p:nvGrpSpPr>
        <p:grpSpPr>
          <a:xfrm>
            <a:off x="4675949" y="4215892"/>
            <a:ext cx="2615184" cy="1778000"/>
            <a:chOff x="4700015" y="1797050"/>
            <a:chExt cx="2615184" cy="1778000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E2CA2161-E1E6-2AA2-CA3B-3F973529E46E}"/>
                </a:ext>
              </a:extLst>
            </p:cNvPr>
            <p:cNvSpPr/>
            <p:nvPr/>
          </p:nvSpPr>
          <p:spPr>
            <a:xfrm>
              <a:off x="4702048" y="1797050"/>
              <a:ext cx="2611119" cy="1778000"/>
            </a:xfrm>
            <a:prstGeom prst="roundRect">
              <a:avLst>
                <a:gd name="adj" fmla="val 10596"/>
              </a:avLst>
            </a:prstGeom>
            <a:noFill/>
            <a:ln w="158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 anchorCtr="0">
              <a:noAutofit/>
            </a:bodyPr>
            <a:lstStyle/>
            <a:p>
              <a:pPr marL="182880" indent="-182880" algn="l">
                <a:buFont typeface="Arial" panose="020B0604020202020204" pitchFamily="34" charset="0"/>
                <a:buChar char="•"/>
              </a:pPr>
              <a:endParaRPr lang="en-GB" sz="1600" dirty="0">
                <a:solidFill>
                  <a:schemeClr val="bg1"/>
                </a:solidFill>
              </a:endParaRP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6966945-716A-1CC2-C0A5-2F41C09B606F}"/>
                </a:ext>
              </a:extLst>
            </p:cNvPr>
            <p:cNvCxnSpPr>
              <a:cxnSpLocks/>
            </p:cNvCxnSpPr>
            <p:nvPr/>
          </p:nvCxnSpPr>
          <p:spPr>
            <a:xfrm>
              <a:off x="4700015" y="2249557"/>
              <a:ext cx="2615184" cy="0"/>
            </a:xfrm>
            <a:prstGeom prst="line">
              <a:avLst/>
            </a:prstGeom>
            <a:noFill/>
            <a:ln w="79375">
              <a:gradFill flip="none" rotWithShape="1">
                <a:gsLst>
                  <a:gs pos="37000">
                    <a:srgbClr val="02C8FF"/>
                  </a:gs>
                  <a:gs pos="5000">
                    <a:srgbClr val="0A60FF"/>
                  </a:gs>
                  <a:gs pos="44000">
                    <a:srgbClr val="02C8FF"/>
                  </a:gs>
                  <a:gs pos="75000">
                    <a:srgbClr val="FF007F"/>
                  </a:gs>
                  <a:gs pos="95000">
                    <a:srgbClr val="FF9000"/>
                  </a:gs>
                </a:gsLst>
                <a:lin ang="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4F6B6DE-86B9-B487-D4C7-D296DEA0BB8A}"/>
                </a:ext>
              </a:extLst>
            </p:cNvPr>
            <p:cNvSpPr txBox="1"/>
            <p:nvPr/>
          </p:nvSpPr>
          <p:spPr>
            <a:xfrm>
              <a:off x="4924933" y="1875659"/>
              <a:ext cx="2165349" cy="29528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</a:pPr>
              <a:r>
                <a:rPr lang="en-US" sz="1600" dirty="0">
                  <a:solidFill>
                    <a:schemeClr val="bg1"/>
                  </a:solidFill>
                  <a:ea typeface="ＭＳ Ｐゴシック" charset="0"/>
                </a:rPr>
                <a:t>Offer IDs</a:t>
              </a:r>
              <a:endParaRPr lang="en-GB" sz="1600" kern="1200" dirty="0" err="1">
                <a:solidFill>
                  <a:schemeClr val="bg1"/>
                </a:solidFill>
                <a:latin typeface="+mn-lt"/>
                <a:ea typeface="ＭＳ Ｐゴシック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4FD8F49-3F54-B56B-0706-9EE4755B9A5B}"/>
                </a:ext>
              </a:extLst>
            </p:cNvPr>
            <p:cNvSpPr txBox="1"/>
            <p:nvPr/>
          </p:nvSpPr>
          <p:spPr>
            <a:xfrm>
              <a:off x="4810632" y="2298087"/>
              <a:ext cx="2393950" cy="113665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en-US"/>
              </a:defPPr>
              <a:lvl1pPr algn="ctr" defTabSz="912276" fontAlgn="base">
                <a:spcAft>
                  <a:spcPts val="1000"/>
                </a:spcAft>
                <a:buClr>
                  <a:schemeClr val="bg1"/>
                </a:buClr>
                <a:buSzPct val="100000"/>
                <a:defRPr sz="1400">
                  <a:solidFill>
                    <a:schemeClr val="bg1"/>
                  </a:solidFill>
                </a:defRPr>
              </a:lvl1pPr>
            </a:lstStyle>
            <a:p>
              <a:r>
                <a:rPr lang="en-US" dirty="0"/>
                <a:t>Automatically created for content activations so consumed offers remain traceable across forms, leads and reporting.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1295517-D39C-3DE3-DDA3-967D3F94D7B3}"/>
              </a:ext>
            </a:extLst>
          </p:cNvPr>
          <p:cNvGrpSpPr/>
          <p:nvPr/>
        </p:nvGrpSpPr>
        <p:grpSpPr>
          <a:xfrm>
            <a:off x="8145194" y="4215892"/>
            <a:ext cx="2615184" cy="1778000"/>
            <a:chOff x="4700015" y="1797050"/>
            <a:chExt cx="2615184" cy="1778000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A563F474-05B8-3699-9159-EC2138167984}"/>
                </a:ext>
              </a:extLst>
            </p:cNvPr>
            <p:cNvSpPr/>
            <p:nvPr/>
          </p:nvSpPr>
          <p:spPr>
            <a:xfrm>
              <a:off x="4702048" y="1797050"/>
              <a:ext cx="2611119" cy="1778000"/>
            </a:xfrm>
            <a:prstGeom prst="roundRect">
              <a:avLst>
                <a:gd name="adj" fmla="val 10596"/>
              </a:avLst>
            </a:prstGeom>
            <a:noFill/>
            <a:ln w="158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 anchorCtr="0">
              <a:noAutofit/>
            </a:bodyPr>
            <a:lstStyle/>
            <a:p>
              <a:pPr marL="182880" indent="-182880" algn="l">
                <a:buFont typeface="Arial" panose="020B0604020202020204" pitchFamily="34" charset="0"/>
                <a:buChar char="•"/>
              </a:pPr>
              <a:endParaRPr lang="en-GB" sz="1600" dirty="0">
                <a:solidFill>
                  <a:schemeClr val="bg1"/>
                </a:solidFill>
              </a:endParaRP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FA981B4-CE27-51DC-B0EB-231EF409BDC8}"/>
                </a:ext>
              </a:extLst>
            </p:cNvPr>
            <p:cNvCxnSpPr>
              <a:cxnSpLocks/>
            </p:cNvCxnSpPr>
            <p:nvPr/>
          </p:nvCxnSpPr>
          <p:spPr>
            <a:xfrm>
              <a:off x="4700015" y="2249557"/>
              <a:ext cx="2615184" cy="0"/>
            </a:xfrm>
            <a:prstGeom prst="line">
              <a:avLst/>
            </a:prstGeom>
            <a:noFill/>
            <a:ln w="79375">
              <a:gradFill flip="none" rotWithShape="1">
                <a:gsLst>
                  <a:gs pos="37000">
                    <a:srgbClr val="02C8FF"/>
                  </a:gs>
                  <a:gs pos="5000">
                    <a:srgbClr val="0A60FF"/>
                  </a:gs>
                  <a:gs pos="44000">
                    <a:srgbClr val="02C8FF"/>
                  </a:gs>
                  <a:gs pos="75000">
                    <a:srgbClr val="FF007F"/>
                  </a:gs>
                  <a:gs pos="95000">
                    <a:srgbClr val="FF9000"/>
                  </a:gs>
                </a:gsLst>
                <a:lin ang="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FEE616C-0B85-2F32-8FD6-6B3F9E21C835}"/>
                </a:ext>
              </a:extLst>
            </p:cNvPr>
            <p:cNvSpPr txBox="1"/>
            <p:nvPr/>
          </p:nvSpPr>
          <p:spPr>
            <a:xfrm>
              <a:off x="4924933" y="1875659"/>
              <a:ext cx="2165349" cy="29528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</a:pPr>
              <a:r>
                <a:rPr lang="en-US" sz="1600" dirty="0">
                  <a:solidFill>
                    <a:schemeClr val="bg1"/>
                  </a:solidFill>
                  <a:ea typeface="ＭＳ Ｐゴシック" charset="0"/>
                </a:rPr>
                <a:t>Shared Attributes</a:t>
              </a:r>
              <a:endParaRPr lang="en-GB" sz="1600" kern="1200" dirty="0" err="1">
                <a:solidFill>
                  <a:schemeClr val="bg1"/>
                </a:solidFill>
                <a:latin typeface="+mn-lt"/>
                <a:ea typeface="ＭＳ Ｐゴシック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2A253F7-9B8B-8387-F552-8613B295C78D}"/>
                </a:ext>
              </a:extLst>
            </p:cNvPr>
            <p:cNvSpPr txBox="1"/>
            <p:nvPr/>
          </p:nvSpPr>
          <p:spPr>
            <a:xfrm>
              <a:off x="4810632" y="2298087"/>
              <a:ext cx="2393950" cy="113665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en-US"/>
              </a:defPPr>
              <a:lvl1pPr algn="ctr" defTabSz="912276" fontAlgn="base">
                <a:spcAft>
                  <a:spcPts val="1000"/>
                </a:spcAft>
                <a:buClr>
                  <a:schemeClr val="bg1"/>
                </a:buClr>
                <a:buSzPct val="100000"/>
                <a:defRPr sz="1400">
                  <a:solidFill>
                    <a:schemeClr val="bg1"/>
                  </a:solidFill>
                </a:defRPr>
              </a:lvl1pPr>
            </a:lstStyle>
            <a:p>
              <a:r>
                <a:rPr lang="en-US" dirty="0"/>
                <a:t>Business priority, stakeholder unit, campaign/program context and Task ID/UTM attributes can be captured consistently.</a:t>
              </a:r>
            </a:p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55738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656B6-54D9-6B82-4776-635827EC9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the POC should Prove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410A67-A8A5-5DA5-BE19-313099059CF5}"/>
              </a:ext>
            </a:extLst>
          </p:cNvPr>
          <p:cNvSpPr txBox="1"/>
          <p:nvPr/>
        </p:nvSpPr>
        <p:spPr>
          <a:xfrm>
            <a:off x="530352" y="978408"/>
            <a:ext cx="1078992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algn="ctr" defTabSz="912276" fontAlgn="base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defRPr sz="1600">
                <a:solidFill>
                  <a:schemeClr val="accent2"/>
                </a:solidFill>
                <a:ea typeface="ＭＳ Ｐゴシック" charset="0"/>
              </a:defRPr>
            </a:lvl1pPr>
          </a:lstStyle>
          <a:p>
            <a:r>
              <a:rPr dirty="0"/>
              <a:t>A narrow, evidence-driven POC gives management a clear decision gate before broader investment.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6CC15BF-E238-FC9A-C178-827C7DE972B0}"/>
              </a:ext>
            </a:extLst>
          </p:cNvPr>
          <p:cNvGrpSpPr/>
          <p:nvPr/>
        </p:nvGrpSpPr>
        <p:grpSpPr>
          <a:xfrm>
            <a:off x="1134745" y="1866900"/>
            <a:ext cx="2880360" cy="2012950"/>
            <a:chOff x="1136650" y="1866900"/>
            <a:chExt cx="2880360" cy="201295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DCB1F3C9-9C34-04CE-A4D7-73919AEC82C1}"/>
                </a:ext>
              </a:extLst>
            </p:cNvPr>
            <p:cNvSpPr/>
            <p:nvPr/>
          </p:nvSpPr>
          <p:spPr>
            <a:xfrm>
              <a:off x="1138555" y="1866900"/>
              <a:ext cx="2876550" cy="2012950"/>
            </a:xfrm>
            <a:prstGeom prst="roundRect">
              <a:avLst>
                <a:gd name="adj" fmla="val 8515"/>
              </a:avLst>
            </a:prstGeom>
            <a:noFill/>
            <a:ln w="158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 anchorCtr="0">
              <a:noAutofit/>
            </a:bodyPr>
            <a:lstStyle/>
            <a:p>
              <a:pPr marL="182880" indent="-182880" algn="l">
                <a:buFont typeface="Arial" panose="020B0604020202020204" pitchFamily="34" charset="0"/>
                <a:buChar char="•"/>
              </a:pPr>
              <a:endParaRPr lang="en-GB" sz="1600" dirty="0">
                <a:solidFill>
                  <a:schemeClr val="bg1"/>
                </a:solidFill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7B2A05A-CC7F-08C6-47AC-A05332B9371B}"/>
                </a:ext>
              </a:extLst>
            </p:cNvPr>
            <p:cNvCxnSpPr>
              <a:cxnSpLocks/>
            </p:cNvCxnSpPr>
            <p:nvPr/>
          </p:nvCxnSpPr>
          <p:spPr>
            <a:xfrm>
              <a:off x="1136650" y="2312549"/>
              <a:ext cx="2880360" cy="0"/>
            </a:xfrm>
            <a:prstGeom prst="line">
              <a:avLst/>
            </a:prstGeom>
            <a:noFill/>
            <a:ln w="79375">
              <a:gradFill flip="none" rotWithShape="1">
                <a:gsLst>
                  <a:gs pos="37000">
                    <a:srgbClr val="02C8FF"/>
                  </a:gs>
                  <a:gs pos="5000">
                    <a:srgbClr val="0A60FF"/>
                  </a:gs>
                  <a:gs pos="44000">
                    <a:srgbClr val="02C8FF"/>
                  </a:gs>
                  <a:gs pos="75000">
                    <a:srgbClr val="FF007F"/>
                  </a:gs>
                  <a:gs pos="95000">
                    <a:srgbClr val="FF9000"/>
                  </a:gs>
                </a:gsLst>
                <a:lin ang="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762C724-CB2B-2624-E77F-B27A1C2C8A01}"/>
                </a:ext>
              </a:extLst>
            </p:cNvPr>
            <p:cNvSpPr txBox="1"/>
            <p:nvPr/>
          </p:nvSpPr>
          <p:spPr>
            <a:xfrm>
              <a:off x="1494156" y="1935508"/>
              <a:ext cx="2165349" cy="29528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</a:pPr>
              <a:r>
                <a:rPr lang="en-US" sz="1600" dirty="0">
                  <a:solidFill>
                    <a:schemeClr val="bg1"/>
                  </a:solidFill>
                  <a:ea typeface="ＭＳ Ｐゴシック" charset="0"/>
                </a:rPr>
                <a:t>Integration Feasibility</a:t>
              </a:r>
              <a:endParaRPr lang="en-GB" sz="1600" kern="1200" dirty="0" err="1">
                <a:solidFill>
                  <a:schemeClr val="bg1"/>
                </a:solidFill>
                <a:latin typeface="+mn-lt"/>
                <a:ea typeface="ＭＳ Ｐゴシック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6DBCD28-1367-1F46-0D5C-E1538568DD6B}"/>
                </a:ext>
              </a:extLst>
            </p:cNvPr>
            <p:cNvSpPr txBox="1"/>
            <p:nvPr/>
          </p:nvSpPr>
          <p:spPr>
            <a:xfrm>
              <a:off x="1214755" y="2446363"/>
              <a:ext cx="2724150" cy="86177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algn="ctr" defTabSz="912276" fontAlgn="base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  <a:defRPr sz="1600">
                  <a:solidFill>
                    <a:schemeClr val="bg1"/>
                  </a:solidFill>
                  <a:ea typeface="ＭＳ Ｐゴシック" charset="0"/>
                </a:defRPr>
              </a:lvl1pPr>
            </a:lstStyle>
            <a:p>
              <a:r>
                <a:rPr lang="en-US" sz="1400" dirty="0"/>
                <a:t>Workfront can trigger CTT ID creation and receive generated IDs back as usable data attributes.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D497C85-A3B3-146F-BEEE-DAC288115CA0}"/>
              </a:ext>
            </a:extLst>
          </p:cNvPr>
          <p:cNvGrpSpPr/>
          <p:nvPr/>
        </p:nvGrpSpPr>
        <p:grpSpPr>
          <a:xfrm>
            <a:off x="4654868" y="1866900"/>
            <a:ext cx="2880360" cy="2012950"/>
            <a:chOff x="1136650" y="1866900"/>
            <a:chExt cx="2880360" cy="201295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7418B143-4F1D-904B-BF8B-1EBD8A5B219A}"/>
                </a:ext>
              </a:extLst>
            </p:cNvPr>
            <p:cNvSpPr/>
            <p:nvPr/>
          </p:nvSpPr>
          <p:spPr>
            <a:xfrm>
              <a:off x="1138555" y="1866900"/>
              <a:ext cx="2876550" cy="2012950"/>
            </a:xfrm>
            <a:prstGeom prst="roundRect">
              <a:avLst>
                <a:gd name="adj" fmla="val 8515"/>
              </a:avLst>
            </a:prstGeom>
            <a:noFill/>
            <a:ln w="158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 anchorCtr="0">
              <a:noAutofit/>
            </a:bodyPr>
            <a:lstStyle/>
            <a:p>
              <a:pPr marL="182880" indent="-182880" algn="l">
                <a:buFont typeface="Arial" panose="020B0604020202020204" pitchFamily="34" charset="0"/>
                <a:buChar char="•"/>
              </a:pPr>
              <a:endParaRPr lang="en-GB" sz="1600" dirty="0">
                <a:solidFill>
                  <a:schemeClr val="bg1"/>
                </a:solidFill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AA2DBFA-8CA8-551F-9D24-BA62B2930DEB}"/>
                </a:ext>
              </a:extLst>
            </p:cNvPr>
            <p:cNvCxnSpPr>
              <a:cxnSpLocks/>
            </p:cNvCxnSpPr>
            <p:nvPr/>
          </p:nvCxnSpPr>
          <p:spPr>
            <a:xfrm>
              <a:off x="1136650" y="2312549"/>
              <a:ext cx="2880360" cy="0"/>
            </a:xfrm>
            <a:prstGeom prst="line">
              <a:avLst/>
            </a:prstGeom>
            <a:noFill/>
            <a:ln w="79375">
              <a:gradFill flip="none" rotWithShape="1">
                <a:gsLst>
                  <a:gs pos="37000">
                    <a:srgbClr val="02C8FF"/>
                  </a:gs>
                  <a:gs pos="5000">
                    <a:srgbClr val="0A60FF"/>
                  </a:gs>
                  <a:gs pos="44000">
                    <a:srgbClr val="02C8FF"/>
                  </a:gs>
                  <a:gs pos="75000">
                    <a:srgbClr val="FF007F"/>
                  </a:gs>
                  <a:gs pos="95000">
                    <a:srgbClr val="FF9000"/>
                  </a:gs>
                </a:gsLst>
                <a:lin ang="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02DE6CF-FAC9-4D5E-0639-D8370416E4E0}"/>
                </a:ext>
              </a:extLst>
            </p:cNvPr>
            <p:cNvSpPr txBox="1"/>
            <p:nvPr/>
          </p:nvSpPr>
          <p:spPr>
            <a:xfrm>
              <a:off x="1494156" y="1935508"/>
              <a:ext cx="2165349" cy="29528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</a:pPr>
              <a:r>
                <a:rPr lang="en-US" sz="1600" dirty="0">
                  <a:solidFill>
                    <a:schemeClr val="bg1"/>
                  </a:solidFill>
                  <a:ea typeface="ＭＳ Ｐゴシック" charset="0"/>
                </a:rPr>
                <a:t>Reporting Continuity</a:t>
              </a:r>
              <a:endParaRPr lang="en-GB" sz="1600" kern="1200" dirty="0" err="1">
                <a:solidFill>
                  <a:schemeClr val="bg1"/>
                </a:solidFill>
                <a:latin typeface="+mn-lt"/>
                <a:ea typeface="ＭＳ Ｐゴシック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06CDFBC-6C37-085D-6FD8-5EF6E1A43B23}"/>
                </a:ext>
              </a:extLst>
            </p:cNvPr>
            <p:cNvSpPr txBox="1"/>
            <p:nvPr/>
          </p:nvSpPr>
          <p:spPr>
            <a:xfrm>
              <a:off x="1214755" y="2446363"/>
              <a:ext cx="2724150" cy="86177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algn="ctr" defTabSz="912276" fontAlgn="base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  <a:defRPr sz="1400">
                  <a:solidFill>
                    <a:schemeClr val="bg1"/>
                  </a:solidFill>
                  <a:ea typeface="ＭＳ Ｐゴシック" charset="0"/>
                </a:defRPr>
              </a:lvl1pPr>
            </a:lstStyle>
            <a:p>
              <a:r>
                <a:rPr lang="en-US" dirty="0"/>
                <a:t>A pilot report can combine Workfront-originated activity with CTT-originated activity using the same attributes.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336ADBA-BE44-982E-0911-31BCA60C1C23}"/>
              </a:ext>
            </a:extLst>
          </p:cNvPr>
          <p:cNvGrpSpPr/>
          <p:nvPr/>
        </p:nvGrpSpPr>
        <p:grpSpPr>
          <a:xfrm>
            <a:off x="8173085" y="1866900"/>
            <a:ext cx="2880360" cy="2012950"/>
            <a:chOff x="1136650" y="1866900"/>
            <a:chExt cx="2880360" cy="2012950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30CF6CD4-779A-4E63-AD23-E1D59A8874C3}"/>
                </a:ext>
              </a:extLst>
            </p:cNvPr>
            <p:cNvSpPr/>
            <p:nvPr/>
          </p:nvSpPr>
          <p:spPr>
            <a:xfrm>
              <a:off x="1138555" y="1866900"/>
              <a:ext cx="2876550" cy="2012950"/>
            </a:xfrm>
            <a:prstGeom prst="roundRect">
              <a:avLst>
                <a:gd name="adj" fmla="val 8515"/>
              </a:avLst>
            </a:prstGeom>
            <a:noFill/>
            <a:ln w="158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 anchorCtr="0">
              <a:noAutofit/>
            </a:bodyPr>
            <a:lstStyle/>
            <a:p>
              <a:pPr marL="182880" indent="-182880" algn="l">
                <a:buFont typeface="Arial" panose="020B0604020202020204" pitchFamily="34" charset="0"/>
                <a:buChar char="•"/>
              </a:pPr>
              <a:endParaRPr lang="en-GB" sz="1600" dirty="0">
                <a:solidFill>
                  <a:schemeClr val="bg1"/>
                </a:solidFill>
              </a:endParaRP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DD18CC8-31DE-8E0B-4B96-173F3EC4EB35}"/>
                </a:ext>
              </a:extLst>
            </p:cNvPr>
            <p:cNvCxnSpPr>
              <a:cxnSpLocks/>
            </p:cNvCxnSpPr>
            <p:nvPr/>
          </p:nvCxnSpPr>
          <p:spPr>
            <a:xfrm>
              <a:off x="1136650" y="2312549"/>
              <a:ext cx="2880360" cy="0"/>
            </a:xfrm>
            <a:prstGeom prst="line">
              <a:avLst/>
            </a:prstGeom>
            <a:noFill/>
            <a:ln w="79375">
              <a:gradFill flip="none" rotWithShape="1">
                <a:gsLst>
                  <a:gs pos="37000">
                    <a:srgbClr val="02C8FF"/>
                  </a:gs>
                  <a:gs pos="5000">
                    <a:srgbClr val="0A60FF"/>
                  </a:gs>
                  <a:gs pos="44000">
                    <a:srgbClr val="02C8FF"/>
                  </a:gs>
                  <a:gs pos="75000">
                    <a:srgbClr val="FF007F"/>
                  </a:gs>
                  <a:gs pos="95000">
                    <a:srgbClr val="FF9000"/>
                  </a:gs>
                </a:gsLst>
                <a:lin ang="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B012601-68FA-DAE4-EEC1-AE2D56EC6A66}"/>
                </a:ext>
              </a:extLst>
            </p:cNvPr>
            <p:cNvSpPr txBox="1"/>
            <p:nvPr/>
          </p:nvSpPr>
          <p:spPr>
            <a:xfrm>
              <a:off x="1494156" y="1935508"/>
              <a:ext cx="2165349" cy="29528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</a:pPr>
              <a:r>
                <a:rPr lang="en-US" sz="1600" dirty="0">
                  <a:solidFill>
                    <a:schemeClr val="bg1"/>
                  </a:solidFill>
                  <a:ea typeface="ＭＳ Ｐゴシック" charset="0"/>
                </a:rPr>
                <a:t>Operational Fit</a:t>
              </a:r>
              <a:endParaRPr lang="en-GB" sz="1600" kern="1200" dirty="0" err="1">
                <a:solidFill>
                  <a:schemeClr val="bg1"/>
                </a:solidFill>
                <a:latin typeface="+mn-lt"/>
                <a:ea typeface="ＭＳ Ｐゴシック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861B9C6-912B-C869-67FD-D448F43D1ED9}"/>
                </a:ext>
              </a:extLst>
            </p:cNvPr>
            <p:cNvSpPr txBox="1"/>
            <p:nvPr/>
          </p:nvSpPr>
          <p:spPr>
            <a:xfrm>
              <a:off x="1214755" y="2600251"/>
              <a:ext cx="2724150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algn="ctr" defTabSz="912276" fontAlgn="base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  <a:defRPr sz="1400">
                  <a:solidFill>
                    <a:schemeClr val="bg1"/>
                  </a:solidFill>
                  <a:ea typeface="ＭＳ Ｐゴシック" charset="0"/>
                </a:defRPr>
              </a:lvl1pPr>
            </a:lstStyle>
            <a:p>
              <a:r>
                <a:rPr lang="en-US" dirty="0"/>
                <a:t>Pilot users can request or approve activations without adding manual ID administration burden.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8901241-D786-FAB3-8595-D6D80D28560D}"/>
              </a:ext>
            </a:extLst>
          </p:cNvPr>
          <p:cNvGrpSpPr/>
          <p:nvPr/>
        </p:nvGrpSpPr>
        <p:grpSpPr>
          <a:xfrm>
            <a:off x="1134745" y="4197350"/>
            <a:ext cx="2880360" cy="2012950"/>
            <a:chOff x="1136650" y="1866900"/>
            <a:chExt cx="2880360" cy="2012950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12FFB1DA-9339-FC12-B603-5D1CA3938741}"/>
                </a:ext>
              </a:extLst>
            </p:cNvPr>
            <p:cNvSpPr/>
            <p:nvPr/>
          </p:nvSpPr>
          <p:spPr>
            <a:xfrm>
              <a:off x="1138555" y="1866900"/>
              <a:ext cx="2876550" cy="2012950"/>
            </a:xfrm>
            <a:prstGeom prst="roundRect">
              <a:avLst>
                <a:gd name="adj" fmla="val 8515"/>
              </a:avLst>
            </a:prstGeom>
            <a:noFill/>
            <a:ln w="158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 anchorCtr="0">
              <a:noAutofit/>
            </a:bodyPr>
            <a:lstStyle/>
            <a:p>
              <a:pPr marL="182880" indent="-182880" algn="l">
                <a:buFont typeface="Arial" panose="020B0604020202020204" pitchFamily="34" charset="0"/>
                <a:buChar char="•"/>
              </a:pPr>
              <a:endParaRPr lang="en-GB" sz="1600" dirty="0">
                <a:solidFill>
                  <a:schemeClr val="bg1"/>
                </a:solidFill>
              </a:endParaRP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DE27852-1387-6727-7D89-DB5A8BD42C9A}"/>
                </a:ext>
              </a:extLst>
            </p:cNvPr>
            <p:cNvCxnSpPr>
              <a:cxnSpLocks/>
            </p:cNvCxnSpPr>
            <p:nvPr/>
          </p:nvCxnSpPr>
          <p:spPr>
            <a:xfrm>
              <a:off x="1136650" y="2312549"/>
              <a:ext cx="2880360" cy="0"/>
            </a:xfrm>
            <a:prstGeom prst="line">
              <a:avLst/>
            </a:prstGeom>
            <a:noFill/>
            <a:ln w="79375">
              <a:gradFill flip="none" rotWithShape="1">
                <a:gsLst>
                  <a:gs pos="37000">
                    <a:srgbClr val="02C8FF"/>
                  </a:gs>
                  <a:gs pos="5000">
                    <a:srgbClr val="0A60FF"/>
                  </a:gs>
                  <a:gs pos="44000">
                    <a:srgbClr val="02C8FF"/>
                  </a:gs>
                  <a:gs pos="75000">
                    <a:srgbClr val="FF007F"/>
                  </a:gs>
                  <a:gs pos="95000">
                    <a:srgbClr val="FF9000"/>
                  </a:gs>
                </a:gsLst>
                <a:lin ang="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16E15AA-7F01-3A17-3DA9-35365B3DB579}"/>
                </a:ext>
              </a:extLst>
            </p:cNvPr>
            <p:cNvSpPr txBox="1"/>
            <p:nvPr/>
          </p:nvSpPr>
          <p:spPr>
            <a:xfrm>
              <a:off x="1494156" y="1935508"/>
              <a:ext cx="2165349" cy="29528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</a:pPr>
              <a:r>
                <a:rPr lang="en-US" sz="1600" dirty="0">
                  <a:solidFill>
                    <a:schemeClr val="bg1"/>
                  </a:solidFill>
                  <a:ea typeface="ＭＳ Ｐゴシック" charset="0"/>
                </a:rPr>
                <a:t>Decommission Readiness</a:t>
              </a:r>
              <a:endParaRPr lang="en-GB" sz="1600" kern="1200" dirty="0" err="1">
                <a:solidFill>
                  <a:schemeClr val="bg1"/>
                </a:solidFill>
                <a:latin typeface="+mn-lt"/>
                <a:ea typeface="ＭＳ Ｐゴシック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7119B4F-30C3-8019-F23B-73C7F3997DBE}"/>
                </a:ext>
              </a:extLst>
            </p:cNvPr>
            <p:cNvSpPr txBox="1"/>
            <p:nvPr/>
          </p:nvSpPr>
          <p:spPr>
            <a:xfrm>
              <a:off x="1214755" y="2446363"/>
              <a:ext cx="2724150" cy="86177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algn="ctr" defTabSz="912276" fontAlgn="base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  <a:defRPr sz="1400">
                  <a:solidFill>
                    <a:schemeClr val="bg1"/>
                  </a:solidFill>
                  <a:ea typeface="ＭＳ Ｐゴシック" charset="0"/>
                </a:defRPr>
              </a:lvl1pPr>
            </a:lstStyle>
            <a:p>
              <a:r>
                <a:rPr lang="en-US" dirty="0"/>
                <a:t>The POC produces a concrete backlog for replacing CTT dependencies and retiring legacy OCIDs.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203168F-3554-2185-2FED-979CE11A7AAB}"/>
              </a:ext>
            </a:extLst>
          </p:cNvPr>
          <p:cNvGrpSpPr/>
          <p:nvPr/>
        </p:nvGrpSpPr>
        <p:grpSpPr>
          <a:xfrm>
            <a:off x="4653915" y="4197350"/>
            <a:ext cx="2880360" cy="2012950"/>
            <a:chOff x="1136650" y="1866900"/>
            <a:chExt cx="2880360" cy="2012950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CF24AE99-A0D4-AC7E-BA48-F79AF2227F07}"/>
                </a:ext>
              </a:extLst>
            </p:cNvPr>
            <p:cNvSpPr/>
            <p:nvPr/>
          </p:nvSpPr>
          <p:spPr>
            <a:xfrm>
              <a:off x="1138555" y="1866900"/>
              <a:ext cx="2876550" cy="2012950"/>
            </a:xfrm>
            <a:prstGeom prst="roundRect">
              <a:avLst>
                <a:gd name="adj" fmla="val 8515"/>
              </a:avLst>
            </a:prstGeom>
            <a:noFill/>
            <a:ln w="158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 anchorCtr="0">
              <a:noAutofit/>
            </a:bodyPr>
            <a:lstStyle/>
            <a:p>
              <a:pPr marL="182880" indent="-182880" algn="l">
                <a:buFont typeface="Arial" panose="020B0604020202020204" pitchFamily="34" charset="0"/>
                <a:buChar char="•"/>
              </a:pPr>
              <a:endParaRPr lang="en-GB" sz="1600" dirty="0">
                <a:solidFill>
                  <a:schemeClr val="bg1"/>
                </a:solidFill>
              </a:endParaRP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33D2EA4-6E7B-28D7-0406-709CE07B206B}"/>
                </a:ext>
              </a:extLst>
            </p:cNvPr>
            <p:cNvCxnSpPr>
              <a:cxnSpLocks/>
            </p:cNvCxnSpPr>
            <p:nvPr/>
          </p:nvCxnSpPr>
          <p:spPr>
            <a:xfrm>
              <a:off x="1136650" y="2312549"/>
              <a:ext cx="2880360" cy="0"/>
            </a:xfrm>
            <a:prstGeom prst="line">
              <a:avLst/>
            </a:prstGeom>
            <a:noFill/>
            <a:ln w="79375">
              <a:gradFill flip="none" rotWithShape="1">
                <a:gsLst>
                  <a:gs pos="37000">
                    <a:srgbClr val="02C8FF"/>
                  </a:gs>
                  <a:gs pos="5000">
                    <a:srgbClr val="0A60FF"/>
                  </a:gs>
                  <a:gs pos="44000">
                    <a:srgbClr val="02C8FF"/>
                  </a:gs>
                  <a:gs pos="75000">
                    <a:srgbClr val="FF007F"/>
                  </a:gs>
                  <a:gs pos="95000">
                    <a:srgbClr val="FF9000"/>
                  </a:gs>
                </a:gsLst>
                <a:lin ang="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C7945B8-2DC1-96B3-AAFE-113FB1F97BFF}"/>
                </a:ext>
              </a:extLst>
            </p:cNvPr>
            <p:cNvSpPr txBox="1"/>
            <p:nvPr/>
          </p:nvSpPr>
          <p:spPr>
            <a:xfrm>
              <a:off x="1494156" y="1935508"/>
              <a:ext cx="2165349" cy="29528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</a:pPr>
              <a:r>
                <a:rPr lang="en-US" sz="1600" dirty="0">
                  <a:solidFill>
                    <a:schemeClr val="bg1"/>
                  </a:solidFill>
                  <a:ea typeface="ＭＳ Ｐゴシック" charset="0"/>
                </a:rPr>
                <a:t>Governance Alignment</a:t>
              </a:r>
              <a:endParaRPr lang="en-GB" sz="1600" kern="1200" dirty="0" err="1">
                <a:solidFill>
                  <a:schemeClr val="bg1"/>
                </a:solidFill>
                <a:latin typeface="+mn-lt"/>
                <a:ea typeface="ＭＳ Ｐゴシック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2E1F1B1-FC95-2F31-6AFA-548E0034EA2B}"/>
                </a:ext>
              </a:extLst>
            </p:cNvPr>
            <p:cNvSpPr txBox="1"/>
            <p:nvPr/>
          </p:nvSpPr>
          <p:spPr>
            <a:xfrm>
              <a:off x="1214755" y="2600251"/>
              <a:ext cx="2724150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algn="ctr" defTabSz="912276" fontAlgn="base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  <a:defRPr sz="1400">
                  <a:solidFill>
                    <a:schemeClr val="bg1"/>
                  </a:solidFill>
                  <a:ea typeface="ＭＳ Ｐゴシック" charset="0"/>
                </a:defRPr>
              </a:lvl1pPr>
            </a:lstStyle>
            <a:p>
              <a:r>
                <a:rPr lang="en-US" dirty="0"/>
                <a:t>Data definitions for FY27 reporting can be applied consistently across Workfront and CTT.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15DBE44-16FF-D356-3D75-14BEE63FCE00}"/>
              </a:ext>
            </a:extLst>
          </p:cNvPr>
          <p:cNvGrpSpPr/>
          <p:nvPr/>
        </p:nvGrpSpPr>
        <p:grpSpPr>
          <a:xfrm>
            <a:off x="8173085" y="4197350"/>
            <a:ext cx="2880360" cy="2012950"/>
            <a:chOff x="1136650" y="1866900"/>
            <a:chExt cx="2880360" cy="2012950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96CB4FDD-4FB5-A229-85BD-AA11F76387B5}"/>
                </a:ext>
              </a:extLst>
            </p:cNvPr>
            <p:cNvSpPr/>
            <p:nvPr/>
          </p:nvSpPr>
          <p:spPr>
            <a:xfrm>
              <a:off x="1138555" y="1866900"/>
              <a:ext cx="2876550" cy="2012950"/>
            </a:xfrm>
            <a:prstGeom prst="roundRect">
              <a:avLst>
                <a:gd name="adj" fmla="val 8515"/>
              </a:avLst>
            </a:prstGeom>
            <a:noFill/>
            <a:ln w="158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 anchorCtr="0">
              <a:noAutofit/>
            </a:bodyPr>
            <a:lstStyle/>
            <a:p>
              <a:pPr marL="182880" indent="-182880" algn="l">
                <a:buFont typeface="Arial" panose="020B0604020202020204" pitchFamily="34" charset="0"/>
                <a:buChar char="•"/>
              </a:pPr>
              <a:endParaRPr lang="en-GB" sz="1600" dirty="0">
                <a:solidFill>
                  <a:schemeClr val="bg1"/>
                </a:solidFill>
              </a:endParaRP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4C847EA-FFDD-D8A9-434D-8CBFD1B628F6}"/>
                </a:ext>
              </a:extLst>
            </p:cNvPr>
            <p:cNvCxnSpPr>
              <a:cxnSpLocks/>
            </p:cNvCxnSpPr>
            <p:nvPr/>
          </p:nvCxnSpPr>
          <p:spPr>
            <a:xfrm>
              <a:off x="1136650" y="2312549"/>
              <a:ext cx="2880360" cy="0"/>
            </a:xfrm>
            <a:prstGeom prst="line">
              <a:avLst/>
            </a:prstGeom>
            <a:noFill/>
            <a:ln w="79375">
              <a:gradFill flip="none" rotWithShape="1">
                <a:gsLst>
                  <a:gs pos="37000">
                    <a:srgbClr val="02C8FF"/>
                  </a:gs>
                  <a:gs pos="5000">
                    <a:srgbClr val="0A60FF"/>
                  </a:gs>
                  <a:gs pos="44000">
                    <a:srgbClr val="02C8FF"/>
                  </a:gs>
                  <a:gs pos="75000">
                    <a:srgbClr val="FF007F"/>
                  </a:gs>
                  <a:gs pos="95000">
                    <a:srgbClr val="FF9000"/>
                  </a:gs>
                </a:gsLst>
                <a:lin ang="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C07A5DC-5E93-72D5-62B9-CCF3EFE07534}"/>
                </a:ext>
              </a:extLst>
            </p:cNvPr>
            <p:cNvSpPr txBox="1"/>
            <p:nvPr/>
          </p:nvSpPr>
          <p:spPr>
            <a:xfrm>
              <a:off x="1494156" y="1935508"/>
              <a:ext cx="2165349" cy="29528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</a:pPr>
              <a:r>
                <a:rPr lang="en-US" sz="1600" dirty="0">
                  <a:solidFill>
                    <a:schemeClr val="bg1"/>
                  </a:solidFill>
                  <a:ea typeface="ＭＳ Ｐゴシック" charset="0"/>
                </a:rPr>
                <a:t>Risk Reduction</a:t>
              </a:r>
              <a:endParaRPr lang="en-GB" sz="1600" kern="1200" dirty="0" err="1">
                <a:solidFill>
                  <a:schemeClr val="bg1"/>
                </a:solidFill>
                <a:latin typeface="+mn-lt"/>
                <a:ea typeface="ＭＳ Ｐゴシック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2ABAA7D-004A-C84C-D891-B1ABC52D7482}"/>
                </a:ext>
              </a:extLst>
            </p:cNvPr>
            <p:cNvSpPr txBox="1"/>
            <p:nvPr/>
          </p:nvSpPr>
          <p:spPr>
            <a:xfrm>
              <a:off x="1214755" y="2600251"/>
              <a:ext cx="2724150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algn="ctr" defTabSz="912276" fontAlgn="base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  <a:defRPr sz="1400">
                  <a:solidFill>
                    <a:schemeClr val="bg1"/>
                  </a:solidFill>
                  <a:ea typeface="ＭＳ Ｐゴシック" charset="0"/>
                </a:defRPr>
              </a:lvl1pPr>
            </a:lstStyle>
            <a:p>
              <a:r>
                <a:rPr lang="en-US" dirty="0"/>
                <a:t>Teams not yet in Workfront can continue to operate while the company validates the target architecture.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504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7F522-9E5A-364A-EBA1-5F4C9F45D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 POC Scope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0E41E4-4E52-7E4F-6596-177D90401FAD}"/>
              </a:ext>
            </a:extLst>
          </p:cNvPr>
          <p:cNvSpPr txBox="1"/>
          <p:nvPr/>
        </p:nvSpPr>
        <p:spPr>
          <a:xfrm>
            <a:off x="701040" y="978408"/>
            <a:ext cx="1078992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algn="ctr" defTabSz="912276" fontAlgn="base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defRPr sz="1600">
                <a:solidFill>
                  <a:schemeClr val="accent2"/>
                </a:solidFill>
                <a:ea typeface="ＭＳ Ｐゴシック" charset="0"/>
              </a:defRPr>
            </a:lvl1pPr>
          </a:lstStyle>
          <a:p>
            <a:r>
              <a:rPr dirty="0"/>
              <a:t>Keep the proof focused enough to deliver evidence, but broad enough to test the real operating constraints.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4EA1B4F-6EE5-9F27-4889-E5B127DEB044}"/>
              </a:ext>
            </a:extLst>
          </p:cNvPr>
          <p:cNvGrpSpPr/>
          <p:nvPr/>
        </p:nvGrpSpPr>
        <p:grpSpPr>
          <a:xfrm>
            <a:off x="601980" y="1739900"/>
            <a:ext cx="2560320" cy="4139692"/>
            <a:chOff x="601980" y="1739900"/>
            <a:chExt cx="2560320" cy="413969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F1F81935-F928-1CB7-BB21-7D7899EF714D}"/>
                </a:ext>
              </a:extLst>
            </p:cNvPr>
            <p:cNvSpPr/>
            <p:nvPr/>
          </p:nvSpPr>
          <p:spPr>
            <a:xfrm>
              <a:off x="602615" y="1739900"/>
              <a:ext cx="2559050" cy="4139692"/>
            </a:xfrm>
            <a:prstGeom prst="roundRect">
              <a:avLst>
                <a:gd name="adj" fmla="val 9719"/>
              </a:avLst>
            </a:prstGeom>
            <a:noFill/>
            <a:ln w="158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 anchorCtr="0">
              <a:noAutofit/>
            </a:bodyPr>
            <a:lstStyle/>
            <a:p>
              <a:pPr marL="182880" indent="-182880" algn="l">
                <a:buFont typeface="Arial" panose="020B0604020202020204" pitchFamily="34" charset="0"/>
                <a:buChar char="•"/>
              </a:pPr>
              <a:endParaRPr lang="en-GB" sz="1600" dirty="0">
                <a:solidFill>
                  <a:schemeClr val="bg1"/>
                </a:solidFill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D6346F5-EFD7-262D-5382-2A45DCB7AE65}"/>
                </a:ext>
              </a:extLst>
            </p:cNvPr>
            <p:cNvCxnSpPr>
              <a:cxnSpLocks/>
            </p:cNvCxnSpPr>
            <p:nvPr/>
          </p:nvCxnSpPr>
          <p:spPr>
            <a:xfrm>
              <a:off x="601980" y="2236349"/>
              <a:ext cx="2560320" cy="0"/>
            </a:xfrm>
            <a:prstGeom prst="line">
              <a:avLst/>
            </a:prstGeom>
            <a:noFill/>
            <a:ln w="79375">
              <a:gradFill flip="none" rotWithShape="1">
                <a:gsLst>
                  <a:gs pos="37000">
                    <a:srgbClr val="02C8FF"/>
                  </a:gs>
                  <a:gs pos="5000">
                    <a:srgbClr val="0A60FF"/>
                  </a:gs>
                  <a:gs pos="44000">
                    <a:srgbClr val="02C8FF"/>
                  </a:gs>
                  <a:gs pos="75000">
                    <a:srgbClr val="FF007F"/>
                  </a:gs>
                  <a:gs pos="95000">
                    <a:srgbClr val="FF9000"/>
                  </a:gs>
                </a:gsLst>
                <a:lin ang="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DFC9615-C9D4-6588-292E-0EABD6335AD8}"/>
                </a:ext>
              </a:extLst>
            </p:cNvPr>
            <p:cNvSpPr txBox="1"/>
            <p:nvPr/>
          </p:nvSpPr>
          <p:spPr>
            <a:xfrm>
              <a:off x="799466" y="1836307"/>
              <a:ext cx="2165349" cy="29528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</a:pPr>
              <a:r>
                <a:rPr lang="en-US" sz="1600" dirty="0">
                  <a:solidFill>
                    <a:schemeClr val="bg1"/>
                  </a:solidFill>
                  <a:ea typeface="ＭＳ Ｐゴシック" charset="0"/>
                </a:rPr>
                <a:t>Data Model</a:t>
              </a:r>
              <a:endParaRPr lang="en-GB" sz="1600" kern="1200" dirty="0" err="1">
                <a:solidFill>
                  <a:schemeClr val="bg1"/>
                </a:solidFill>
                <a:latin typeface="+mn-lt"/>
                <a:ea typeface="ＭＳ Ｐゴシック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27FCD5C-3870-E164-8027-957CBCA08774}"/>
                </a:ext>
              </a:extLst>
            </p:cNvPr>
            <p:cNvSpPr txBox="1"/>
            <p:nvPr/>
          </p:nvSpPr>
          <p:spPr>
            <a:xfrm>
              <a:off x="706755" y="2711830"/>
              <a:ext cx="2350770" cy="262636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algn="ctr" defTabSz="912276" fontAlgn="base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  <a:defRPr sz="1400">
                  <a:solidFill>
                    <a:schemeClr val="bg1"/>
                  </a:solidFill>
                  <a:ea typeface="ＭＳ Ｐゴシック" charset="0"/>
                </a:defRPr>
              </a:lvl1pPr>
            </a:lstStyle>
            <a:p>
              <a:pPr marL="285750" indent="-285750" algn="l">
                <a:buFont typeface="Wingdings" panose="05000000000000000000" pitchFamily="2" charset="2"/>
                <a:buChar char="§"/>
              </a:pPr>
              <a:r>
                <a:rPr lang="en-US" dirty="0"/>
                <a:t>Define required Workfront-aligned attributes for FY27 reporting.</a:t>
              </a:r>
            </a:p>
            <a:p>
              <a:pPr marL="285750" indent="-285750" algn="l">
                <a:buFont typeface="Wingdings" panose="05000000000000000000" pitchFamily="2" charset="2"/>
                <a:buChar char="§"/>
              </a:pPr>
              <a:r>
                <a:rPr lang="en-US" dirty="0"/>
                <a:t>Identify which fields must live in CTT during the bridge period.</a:t>
              </a:r>
            </a:p>
            <a:p>
              <a:pPr marL="285750" indent="-285750" algn="l">
                <a:buFont typeface="Wingdings" panose="05000000000000000000" pitchFamily="2" charset="2"/>
                <a:buChar char="§"/>
              </a:pPr>
              <a:r>
                <a:rPr lang="en-US" dirty="0"/>
                <a:t>Document mapping between Workfront Task ID, Activity ID, Offer ID and UTM_ID.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6AA890A-7113-0D05-D0BB-65D9029F49C0}"/>
              </a:ext>
            </a:extLst>
          </p:cNvPr>
          <p:cNvGrpSpPr/>
          <p:nvPr/>
        </p:nvGrpSpPr>
        <p:grpSpPr>
          <a:xfrm>
            <a:off x="3478530" y="1739900"/>
            <a:ext cx="2560320" cy="4139692"/>
            <a:chOff x="3478530" y="1739900"/>
            <a:chExt cx="2560320" cy="4139692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49C46881-41CB-BF27-7A4C-3F68B7599F81}"/>
                </a:ext>
              </a:extLst>
            </p:cNvPr>
            <p:cNvSpPr/>
            <p:nvPr/>
          </p:nvSpPr>
          <p:spPr>
            <a:xfrm>
              <a:off x="3479165" y="1739900"/>
              <a:ext cx="2559050" cy="4139692"/>
            </a:xfrm>
            <a:prstGeom prst="roundRect">
              <a:avLst>
                <a:gd name="adj" fmla="val 9719"/>
              </a:avLst>
            </a:prstGeom>
            <a:noFill/>
            <a:ln w="158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 anchorCtr="0">
              <a:noAutofit/>
            </a:bodyPr>
            <a:lstStyle/>
            <a:p>
              <a:pPr marL="182880" indent="-182880" algn="l">
                <a:buFont typeface="Arial" panose="020B0604020202020204" pitchFamily="34" charset="0"/>
                <a:buChar char="•"/>
              </a:pPr>
              <a:endParaRPr lang="en-GB" sz="1600" dirty="0">
                <a:solidFill>
                  <a:schemeClr val="bg1"/>
                </a:solidFill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F9EB2BF-AB66-22E5-63D5-7034DB7AFA17}"/>
                </a:ext>
              </a:extLst>
            </p:cNvPr>
            <p:cNvCxnSpPr>
              <a:cxnSpLocks/>
            </p:cNvCxnSpPr>
            <p:nvPr/>
          </p:nvCxnSpPr>
          <p:spPr>
            <a:xfrm>
              <a:off x="3478530" y="2236349"/>
              <a:ext cx="2560320" cy="0"/>
            </a:xfrm>
            <a:prstGeom prst="line">
              <a:avLst/>
            </a:prstGeom>
            <a:noFill/>
            <a:ln w="79375">
              <a:gradFill flip="none" rotWithShape="1">
                <a:gsLst>
                  <a:gs pos="37000">
                    <a:srgbClr val="02C8FF"/>
                  </a:gs>
                  <a:gs pos="5000">
                    <a:srgbClr val="0A60FF"/>
                  </a:gs>
                  <a:gs pos="44000">
                    <a:srgbClr val="02C8FF"/>
                  </a:gs>
                  <a:gs pos="75000">
                    <a:srgbClr val="FF007F"/>
                  </a:gs>
                  <a:gs pos="95000">
                    <a:srgbClr val="FF9000"/>
                  </a:gs>
                </a:gsLst>
                <a:lin ang="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8415A05-4257-3507-8CF8-128E7E207E28}"/>
                </a:ext>
              </a:extLst>
            </p:cNvPr>
            <p:cNvSpPr txBox="1"/>
            <p:nvPr/>
          </p:nvSpPr>
          <p:spPr>
            <a:xfrm>
              <a:off x="3676016" y="1836307"/>
              <a:ext cx="2165349" cy="29528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</a:pPr>
              <a:r>
                <a:rPr lang="en-US" sz="1600" dirty="0">
                  <a:solidFill>
                    <a:schemeClr val="bg1"/>
                  </a:solidFill>
                  <a:ea typeface="ＭＳ Ｐゴシック" charset="0"/>
                </a:rPr>
                <a:t>Integration</a:t>
              </a:r>
              <a:endParaRPr lang="en-GB" sz="1600" kern="1200" dirty="0" err="1">
                <a:solidFill>
                  <a:schemeClr val="bg1"/>
                </a:solidFill>
                <a:latin typeface="+mn-lt"/>
                <a:ea typeface="ＭＳ Ｐゴシック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1F38CC1-BF85-E10C-4DB7-DB8B4F8C9CF1}"/>
                </a:ext>
              </a:extLst>
            </p:cNvPr>
            <p:cNvSpPr txBox="1"/>
            <p:nvPr/>
          </p:nvSpPr>
          <p:spPr>
            <a:xfrm>
              <a:off x="3583305" y="2711830"/>
              <a:ext cx="2350770" cy="198002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marL="285750" indent="-285750" defTabSz="912276" fontAlgn="base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bg1"/>
                  </a:solidFill>
                  <a:ea typeface="ＭＳ Ｐゴシック" charset="0"/>
                </a:defRPr>
              </a:lvl1pPr>
            </a:lstStyle>
            <a:p>
              <a:r>
                <a:rPr lang="en-US" dirty="0"/>
                <a:t>Create Activity IDs for selected Workfront channel activations.</a:t>
              </a:r>
            </a:p>
            <a:p>
              <a:r>
                <a:rPr lang="en-US" dirty="0"/>
                <a:t>Create Offer IDs for selected Workfront content activations.</a:t>
              </a:r>
            </a:p>
            <a:p>
              <a:r>
                <a:rPr lang="en-US" dirty="0"/>
                <a:t>Write generated IDs and back to Workfront.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6F3DBB6-0DB9-702B-171A-C3EA0A445085}"/>
              </a:ext>
            </a:extLst>
          </p:cNvPr>
          <p:cNvGrpSpPr/>
          <p:nvPr/>
        </p:nvGrpSpPr>
        <p:grpSpPr>
          <a:xfrm>
            <a:off x="6355080" y="1739900"/>
            <a:ext cx="2560320" cy="4139692"/>
            <a:chOff x="6355080" y="1739900"/>
            <a:chExt cx="2560320" cy="4139692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BA9E90E9-CFF9-1208-F8D4-80BF2A4BB9C9}"/>
                </a:ext>
              </a:extLst>
            </p:cNvPr>
            <p:cNvSpPr/>
            <p:nvPr/>
          </p:nvSpPr>
          <p:spPr>
            <a:xfrm>
              <a:off x="6355715" y="1739900"/>
              <a:ext cx="2559050" cy="4139692"/>
            </a:xfrm>
            <a:prstGeom prst="roundRect">
              <a:avLst>
                <a:gd name="adj" fmla="val 9719"/>
              </a:avLst>
            </a:prstGeom>
            <a:noFill/>
            <a:ln w="158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 anchorCtr="0">
              <a:noAutofit/>
            </a:bodyPr>
            <a:lstStyle/>
            <a:p>
              <a:pPr marL="182880" indent="-182880" algn="l">
                <a:buFont typeface="Arial" panose="020B0604020202020204" pitchFamily="34" charset="0"/>
                <a:buChar char="•"/>
              </a:pPr>
              <a:endParaRPr lang="en-GB" sz="1600" dirty="0">
                <a:solidFill>
                  <a:schemeClr val="bg1"/>
                </a:solidFill>
              </a:endParaRP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FB12043-9E29-D243-F10C-6731D9394C61}"/>
                </a:ext>
              </a:extLst>
            </p:cNvPr>
            <p:cNvCxnSpPr>
              <a:cxnSpLocks/>
            </p:cNvCxnSpPr>
            <p:nvPr/>
          </p:nvCxnSpPr>
          <p:spPr>
            <a:xfrm>
              <a:off x="6355080" y="2236349"/>
              <a:ext cx="2560320" cy="0"/>
            </a:xfrm>
            <a:prstGeom prst="line">
              <a:avLst/>
            </a:prstGeom>
            <a:noFill/>
            <a:ln w="79375">
              <a:gradFill flip="none" rotWithShape="1">
                <a:gsLst>
                  <a:gs pos="37000">
                    <a:srgbClr val="02C8FF"/>
                  </a:gs>
                  <a:gs pos="5000">
                    <a:srgbClr val="0A60FF"/>
                  </a:gs>
                  <a:gs pos="44000">
                    <a:srgbClr val="02C8FF"/>
                  </a:gs>
                  <a:gs pos="75000">
                    <a:srgbClr val="FF007F"/>
                  </a:gs>
                  <a:gs pos="95000">
                    <a:srgbClr val="FF9000"/>
                  </a:gs>
                </a:gsLst>
                <a:lin ang="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947519A-3F24-AD9B-3FAC-566F3E1218C0}"/>
                </a:ext>
              </a:extLst>
            </p:cNvPr>
            <p:cNvSpPr txBox="1"/>
            <p:nvPr/>
          </p:nvSpPr>
          <p:spPr>
            <a:xfrm>
              <a:off x="6552566" y="1836307"/>
              <a:ext cx="2165349" cy="29528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</a:pPr>
              <a:r>
                <a:rPr lang="en-US" sz="1600" dirty="0">
                  <a:solidFill>
                    <a:schemeClr val="bg1"/>
                  </a:solidFill>
                  <a:ea typeface="ＭＳ Ｐゴシック" charset="0"/>
                </a:rPr>
                <a:t>Reporting Proof</a:t>
              </a:r>
              <a:endParaRPr lang="en-GB" sz="1600" kern="1200" dirty="0" err="1">
                <a:solidFill>
                  <a:schemeClr val="bg1"/>
                </a:solidFill>
                <a:latin typeface="+mn-lt"/>
                <a:ea typeface="ＭＳ Ｐゴシック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621B317-B902-07F5-9986-D1933782ADE0}"/>
                </a:ext>
              </a:extLst>
            </p:cNvPr>
            <p:cNvSpPr txBox="1"/>
            <p:nvPr/>
          </p:nvSpPr>
          <p:spPr>
            <a:xfrm>
              <a:off x="6459855" y="2711830"/>
              <a:ext cx="2350770" cy="284180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marL="285750" indent="-285750" defTabSz="912276" fontAlgn="base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bg1"/>
                  </a:solidFill>
                  <a:ea typeface="ＭＳ Ｐゴシック" charset="0"/>
                </a:defRPr>
              </a:lvl1pPr>
            </a:lstStyle>
            <a:p>
              <a:r>
                <a:rPr lang="en-US" dirty="0"/>
                <a:t>Build a pilot dataset path spanning Workfront-originated and CTT-originated activity.</a:t>
              </a:r>
            </a:p>
            <a:p>
              <a:r>
                <a:rPr lang="en-US" dirty="0"/>
                <a:t>Validate that online, offline and non-Workfront activity can be segmented consistently.</a:t>
              </a:r>
            </a:p>
            <a:p>
              <a:r>
                <a:rPr lang="en-US" dirty="0"/>
                <a:t>Compare outputs to current attribution/funnel reporting expectations.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12C0922-7DD0-79D1-325A-B6C894DE3884}"/>
              </a:ext>
            </a:extLst>
          </p:cNvPr>
          <p:cNvGrpSpPr/>
          <p:nvPr/>
        </p:nvGrpSpPr>
        <p:grpSpPr>
          <a:xfrm>
            <a:off x="9180830" y="1739900"/>
            <a:ext cx="2560320" cy="4139692"/>
            <a:chOff x="9180830" y="1739900"/>
            <a:chExt cx="2560320" cy="4139692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B70DC07D-3EF7-744F-8965-E4B811BFB1C6}"/>
                </a:ext>
              </a:extLst>
            </p:cNvPr>
            <p:cNvSpPr/>
            <p:nvPr/>
          </p:nvSpPr>
          <p:spPr>
            <a:xfrm>
              <a:off x="9181465" y="1739900"/>
              <a:ext cx="2559050" cy="4139692"/>
            </a:xfrm>
            <a:prstGeom prst="roundRect">
              <a:avLst>
                <a:gd name="adj" fmla="val 9719"/>
              </a:avLst>
            </a:prstGeom>
            <a:noFill/>
            <a:ln w="158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 anchorCtr="0">
              <a:noAutofit/>
            </a:bodyPr>
            <a:lstStyle/>
            <a:p>
              <a:pPr marL="182880" indent="-182880" algn="l">
                <a:buFont typeface="Arial" panose="020B0604020202020204" pitchFamily="34" charset="0"/>
                <a:buChar char="•"/>
              </a:pPr>
              <a:endParaRPr lang="en-GB" sz="1600" dirty="0">
                <a:solidFill>
                  <a:schemeClr val="bg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646F046-AC8F-40A1-C47B-4474D9470C11}"/>
                </a:ext>
              </a:extLst>
            </p:cNvPr>
            <p:cNvCxnSpPr>
              <a:cxnSpLocks/>
            </p:cNvCxnSpPr>
            <p:nvPr/>
          </p:nvCxnSpPr>
          <p:spPr>
            <a:xfrm>
              <a:off x="9180830" y="2236349"/>
              <a:ext cx="2560320" cy="0"/>
            </a:xfrm>
            <a:prstGeom prst="line">
              <a:avLst/>
            </a:prstGeom>
            <a:noFill/>
            <a:ln w="79375">
              <a:gradFill flip="none" rotWithShape="1">
                <a:gsLst>
                  <a:gs pos="37000">
                    <a:srgbClr val="02C8FF"/>
                  </a:gs>
                  <a:gs pos="5000">
                    <a:srgbClr val="0A60FF"/>
                  </a:gs>
                  <a:gs pos="44000">
                    <a:srgbClr val="02C8FF"/>
                  </a:gs>
                  <a:gs pos="75000">
                    <a:srgbClr val="FF007F"/>
                  </a:gs>
                  <a:gs pos="95000">
                    <a:srgbClr val="FF9000"/>
                  </a:gs>
                </a:gsLst>
                <a:lin ang="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C629987-D24C-AA2F-4B3D-EC498DA1DF91}"/>
                </a:ext>
              </a:extLst>
            </p:cNvPr>
            <p:cNvSpPr txBox="1"/>
            <p:nvPr/>
          </p:nvSpPr>
          <p:spPr>
            <a:xfrm>
              <a:off x="9378316" y="1836307"/>
              <a:ext cx="2165349" cy="29528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</a:pPr>
              <a:r>
                <a:rPr lang="en-US" sz="1600" dirty="0">
                  <a:solidFill>
                    <a:schemeClr val="bg1"/>
                  </a:solidFill>
                  <a:ea typeface="ＭＳ Ｐゴシック" charset="0"/>
                </a:rPr>
                <a:t>Exit Path</a:t>
              </a:r>
              <a:endParaRPr lang="en-GB" sz="1600" kern="1200" dirty="0" err="1">
                <a:solidFill>
                  <a:schemeClr val="bg1"/>
                </a:solidFill>
                <a:latin typeface="+mn-lt"/>
                <a:ea typeface="ＭＳ Ｐゴシック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68E4932-D8FF-091E-2107-1EFD59E8FBE6}"/>
                </a:ext>
              </a:extLst>
            </p:cNvPr>
            <p:cNvSpPr txBox="1"/>
            <p:nvPr/>
          </p:nvSpPr>
          <p:spPr>
            <a:xfrm>
              <a:off x="9285605" y="2711830"/>
              <a:ext cx="2350770" cy="154914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marL="285750" indent="-285750" defTabSz="912276" fontAlgn="base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bg1"/>
                  </a:solidFill>
                  <a:ea typeface="ＭＳ Ｐゴシック" charset="0"/>
                </a:defRPr>
              </a:lvl1pPr>
            </a:lstStyle>
            <a:p>
              <a:r>
                <a:rPr lang="en-US" dirty="0"/>
                <a:t>Produce cutover criteria.</a:t>
              </a:r>
            </a:p>
            <a:p>
              <a:r>
                <a:rPr lang="en-US" dirty="0"/>
                <a:t>Identify decommission blockers.</a:t>
              </a:r>
            </a:p>
            <a:p>
              <a:r>
                <a:rPr lang="en-US" dirty="0"/>
                <a:t>Create a prioritized integration and reporting migration backlog.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8761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C10AD-44B7-8BCD-9FF7-1A128FBCC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Phased Delivery Actions</a:t>
            </a:r>
            <a:endParaRPr lang="en-GB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FE626202-AB28-3744-8B68-8804FDA241E9}"/>
              </a:ext>
            </a:extLst>
          </p:cNvPr>
          <p:cNvSpPr/>
          <p:nvPr/>
        </p:nvSpPr>
        <p:spPr>
          <a:xfrm>
            <a:off x="1428750" y="719666"/>
            <a:ext cx="10363200" cy="5418667"/>
          </a:xfrm>
          <a:prstGeom prst="rightArrow">
            <a:avLst/>
          </a:prstGeom>
          <a:solidFill>
            <a:schemeClr val="tx1">
              <a:lumMod val="95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6C0042-48AE-711E-E399-C71F927CE6FE}"/>
              </a:ext>
            </a:extLst>
          </p:cNvPr>
          <p:cNvSpPr txBox="1"/>
          <p:nvPr/>
        </p:nvSpPr>
        <p:spPr>
          <a:xfrm>
            <a:off x="2396911" y="978408"/>
            <a:ext cx="7398179" cy="33855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algn="ctr" defTabSz="912276" fontAlgn="base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defRPr sz="1600">
                <a:solidFill>
                  <a:schemeClr val="accent2"/>
                </a:solidFill>
                <a:ea typeface="ＭＳ Ｐゴシック" charset="0"/>
              </a:defRPr>
            </a:lvl1pPr>
          </a:lstStyle>
          <a:p>
            <a:r>
              <a:rPr dirty="0"/>
              <a:t>Each phase creates a decommission asset, not just a temporary integration.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5A894EB-E59E-E0BC-B406-AD78899D3327}"/>
              </a:ext>
            </a:extLst>
          </p:cNvPr>
          <p:cNvGrpSpPr/>
          <p:nvPr/>
        </p:nvGrpSpPr>
        <p:grpSpPr>
          <a:xfrm>
            <a:off x="2122000" y="2345266"/>
            <a:ext cx="1883664" cy="2167466"/>
            <a:chOff x="2122000" y="2345266"/>
            <a:chExt cx="1883664" cy="2167466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E1D4142-3A41-08AA-89E8-5517CE720AA2}"/>
                </a:ext>
              </a:extLst>
            </p:cNvPr>
            <p:cNvSpPr/>
            <p:nvPr/>
          </p:nvSpPr>
          <p:spPr>
            <a:xfrm>
              <a:off x="2123638" y="2345266"/>
              <a:ext cx="1880389" cy="2167466"/>
            </a:xfrm>
            <a:custGeom>
              <a:avLst/>
              <a:gdLst>
                <a:gd name="csX0" fmla="*/ 0 w 1880389"/>
                <a:gd name="csY0" fmla="*/ 313404 h 2167466"/>
                <a:gd name="csX1" fmla="*/ 313404 w 1880389"/>
                <a:gd name="csY1" fmla="*/ 0 h 2167466"/>
                <a:gd name="csX2" fmla="*/ 1566985 w 1880389"/>
                <a:gd name="csY2" fmla="*/ 0 h 2167466"/>
                <a:gd name="csX3" fmla="*/ 1880389 w 1880389"/>
                <a:gd name="csY3" fmla="*/ 313404 h 2167466"/>
                <a:gd name="csX4" fmla="*/ 1880389 w 1880389"/>
                <a:gd name="csY4" fmla="*/ 1854062 h 2167466"/>
                <a:gd name="csX5" fmla="*/ 1566985 w 1880389"/>
                <a:gd name="csY5" fmla="*/ 2167466 h 2167466"/>
                <a:gd name="csX6" fmla="*/ 313404 w 1880389"/>
                <a:gd name="csY6" fmla="*/ 2167466 h 2167466"/>
                <a:gd name="csX7" fmla="*/ 0 w 1880389"/>
                <a:gd name="csY7" fmla="*/ 1854062 h 2167466"/>
                <a:gd name="csX8" fmla="*/ 0 w 1880389"/>
                <a:gd name="csY8" fmla="*/ 313404 h 21674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880389" h="2167466">
                  <a:moveTo>
                    <a:pt x="0" y="313404"/>
                  </a:moveTo>
                  <a:cubicBezTo>
                    <a:pt x="0" y="140316"/>
                    <a:pt x="140316" y="0"/>
                    <a:pt x="313404" y="0"/>
                  </a:cubicBezTo>
                  <a:lnTo>
                    <a:pt x="1566985" y="0"/>
                  </a:lnTo>
                  <a:cubicBezTo>
                    <a:pt x="1740073" y="0"/>
                    <a:pt x="1880389" y="140316"/>
                    <a:pt x="1880389" y="313404"/>
                  </a:cubicBezTo>
                  <a:lnTo>
                    <a:pt x="1880389" y="1854062"/>
                  </a:lnTo>
                  <a:cubicBezTo>
                    <a:pt x="1880389" y="2027150"/>
                    <a:pt x="1740073" y="2167466"/>
                    <a:pt x="1566985" y="2167466"/>
                  </a:cubicBezTo>
                  <a:lnTo>
                    <a:pt x="313404" y="2167466"/>
                  </a:lnTo>
                  <a:cubicBezTo>
                    <a:pt x="140316" y="2167466"/>
                    <a:pt x="0" y="2027150"/>
                    <a:pt x="0" y="1854062"/>
                  </a:cubicBezTo>
                  <a:lnTo>
                    <a:pt x="0" y="313404"/>
                  </a:lnTo>
                  <a:close/>
                </a:path>
              </a:pathLst>
            </a:custGeom>
            <a:noFill/>
            <a:ln w="158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 anchorCtr="0">
              <a:no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Align</a:t>
              </a:r>
              <a:endParaRPr lang="en-GB" sz="1600" dirty="0">
                <a:solidFill>
                  <a:schemeClr val="bg1"/>
                </a:solidFill>
              </a:endParaRP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1E87634-CF79-083D-A72D-2215203BD429}"/>
                </a:ext>
              </a:extLst>
            </p:cNvPr>
            <p:cNvCxnSpPr>
              <a:cxnSpLocks/>
            </p:cNvCxnSpPr>
            <p:nvPr/>
          </p:nvCxnSpPr>
          <p:spPr>
            <a:xfrm>
              <a:off x="2122000" y="2909449"/>
              <a:ext cx="1883664" cy="0"/>
            </a:xfrm>
            <a:prstGeom prst="line">
              <a:avLst/>
            </a:prstGeom>
            <a:noFill/>
            <a:ln w="79375">
              <a:gradFill flip="none" rotWithShape="1">
                <a:gsLst>
                  <a:gs pos="37000">
                    <a:srgbClr val="02C8FF"/>
                  </a:gs>
                  <a:gs pos="5000">
                    <a:srgbClr val="0A60FF"/>
                  </a:gs>
                  <a:gs pos="44000">
                    <a:srgbClr val="02C8FF"/>
                  </a:gs>
                  <a:gs pos="75000">
                    <a:srgbClr val="FF007F"/>
                  </a:gs>
                  <a:gs pos="95000">
                    <a:srgbClr val="FF9000"/>
                  </a:gs>
                </a:gsLst>
                <a:lin ang="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1406A2B-80F3-1E26-A499-37E0CCBDF6AD}"/>
                </a:ext>
              </a:extLst>
            </p:cNvPr>
            <p:cNvSpPr txBox="1"/>
            <p:nvPr/>
          </p:nvSpPr>
          <p:spPr>
            <a:xfrm>
              <a:off x="2161659" y="3091301"/>
              <a:ext cx="1804346" cy="102425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 defTabSz="912276" fontAlgn="base">
                <a:spcAft>
                  <a:spcPts val="1000"/>
                </a:spcAft>
                <a:buClr>
                  <a:schemeClr val="bg1"/>
                </a:buClr>
                <a:buSzPct val="100000"/>
              </a:pPr>
              <a:r>
                <a:rPr lang="en-US" sz="1200" dirty="0">
                  <a:solidFill>
                    <a:schemeClr val="bg1"/>
                  </a:solidFill>
                </a:rPr>
                <a:t>Confirm POC pilot, success metrics, target attributes and governance owners.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CA404DF-A498-6AC1-BA84-2D3A1E912E11}"/>
              </a:ext>
            </a:extLst>
          </p:cNvPr>
          <p:cNvGrpSpPr/>
          <p:nvPr/>
        </p:nvGrpSpPr>
        <p:grpSpPr>
          <a:xfrm>
            <a:off x="4203803" y="2345266"/>
            <a:ext cx="1883664" cy="2167466"/>
            <a:chOff x="4203803" y="2345266"/>
            <a:chExt cx="1883664" cy="216746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51BD84C-E634-1554-128C-0EE82CEBAF1B}"/>
                </a:ext>
              </a:extLst>
            </p:cNvPr>
            <p:cNvSpPr/>
            <p:nvPr/>
          </p:nvSpPr>
          <p:spPr>
            <a:xfrm>
              <a:off x="4205441" y="2345266"/>
              <a:ext cx="1880389" cy="2167466"/>
            </a:xfrm>
            <a:custGeom>
              <a:avLst/>
              <a:gdLst>
                <a:gd name="csX0" fmla="*/ 0 w 1880389"/>
                <a:gd name="csY0" fmla="*/ 313404 h 2167466"/>
                <a:gd name="csX1" fmla="*/ 313404 w 1880389"/>
                <a:gd name="csY1" fmla="*/ 0 h 2167466"/>
                <a:gd name="csX2" fmla="*/ 1566985 w 1880389"/>
                <a:gd name="csY2" fmla="*/ 0 h 2167466"/>
                <a:gd name="csX3" fmla="*/ 1880389 w 1880389"/>
                <a:gd name="csY3" fmla="*/ 313404 h 2167466"/>
                <a:gd name="csX4" fmla="*/ 1880389 w 1880389"/>
                <a:gd name="csY4" fmla="*/ 1854062 h 2167466"/>
                <a:gd name="csX5" fmla="*/ 1566985 w 1880389"/>
                <a:gd name="csY5" fmla="*/ 2167466 h 2167466"/>
                <a:gd name="csX6" fmla="*/ 313404 w 1880389"/>
                <a:gd name="csY6" fmla="*/ 2167466 h 2167466"/>
                <a:gd name="csX7" fmla="*/ 0 w 1880389"/>
                <a:gd name="csY7" fmla="*/ 1854062 h 2167466"/>
                <a:gd name="csX8" fmla="*/ 0 w 1880389"/>
                <a:gd name="csY8" fmla="*/ 313404 h 21674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880389" h="2167466">
                  <a:moveTo>
                    <a:pt x="0" y="313404"/>
                  </a:moveTo>
                  <a:cubicBezTo>
                    <a:pt x="0" y="140316"/>
                    <a:pt x="140316" y="0"/>
                    <a:pt x="313404" y="0"/>
                  </a:cubicBezTo>
                  <a:lnTo>
                    <a:pt x="1566985" y="0"/>
                  </a:lnTo>
                  <a:cubicBezTo>
                    <a:pt x="1740073" y="0"/>
                    <a:pt x="1880389" y="140316"/>
                    <a:pt x="1880389" y="313404"/>
                  </a:cubicBezTo>
                  <a:lnTo>
                    <a:pt x="1880389" y="1854062"/>
                  </a:lnTo>
                  <a:cubicBezTo>
                    <a:pt x="1880389" y="2027150"/>
                    <a:pt x="1740073" y="2167466"/>
                    <a:pt x="1566985" y="2167466"/>
                  </a:cubicBezTo>
                  <a:lnTo>
                    <a:pt x="313404" y="2167466"/>
                  </a:lnTo>
                  <a:cubicBezTo>
                    <a:pt x="140316" y="2167466"/>
                    <a:pt x="0" y="2027150"/>
                    <a:pt x="0" y="1854062"/>
                  </a:cubicBezTo>
                  <a:lnTo>
                    <a:pt x="0" y="313404"/>
                  </a:lnTo>
                  <a:close/>
                </a:path>
              </a:pathLst>
            </a:custGeom>
            <a:noFill/>
            <a:ln w="158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 anchorCtr="0">
              <a:no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Build</a:t>
              </a:r>
              <a:endParaRPr lang="en-GB" sz="1600" dirty="0">
                <a:solidFill>
                  <a:schemeClr val="bg1"/>
                </a:solidFill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D15F4B7-0893-1E5C-212C-D9D97BD3691A}"/>
                </a:ext>
              </a:extLst>
            </p:cNvPr>
            <p:cNvCxnSpPr>
              <a:cxnSpLocks/>
            </p:cNvCxnSpPr>
            <p:nvPr/>
          </p:nvCxnSpPr>
          <p:spPr>
            <a:xfrm>
              <a:off x="4203803" y="2909449"/>
              <a:ext cx="1883664" cy="0"/>
            </a:xfrm>
            <a:prstGeom prst="line">
              <a:avLst/>
            </a:prstGeom>
            <a:noFill/>
            <a:ln w="79375">
              <a:gradFill flip="none" rotWithShape="1">
                <a:gsLst>
                  <a:gs pos="37000">
                    <a:srgbClr val="02C8FF"/>
                  </a:gs>
                  <a:gs pos="5000">
                    <a:srgbClr val="0A60FF"/>
                  </a:gs>
                  <a:gs pos="44000">
                    <a:srgbClr val="02C8FF"/>
                  </a:gs>
                  <a:gs pos="75000">
                    <a:srgbClr val="FF007F"/>
                  </a:gs>
                  <a:gs pos="95000">
                    <a:srgbClr val="FF9000"/>
                  </a:gs>
                </a:gsLst>
                <a:lin ang="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690C055-AFC6-71FC-B51B-0F69B9C06029}"/>
                </a:ext>
              </a:extLst>
            </p:cNvPr>
            <p:cNvSpPr txBox="1"/>
            <p:nvPr/>
          </p:nvSpPr>
          <p:spPr>
            <a:xfrm>
              <a:off x="4243462" y="3142101"/>
              <a:ext cx="1804346" cy="102425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en-US"/>
              </a:defPPr>
              <a:lvl1pPr algn="ctr" defTabSz="912276" fontAlgn="base">
                <a:spcAft>
                  <a:spcPts val="1000"/>
                </a:spcAft>
                <a:buClr>
                  <a:schemeClr val="bg1"/>
                </a:buClr>
                <a:buSzPct val="100000"/>
                <a:defRPr sz="1200">
                  <a:solidFill>
                    <a:schemeClr val="bg1"/>
                  </a:solidFill>
                </a:defRPr>
              </a:lvl1pPr>
            </a:lstStyle>
            <a:p>
              <a:r>
                <a:rPr lang="en-US" dirty="0"/>
                <a:t>Configure CTT fields and Workfront-to-CTT ID creation/write-back flow.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90C422D-E7BE-DA77-1FE7-B8EF9B841825}"/>
              </a:ext>
            </a:extLst>
          </p:cNvPr>
          <p:cNvGrpSpPr/>
          <p:nvPr/>
        </p:nvGrpSpPr>
        <p:grpSpPr>
          <a:xfrm>
            <a:off x="6285607" y="2345266"/>
            <a:ext cx="1883664" cy="2167466"/>
            <a:chOff x="6285607" y="2345266"/>
            <a:chExt cx="1883664" cy="216746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3C201ED-E43B-5ABC-8A81-A9F171349845}"/>
                </a:ext>
              </a:extLst>
            </p:cNvPr>
            <p:cNvSpPr/>
            <p:nvPr/>
          </p:nvSpPr>
          <p:spPr>
            <a:xfrm>
              <a:off x="6287245" y="2345266"/>
              <a:ext cx="1880389" cy="2167466"/>
            </a:xfrm>
            <a:custGeom>
              <a:avLst/>
              <a:gdLst>
                <a:gd name="csX0" fmla="*/ 0 w 1880389"/>
                <a:gd name="csY0" fmla="*/ 313404 h 2167466"/>
                <a:gd name="csX1" fmla="*/ 313404 w 1880389"/>
                <a:gd name="csY1" fmla="*/ 0 h 2167466"/>
                <a:gd name="csX2" fmla="*/ 1566985 w 1880389"/>
                <a:gd name="csY2" fmla="*/ 0 h 2167466"/>
                <a:gd name="csX3" fmla="*/ 1880389 w 1880389"/>
                <a:gd name="csY3" fmla="*/ 313404 h 2167466"/>
                <a:gd name="csX4" fmla="*/ 1880389 w 1880389"/>
                <a:gd name="csY4" fmla="*/ 1854062 h 2167466"/>
                <a:gd name="csX5" fmla="*/ 1566985 w 1880389"/>
                <a:gd name="csY5" fmla="*/ 2167466 h 2167466"/>
                <a:gd name="csX6" fmla="*/ 313404 w 1880389"/>
                <a:gd name="csY6" fmla="*/ 2167466 h 2167466"/>
                <a:gd name="csX7" fmla="*/ 0 w 1880389"/>
                <a:gd name="csY7" fmla="*/ 1854062 h 2167466"/>
                <a:gd name="csX8" fmla="*/ 0 w 1880389"/>
                <a:gd name="csY8" fmla="*/ 313404 h 21674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880389" h="2167466">
                  <a:moveTo>
                    <a:pt x="0" y="313404"/>
                  </a:moveTo>
                  <a:cubicBezTo>
                    <a:pt x="0" y="140316"/>
                    <a:pt x="140316" y="0"/>
                    <a:pt x="313404" y="0"/>
                  </a:cubicBezTo>
                  <a:lnTo>
                    <a:pt x="1566985" y="0"/>
                  </a:lnTo>
                  <a:cubicBezTo>
                    <a:pt x="1740073" y="0"/>
                    <a:pt x="1880389" y="140316"/>
                    <a:pt x="1880389" y="313404"/>
                  </a:cubicBezTo>
                  <a:lnTo>
                    <a:pt x="1880389" y="1854062"/>
                  </a:lnTo>
                  <a:cubicBezTo>
                    <a:pt x="1880389" y="2027150"/>
                    <a:pt x="1740073" y="2167466"/>
                    <a:pt x="1566985" y="2167466"/>
                  </a:cubicBezTo>
                  <a:lnTo>
                    <a:pt x="313404" y="2167466"/>
                  </a:lnTo>
                  <a:cubicBezTo>
                    <a:pt x="140316" y="2167466"/>
                    <a:pt x="0" y="2027150"/>
                    <a:pt x="0" y="1854062"/>
                  </a:cubicBezTo>
                  <a:lnTo>
                    <a:pt x="0" y="313404"/>
                  </a:lnTo>
                  <a:close/>
                </a:path>
              </a:pathLst>
            </a:custGeom>
            <a:noFill/>
            <a:ln w="158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 anchorCtr="0">
              <a:no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Validate</a:t>
              </a:r>
              <a:endParaRPr lang="en-GB" sz="1600" dirty="0">
                <a:solidFill>
                  <a:schemeClr val="bg1"/>
                </a:solidFill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62DA60F-FEA4-84D8-974B-FE01D4E76AEC}"/>
                </a:ext>
              </a:extLst>
            </p:cNvPr>
            <p:cNvCxnSpPr>
              <a:cxnSpLocks/>
            </p:cNvCxnSpPr>
            <p:nvPr/>
          </p:nvCxnSpPr>
          <p:spPr>
            <a:xfrm>
              <a:off x="6285607" y="2909449"/>
              <a:ext cx="1883664" cy="0"/>
            </a:xfrm>
            <a:prstGeom prst="line">
              <a:avLst/>
            </a:prstGeom>
            <a:noFill/>
            <a:ln w="79375">
              <a:gradFill flip="none" rotWithShape="1">
                <a:gsLst>
                  <a:gs pos="37000">
                    <a:srgbClr val="02C8FF"/>
                  </a:gs>
                  <a:gs pos="5000">
                    <a:srgbClr val="0A60FF"/>
                  </a:gs>
                  <a:gs pos="44000">
                    <a:srgbClr val="02C8FF"/>
                  </a:gs>
                  <a:gs pos="75000">
                    <a:srgbClr val="FF007F"/>
                  </a:gs>
                  <a:gs pos="95000">
                    <a:srgbClr val="FF9000"/>
                  </a:gs>
                </a:gsLst>
                <a:lin ang="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1804D28-C270-10D0-E7FF-8F9C98ED7278}"/>
                </a:ext>
              </a:extLst>
            </p:cNvPr>
            <p:cNvSpPr txBox="1"/>
            <p:nvPr/>
          </p:nvSpPr>
          <p:spPr>
            <a:xfrm>
              <a:off x="6325266" y="3091301"/>
              <a:ext cx="1804346" cy="102425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en-US"/>
              </a:defPPr>
              <a:lvl1pPr algn="ctr" defTabSz="912276" fontAlgn="base">
                <a:spcAft>
                  <a:spcPts val="1000"/>
                </a:spcAft>
                <a:buClr>
                  <a:schemeClr val="bg1"/>
                </a:buClr>
                <a:buSzPct val="100000"/>
                <a:defRPr sz="1200">
                  <a:solidFill>
                    <a:schemeClr val="bg1"/>
                  </a:solidFill>
                </a:defRPr>
              </a:lvl1pPr>
            </a:lstStyle>
            <a:p>
              <a:r>
                <a:rPr lang="en-US" dirty="0"/>
                <a:t>Run pilot activations, reconcile data quality and prove reporting continuity.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2256E67-BDCF-A8B9-CF7E-A7CC9A82234E}"/>
              </a:ext>
            </a:extLst>
          </p:cNvPr>
          <p:cNvGrpSpPr/>
          <p:nvPr/>
        </p:nvGrpSpPr>
        <p:grpSpPr>
          <a:xfrm>
            <a:off x="8367410" y="2345266"/>
            <a:ext cx="1883664" cy="2167466"/>
            <a:chOff x="8367410" y="2345266"/>
            <a:chExt cx="1883664" cy="2167466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A555355-88EC-B7FF-E7F9-BD9216CC83DE}"/>
                </a:ext>
              </a:extLst>
            </p:cNvPr>
            <p:cNvSpPr/>
            <p:nvPr/>
          </p:nvSpPr>
          <p:spPr>
            <a:xfrm>
              <a:off x="8369048" y="2345266"/>
              <a:ext cx="1880389" cy="2167466"/>
            </a:xfrm>
            <a:custGeom>
              <a:avLst/>
              <a:gdLst>
                <a:gd name="csX0" fmla="*/ 0 w 1880389"/>
                <a:gd name="csY0" fmla="*/ 313404 h 2167466"/>
                <a:gd name="csX1" fmla="*/ 313404 w 1880389"/>
                <a:gd name="csY1" fmla="*/ 0 h 2167466"/>
                <a:gd name="csX2" fmla="*/ 1566985 w 1880389"/>
                <a:gd name="csY2" fmla="*/ 0 h 2167466"/>
                <a:gd name="csX3" fmla="*/ 1880389 w 1880389"/>
                <a:gd name="csY3" fmla="*/ 313404 h 2167466"/>
                <a:gd name="csX4" fmla="*/ 1880389 w 1880389"/>
                <a:gd name="csY4" fmla="*/ 1854062 h 2167466"/>
                <a:gd name="csX5" fmla="*/ 1566985 w 1880389"/>
                <a:gd name="csY5" fmla="*/ 2167466 h 2167466"/>
                <a:gd name="csX6" fmla="*/ 313404 w 1880389"/>
                <a:gd name="csY6" fmla="*/ 2167466 h 2167466"/>
                <a:gd name="csX7" fmla="*/ 0 w 1880389"/>
                <a:gd name="csY7" fmla="*/ 1854062 h 2167466"/>
                <a:gd name="csX8" fmla="*/ 0 w 1880389"/>
                <a:gd name="csY8" fmla="*/ 313404 h 21674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880389" h="2167466">
                  <a:moveTo>
                    <a:pt x="0" y="313404"/>
                  </a:moveTo>
                  <a:cubicBezTo>
                    <a:pt x="0" y="140316"/>
                    <a:pt x="140316" y="0"/>
                    <a:pt x="313404" y="0"/>
                  </a:cubicBezTo>
                  <a:lnTo>
                    <a:pt x="1566985" y="0"/>
                  </a:lnTo>
                  <a:cubicBezTo>
                    <a:pt x="1740073" y="0"/>
                    <a:pt x="1880389" y="140316"/>
                    <a:pt x="1880389" y="313404"/>
                  </a:cubicBezTo>
                  <a:lnTo>
                    <a:pt x="1880389" y="1854062"/>
                  </a:lnTo>
                  <a:cubicBezTo>
                    <a:pt x="1880389" y="2027150"/>
                    <a:pt x="1740073" y="2167466"/>
                    <a:pt x="1566985" y="2167466"/>
                  </a:cubicBezTo>
                  <a:lnTo>
                    <a:pt x="313404" y="2167466"/>
                  </a:lnTo>
                  <a:cubicBezTo>
                    <a:pt x="140316" y="2167466"/>
                    <a:pt x="0" y="2027150"/>
                    <a:pt x="0" y="1854062"/>
                  </a:cubicBezTo>
                  <a:lnTo>
                    <a:pt x="0" y="313404"/>
                  </a:lnTo>
                  <a:close/>
                </a:path>
              </a:pathLst>
            </a:custGeom>
            <a:noFill/>
            <a:ln w="158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 anchorCtr="0">
              <a:no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Decide</a:t>
              </a:r>
              <a:endParaRPr lang="en-GB" sz="1600" dirty="0">
                <a:solidFill>
                  <a:schemeClr val="bg1"/>
                </a:solidFill>
              </a:endParaRP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FAE6C47-9567-159C-F99B-0CE17DC2AB7F}"/>
                </a:ext>
              </a:extLst>
            </p:cNvPr>
            <p:cNvCxnSpPr>
              <a:cxnSpLocks/>
            </p:cNvCxnSpPr>
            <p:nvPr/>
          </p:nvCxnSpPr>
          <p:spPr>
            <a:xfrm>
              <a:off x="8367410" y="2909449"/>
              <a:ext cx="1883664" cy="0"/>
            </a:xfrm>
            <a:prstGeom prst="line">
              <a:avLst/>
            </a:prstGeom>
            <a:noFill/>
            <a:ln w="79375">
              <a:gradFill flip="none" rotWithShape="1">
                <a:gsLst>
                  <a:gs pos="37000">
                    <a:srgbClr val="02C8FF"/>
                  </a:gs>
                  <a:gs pos="5000">
                    <a:srgbClr val="0A60FF"/>
                  </a:gs>
                  <a:gs pos="44000">
                    <a:srgbClr val="02C8FF"/>
                  </a:gs>
                  <a:gs pos="75000">
                    <a:srgbClr val="FF007F"/>
                  </a:gs>
                  <a:gs pos="95000">
                    <a:srgbClr val="FF9000"/>
                  </a:gs>
                </a:gsLst>
                <a:lin ang="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37C5FD1-2645-A2D0-28CD-1E6D4D66E336}"/>
                </a:ext>
              </a:extLst>
            </p:cNvPr>
            <p:cNvSpPr txBox="1"/>
            <p:nvPr/>
          </p:nvSpPr>
          <p:spPr>
            <a:xfrm>
              <a:off x="8407069" y="3040501"/>
              <a:ext cx="1804346" cy="102425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en-US"/>
              </a:defPPr>
              <a:lvl1pPr algn="ctr" defTabSz="912276" fontAlgn="base">
                <a:spcAft>
                  <a:spcPts val="1000"/>
                </a:spcAft>
                <a:buClr>
                  <a:schemeClr val="bg1"/>
                </a:buClr>
                <a:buSzPct val="100000"/>
                <a:defRPr sz="1200">
                  <a:solidFill>
                    <a:schemeClr val="bg1"/>
                  </a:solidFill>
                </a:defRPr>
              </a:lvl1pPr>
            </a:lstStyle>
            <a:p>
              <a:r>
                <a:rPr lang="en-US" dirty="0"/>
                <a:t>Document scale path, dependency backlog, cutover criteria and decommission guardrails.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EB9A47A2-2C8C-87CB-0EC4-99A7BA384A0D}"/>
              </a:ext>
            </a:extLst>
          </p:cNvPr>
          <p:cNvSpPr txBox="1"/>
          <p:nvPr/>
        </p:nvSpPr>
        <p:spPr>
          <a:xfrm>
            <a:off x="998220" y="5674483"/>
            <a:ext cx="10195560" cy="52937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algn="ctr" defTabSz="912276" fontAlgn="base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defRPr sz="1600" b="1" i="1">
                <a:solidFill>
                  <a:schemeClr val="bg1"/>
                </a:solidFill>
                <a:ea typeface="ＭＳ Ｐゴシック" charset="0"/>
              </a:defRPr>
            </a:lvl1pPr>
          </a:lstStyle>
          <a:p>
            <a:r>
              <a:rPr b="0" dirty="0"/>
              <a:t>Proceed to broader rollout only if the pilot proves reliable ID creation, consistent data attributes, reporting continuity and a credible path to retire CTT dependencies.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0E567AD-5D3A-A1CA-D03B-7A44EADC5376}"/>
              </a:ext>
            </a:extLst>
          </p:cNvPr>
          <p:cNvSpPr/>
          <p:nvPr/>
        </p:nvSpPr>
        <p:spPr>
          <a:xfrm>
            <a:off x="526148" y="5028310"/>
            <a:ext cx="1805203" cy="371659"/>
          </a:xfrm>
          <a:prstGeom prst="roundRect">
            <a:avLst/>
          </a:prstGeom>
          <a:gradFill flip="none" rotWithShape="1">
            <a:gsLst>
              <a:gs pos="5000">
                <a:srgbClr val="0A60FF"/>
              </a:gs>
              <a:gs pos="95000">
                <a:srgbClr val="02C8FF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Decision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5042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FE8B-1559-3524-D8B3-1DC61C3D3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Risks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897E95-A979-DBCA-4B34-63ABD5085C23}"/>
              </a:ext>
            </a:extLst>
          </p:cNvPr>
          <p:cNvSpPr txBox="1"/>
          <p:nvPr/>
        </p:nvSpPr>
        <p:spPr>
          <a:xfrm>
            <a:off x="1572165" y="978408"/>
            <a:ext cx="9047670" cy="33855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algn="ctr" defTabSz="912276" fontAlgn="base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defRPr sz="1600">
                <a:solidFill>
                  <a:schemeClr val="accent2"/>
                </a:solidFill>
                <a:ea typeface="ＭＳ Ｐゴシック" charset="0"/>
              </a:defRPr>
            </a:lvl1pPr>
          </a:lstStyle>
          <a:p>
            <a:r>
              <a:rPr dirty="0"/>
              <a:t>The proposal acknowledges the target decommission outcome while reducing transition risk.</a:t>
            </a:r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C06D4592-E17D-291E-312B-41D847B675CE}"/>
              </a:ext>
            </a:extLst>
          </p:cNvPr>
          <p:cNvSpPr/>
          <p:nvPr/>
        </p:nvSpPr>
        <p:spPr>
          <a:xfrm>
            <a:off x="1687739" y="1506766"/>
            <a:ext cx="4572000" cy="822960"/>
          </a:xfrm>
          <a:prstGeom prst="homePlate">
            <a:avLst/>
          </a:prstGeom>
          <a:solidFill>
            <a:schemeClr val="tx1">
              <a:lumMod val="95000"/>
            </a:schemeClr>
          </a:solidFill>
          <a:ln w="15875">
            <a:solidFill>
              <a:schemeClr val="tx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2022050-6ADE-2A2B-C413-4DD3847DE3AC}"/>
              </a:ext>
            </a:extLst>
          </p:cNvPr>
          <p:cNvSpPr/>
          <p:nvPr/>
        </p:nvSpPr>
        <p:spPr>
          <a:xfrm flipH="1">
            <a:off x="1687739" y="1506766"/>
            <a:ext cx="9144000" cy="822960"/>
          </a:xfrm>
          <a:prstGeom prst="roundRect">
            <a:avLst>
              <a:gd name="adj" fmla="val 50000"/>
            </a:avLst>
          </a:prstGeom>
          <a:noFill/>
          <a:ln w="15875">
            <a:solidFill>
              <a:schemeClr val="tx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19E8CED-6A16-B8C2-F09E-19301148CBCA}"/>
              </a:ext>
            </a:extLst>
          </p:cNvPr>
          <p:cNvSpPr/>
          <p:nvPr/>
        </p:nvSpPr>
        <p:spPr>
          <a:xfrm>
            <a:off x="1273175" y="1506766"/>
            <a:ext cx="822960" cy="822960"/>
          </a:xfrm>
          <a:prstGeom prst="ellipse">
            <a:avLst/>
          </a:prstGeom>
          <a:solidFill>
            <a:schemeClr val="tx1"/>
          </a:solidFill>
          <a:ln w="15875">
            <a:gradFill flip="none" rotWithShape="1">
              <a:gsLst>
                <a:gs pos="37000">
                  <a:srgbClr val="02C8FF"/>
                </a:gs>
                <a:gs pos="5000">
                  <a:srgbClr val="0A60FF"/>
                </a:gs>
                <a:gs pos="44000">
                  <a:srgbClr val="02C8FF"/>
                </a:gs>
                <a:gs pos="75000">
                  <a:srgbClr val="FF007F"/>
                </a:gs>
                <a:gs pos="95000">
                  <a:srgbClr val="FF9000"/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 anchorCtr="0">
            <a:no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Impact" panose="020B0806030902050204" pitchFamily="34" charset="0"/>
              </a:rPr>
              <a:t>1</a:t>
            </a:r>
            <a:endParaRPr lang="en-GB" sz="3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494404-49DC-986E-8A43-DF684E619461}"/>
              </a:ext>
            </a:extLst>
          </p:cNvPr>
          <p:cNvSpPr txBox="1"/>
          <p:nvPr/>
        </p:nvSpPr>
        <p:spPr>
          <a:xfrm>
            <a:off x="3562259" y="1603832"/>
            <a:ext cx="822960" cy="2446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400" b="1" dirty="0">
                <a:solidFill>
                  <a:schemeClr val="bg1"/>
                </a:solidFill>
              </a:rPr>
              <a:t>Risk</a:t>
            </a:r>
            <a:endParaRPr lang="en-GB" sz="1400" b="1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51F328-594E-D6E8-E1F7-C2364BD00AC6}"/>
              </a:ext>
            </a:extLst>
          </p:cNvPr>
          <p:cNvSpPr txBox="1"/>
          <p:nvPr/>
        </p:nvSpPr>
        <p:spPr>
          <a:xfrm>
            <a:off x="2304596" y="1953972"/>
            <a:ext cx="3338286" cy="2446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200" dirty="0">
                <a:solidFill>
                  <a:schemeClr val="bg1"/>
                </a:solidFill>
              </a:rPr>
              <a:t>POC is seen as extending CTT life</a:t>
            </a:r>
          </a:p>
          <a:p>
            <a:pPr algn="ctr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endParaRPr lang="en-GB" sz="12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1BAE93-ED42-1631-59A7-6387392725F3}"/>
              </a:ext>
            </a:extLst>
          </p:cNvPr>
          <p:cNvSpPr txBox="1"/>
          <p:nvPr/>
        </p:nvSpPr>
        <p:spPr>
          <a:xfrm>
            <a:off x="8134259" y="1603832"/>
            <a:ext cx="822960" cy="2446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400" b="1" dirty="0">
                <a:solidFill>
                  <a:schemeClr val="bg1"/>
                </a:solidFill>
              </a:rPr>
              <a:t>Control</a:t>
            </a:r>
            <a:endParaRPr lang="en-GB" sz="1400" b="1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120540-7B35-2D40-0845-97B6E9893E23}"/>
              </a:ext>
            </a:extLst>
          </p:cNvPr>
          <p:cNvSpPr txBox="1"/>
          <p:nvPr/>
        </p:nvSpPr>
        <p:spPr>
          <a:xfrm>
            <a:off x="6934653" y="1875322"/>
            <a:ext cx="3715658" cy="4019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algn="ctr" defTabSz="912276" fontAlgn="base">
              <a:spcAft>
                <a:spcPts val="1000"/>
              </a:spcAft>
              <a:buClr>
                <a:schemeClr val="bg1"/>
              </a:buClr>
              <a:buSzPct val="100000"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Define CTT as a temporary compatibility layer, with explicit exit criteria and decommission backlog.</a:t>
            </a:r>
            <a:endParaRPr lang="en-GB" dirty="0" err="1"/>
          </a:p>
        </p:txBody>
      </p:sp>
      <p:sp>
        <p:nvSpPr>
          <p:cNvPr id="18" name="Arrow: Pentagon 17">
            <a:extLst>
              <a:ext uri="{FF2B5EF4-FFF2-40B4-BE49-F238E27FC236}">
                <a16:creationId xmlns:a16="http://schemas.microsoft.com/office/drawing/2014/main" id="{ABF637F0-1627-AF45-B2ED-B931243274E8}"/>
              </a:ext>
            </a:extLst>
          </p:cNvPr>
          <p:cNvSpPr/>
          <p:nvPr/>
        </p:nvSpPr>
        <p:spPr>
          <a:xfrm>
            <a:off x="1687739" y="2495135"/>
            <a:ext cx="4572000" cy="822960"/>
          </a:xfrm>
          <a:prstGeom prst="homePlate">
            <a:avLst/>
          </a:prstGeom>
          <a:solidFill>
            <a:schemeClr val="tx1">
              <a:lumMod val="95000"/>
            </a:schemeClr>
          </a:solidFill>
          <a:ln w="15875">
            <a:solidFill>
              <a:schemeClr val="tx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C7BBCAA-0AFC-65DE-05BD-AA161A411B0F}"/>
              </a:ext>
            </a:extLst>
          </p:cNvPr>
          <p:cNvSpPr/>
          <p:nvPr/>
        </p:nvSpPr>
        <p:spPr>
          <a:xfrm flipH="1">
            <a:off x="1687739" y="2495135"/>
            <a:ext cx="9144000" cy="822960"/>
          </a:xfrm>
          <a:prstGeom prst="roundRect">
            <a:avLst>
              <a:gd name="adj" fmla="val 50000"/>
            </a:avLst>
          </a:prstGeom>
          <a:noFill/>
          <a:ln w="15875">
            <a:solidFill>
              <a:schemeClr val="tx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A5584D4-8054-91A2-5D7F-779C6FEF83AD}"/>
              </a:ext>
            </a:extLst>
          </p:cNvPr>
          <p:cNvSpPr/>
          <p:nvPr/>
        </p:nvSpPr>
        <p:spPr>
          <a:xfrm>
            <a:off x="1273175" y="2495135"/>
            <a:ext cx="822960" cy="822960"/>
          </a:xfrm>
          <a:prstGeom prst="ellipse">
            <a:avLst/>
          </a:prstGeom>
          <a:solidFill>
            <a:schemeClr val="tx1"/>
          </a:solidFill>
          <a:ln w="15875">
            <a:gradFill flip="none" rotWithShape="1">
              <a:gsLst>
                <a:gs pos="37000">
                  <a:srgbClr val="02C8FF"/>
                </a:gs>
                <a:gs pos="5000">
                  <a:srgbClr val="0A60FF"/>
                </a:gs>
                <a:gs pos="44000">
                  <a:srgbClr val="02C8FF"/>
                </a:gs>
                <a:gs pos="75000">
                  <a:srgbClr val="FF007F"/>
                </a:gs>
                <a:gs pos="95000">
                  <a:srgbClr val="FF9000"/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 anchorCtr="0">
            <a:no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Impact" panose="020B0806030902050204" pitchFamily="34" charset="0"/>
              </a:rPr>
              <a:t>2</a:t>
            </a:r>
            <a:endParaRPr lang="en-GB" sz="3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C07A75-2558-318C-6473-76EAB57885A4}"/>
              </a:ext>
            </a:extLst>
          </p:cNvPr>
          <p:cNvSpPr txBox="1"/>
          <p:nvPr/>
        </p:nvSpPr>
        <p:spPr>
          <a:xfrm>
            <a:off x="3562259" y="2592201"/>
            <a:ext cx="822960" cy="2446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400" b="1" dirty="0">
                <a:solidFill>
                  <a:schemeClr val="bg1"/>
                </a:solidFill>
              </a:rPr>
              <a:t>Risk</a:t>
            </a:r>
            <a:endParaRPr lang="en-GB" sz="1400" b="1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2FDF90-8E1A-590E-DC22-B95F5BC90AFA}"/>
              </a:ext>
            </a:extLst>
          </p:cNvPr>
          <p:cNvSpPr txBox="1"/>
          <p:nvPr/>
        </p:nvSpPr>
        <p:spPr>
          <a:xfrm>
            <a:off x="2304596" y="2903016"/>
            <a:ext cx="3338286" cy="3757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algn="ctr" defTabSz="912276" fontAlgn="base">
              <a:spcAft>
                <a:spcPts val="1000"/>
              </a:spcAft>
              <a:buClr>
                <a:schemeClr val="bg1"/>
              </a:buClr>
              <a:buSzPct val="100000"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Reporting logic diverges between Workfront and CTT</a:t>
            </a:r>
            <a:endParaRPr lang="en-GB" dirty="0" err="1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831018-CB93-8EDA-B3DA-353EF16031AC}"/>
              </a:ext>
            </a:extLst>
          </p:cNvPr>
          <p:cNvSpPr txBox="1"/>
          <p:nvPr/>
        </p:nvSpPr>
        <p:spPr>
          <a:xfrm>
            <a:off x="8134259" y="2592201"/>
            <a:ext cx="822960" cy="2446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400" b="1" dirty="0">
                <a:solidFill>
                  <a:schemeClr val="bg1"/>
                </a:solidFill>
              </a:rPr>
              <a:t>Control</a:t>
            </a:r>
            <a:endParaRPr lang="en-GB" sz="1400" b="1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4566B5-76D9-764D-5382-31F062EB79BC}"/>
              </a:ext>
            </a:extLst>
          </p:cNvPr>
          <p:cNvSpPr txBox="1"/>
          <p:nvPr/>
        </p:nvSpPr>
        <p:spPr>
          <a:xfrm>
            <a:off x="6934653" y="2889922"/>
            <a:ext cx="3715658" cy="4019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algn="ctr" defTabSz="912276" fontAlgn="base">
              <a:spcAft>
                <a:spcPts val="1000"/>
              </a:spcAft>
              <a:buClr>
                <a:schemeClr val="bg1"/>
              </a:buClr>
              <a:buSzPct val="100000"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Govern a shared attribute dictionary and validate pilot reports before scale.</a:t>
            </a:r>
            <a:endParaRPr lang="en-GB" dirty="0" err="1"/>
          </a:p>
        </p:txBody>
      </p:sp>
      <p:sp>
        <p:nvSpPr>
          <p:cNvPr id="26" name="Arrow: Pentagon 25">
            <a:extLst>
              <a:ext uri="{FF2B5EF4-FFF2-40B4-BE49-F238E27FC236}">
                <a16:creationId xmlns:a16="http://schemas.microsoft.com/office/drawing/2014/main" id="{2E71665A-DDEA-0F16-2541-F9903439E088}"/>
              </a:ext>
            </a:extLst>
          </p:cNvPr>
          <p:cNvSpPr/>
          <p:nvPr/>
        </p:nvSpPr>
        <p:spPr>
          <a:xfrm>
            <a:off x="1687739" y="3483504"/>
            <a:ext cx="4572000" cy="822960"/>
          </a:xfrm>
          <a:prstGeom prst="homePlate">
            <a:avLst/>
          </a:prstGeom>
          <a:solidFill>
            <a:schemeClr val="tx1">
              <a:lumMod val="95000"/>
            </a:schemeClr>
          </a:solidFill>
          <a:ln w="15875">
            <a:solidFill>
              <a:schemeClr val="tx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FEE6D36-469B-38E7-5366-24E8F9AF963B}"/>
              </a:ext>
            </a:extLst>
          </p:cNvPr>
          <p:cNvSpPr/>
          <p:nvPr/>
        </p:nvSpPr>
        <p:spPr>
          <a:xfrm flipH="1">
            <a:off x="1687739" y="3483504"/>
            <a:ext cx="9144000" cy="822960"/>
          </a:xfrm>
          <a:prstGeom prst="roundRect">
            <a:avLst>
              <a:gd name="adj" fmla="val 50000"/>
            </a:avLst>
          </a:prstGeom>
          <a:noFill/>
          <a:ln w="15875">
            <a:solidFill>
              <a:schemeClr val="tx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D451B93-E072-0808-07CA-AF870D1F381E}"/>
              </a:ext>
            </a:extLst>
          </p:cNvPr>
          <p:cNvSpPr/>
          <p:nvPr/>
        </p:nvSpPr>
        <p:spPr>
          <a:xfrm>
            <a:off x="1273175" y="3483504"/>
            <a:ext cx="822960" cy="822960"/>
          </a:xfrm>
          <a:prstGeom prst="ellipse">
            <a:avLst/>
          </a:prstGeom>
          <a:solidFill>
            <a:schemeClr val="tx1"/>
          </a:solidFill>
          <a:ln w="15875">
            <a:gradFill flip="none" rotWithShape="1">
              <a:gsLst>
                <a:gs pos="37000">
                  <a:srgbClr val="02C8FF"/>
                </a:gs>
                <a:gs pos="5000">
                  <a:srgbClr val="0A60FF"/>
                </a:gs>
                <a:gs pos="44000">
                  <a:srgbClr val="02C8FF"/>
                </a:gs>
                <a:gs pos="75000">
                  <a:srgbClr val="FF007F"/>
                </a:gs>
                <a:gs pos="95000">
                  <a:srgbClr val="FF9000"/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 anchorCtr="0">
            <a:no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Impact" panose="020B0806030902050204" pitchFamily="34" charset="0"/>
              </a:rPr>
              <a:t>3</a:t>
            </a:r>
            <a:endParaRPr lang="en-GB" sz="3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146C37-551A-D617-7D9A-C5FB4292E7BE}"/>
              </a:ext>
            </a:extLst>
          </p:cNvPr>
          <p:cNvSpPr txBox="1"/>
          <p:nvPr/>
        </p:nvSpPr>
        <p:spPr>
          <a:xfrm>
            <a:off x="3562259" y="3580570"/>
            <a:ext cx="822960" cy="2446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400" b="1" dirty="0">
                <a:solidFill>
                  <a:schemeClr val="bg1"/>
                </a:solidFill>
              </a:rPr>
              <a:t>Risk</a:t>
            </a:r>
            <a:endParaRPr lang="en-GB" sz="1400" b="1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72E872-179E-70D7-F874-C2FFE540ED5F}"/>
              </a:ext>
            </a:extLst>
          </p:cNvPr>
          <p:cNvSpPr txBox="1"/>
          <p:nvPr/>
        </p:nvSpPr>
        <p:spPr>
          <a:xfrm>
            <a:off x="2304596" y="3891385"/>
            <a:ext cx="3338286" cy="3757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algn="ctr" defTabSz="912276" fontAlgn="base">
              <a:spcAft>
                <a:spcPts val="1000"/>
              </a:spcAft>
              <a:buClr>
                <a:schemeClr val="bg1"/>
              </a:buClr>
              <a:buSzPct val="100000"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downstream systems cannot absorb changes quickly</a:t>
            </a:r>
            <a:endParaRPr lang="en-GB" dirty="0" err="1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4CD60C-1727-5948-861F-09CBFC109279}"/>
              </a:ext>
            </a:extLst>
          </p:cNvPr>
          <p:cNvSpPr txBox="1"/>
          <p:nvPr/>
        </p:nvSpPr>
        <p:spPr>
          <a:xfrm>
            <a:off x="8134259" y="3580570"/>
            <a:ext cx="822960" cy="2446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400" b="1" dirty="0">
                <a:solidFill>
                  <a:schemeClr val="bg1"/>
                </a:solidFill>
              </a:rPr>
              <a:t>Control</a:t>
            </a:r>
            <a:endParaRPr lang="en-GB" sz="1400" b="1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04E01D-359B-BA1B-A799-9DDAB538F27B}"/>
              </a:ext>
            </a:extLst>
          </p:cNvPr>
          <p:cNvSpPr txBox="1"/>
          <p:nvPr/>
        </p:nvSpPr>
        <p:spPr>
          <a:xfrm>
            <a:off x="6934653" y="3878291"/>
            <a:ext cx="3715658" cy="4019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algn="ctr" defTabSz="912276" fontAlgn="base">
              <a:spcAft>
                <a:spcPts val="1000"/>
              </a:spcAft>
              <a:buClr>
                <a:schemeClr val="bg1"/>
              </a:buClr>
              <a:buSzPct val="100000"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Avoid relying on immediate SFDC changes; prove Workfront/CTT data capture first.</a:t>
            </a:r>
            <a:endParaRPr lang="en-GB" dirty="0" err="1"/>
          </a:p>
        </p:txBody>
      </p:sp>
      <p:sp>
        <p:nvSpPr>
          <p:cNvPr id="34" name="Arrow: Pentagon 33">
            <a:extLst>
              <a:ext uri="{FF2B5EF4-FFF2-40B4-BE49-F238E27FC236}">
                <a16:creationId xmlns:a16="http://schemas.microsoft.com/office/drawing/2014/main" id="{667267D1-C5DD-D210-58BF-97FA94727A22}"/>
              </a:ext>
            </a:extLst>
          </p:cNvPr>
          <p:cNvSpPr/>
          <p:nvPr/>
        </p:nvSpPr>
        <p:spPr>
          <a:xfrm>
            <a:off x="1687739" y="4471873"/>
            <a:ext cx="4572000" cy="822960"/>
          </a:xfrm>
          <a:prstGeom prst="homePlate">
            <a:avLst/>
          </a:prstGeom>
          <a:solidFill>
            <a:schemeClr val="tx1">
              <a:lumMod val="95000"/>
            </a:schemeClr>
          </a:solidFill>
          <a:ln w="15875">
            <a:solidFill>
              <a:schemeClr val="tx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C7E8FDB-A4AD-B715-781C-B8BA04BE6DD1}"/>
              </a:ext>
            </a:extLst>
          </p:cNvPr>
          <p:cNvSpPr/>
          <p:nvPr/>
        </p:nvSpPr>
        <p:spPr>
          <a:xfrm flipH="1">
            <a:off x="1687739" y="4471873"/>
            <a:ext cx="9144000" cy="822960"/>
          </a:xfrm>
          <a:prstGeom prst="roundRect">
            <a:avLst>
              <a:gd name="adj" fmla="val 50000"/>
            </a:avLst>
          </a:prstGeom>
          <a:noFill/>
          <a:ln w="15875">
            <a:solidFill>
              <a:schemeClr val="tx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E2B60DA-BC8E-A654-FEB0-054510CA8C8A}"/>
              </a:ext>
            </a:extLst>
          </p:cNvPr>
          <p:cNvSpPr/>
          <p:nvPr/>
        </p:nvSpPr>
        <p:spPr>
          <a:xfrm>
            <a:off x="1273175" y="4471873"/>
            <a:ext cx="822960" cy="822960"/>
          </a:xfrm>
          <a:prstGeom prst="ellipse">
            <a:avLst/>
          </a:prstGeom>
          <a:solidFill>
            <a:schemeClr val="tx1"/>
          </a:solidFill>
          <a:ln w="15875">
            <a:gradFill flip="none" rotWithShape="1">
              <a:gsLst>
                <a:gs pos="37000">
                  <a:srgbClr val="02C8FF"/>
                </a:gs>
                <a:gs pos="5000">
                  <a:srgbClr val="0A60FF"/>
                </a:gs>
                <a:gs pos="44000">
                  <a:srgbClr val="02C8FF"/>
                </a:gs>
                <a:gs pos="75000">
                  <a:srgbClr val="FF007F"/>
                </a:gs>
                <a:gs pos="95000">
                  <a:srgbClr val="FF9000"/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 anchorCtr="0">
            <a:no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Impact" panose="020B0806030902050204" pitchFamily="34" charset="0"/>
              </a:rPr>
              <a:t>4</a:t>
            </a:r>
            <a:endParaRPr lang="en-GB" sz="3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70D63EE-37E4-AD3E-29BE-8BF6161B7EA7}"/>
              </a:ext>
            </a:extLst>
          </p:cNvPr>
          <p:cNvSpPr txBox="1"/>
          <p:nvPr/>
        </p:nvSpPr>
        <p:spPr>
          <a:xfrm>
            <a:off x="3562259" y="4568939"/>
            <a:ext cx="822960" cy="2446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400" b="1" dirty="0">
                <a:solidFill>
                  <a:schemeClr val="bg1"/>
                </a:solidFill>
              </a:rPr>
              <a:t>Risk</a:t>
            </a:r>
            <a:endParaRPr lang="en-GB" sz="1400" b="1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4E93B4B-46DF-3A80-5E1A-AFA35BDFD147}"/>
              </a:ext>
            </a:extLst>
          </p:cNvPr>
          <p:cNvSpPr txBox="1"/>
          <p:nvPr/>
        </p:nvSpPr>
        <p:spPr>
          <a:xfrm>
            <a:off x="2304596" y="4919079"/>
            <a:ext cx="3338286" cy="2446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algn="ctr" defTabSz="912276" fontAlgn="base">
              <a:spcAft>
                <a:spcPts val="1000"/>
              </a:spcAft>
              <a:buClr>
                <a:schemeClr val="bg1"/>
              </a:buClr>
              <a:buSzPct val="100000"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Scope grows into full decommission delivery</a:t>
            </a:r>
            <a:endParaRPr lang="en-GB" dirty="0" err="1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DC09B91-C976-D8A2-D0B2-BFC6E459642D}"/>
              </a:ext>
            </a:extLst>
          </p:cNvPr>
          <p:cNvSpPr txBox="1"/>
          <p:nvPr/>
        </p:nvSpPr>
        <p:spPr>
          <a:xfrm>
            <a:off x="8134259" y="4568939"/>
            <a:ext cx="822960" cy="2446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400" b="1" dirty="0">
                <a:solidFill>
                  <a:schemeClr val="bg1"/>
                </a:solidFill>
              </a:rPr>
              <a:t>Control</a:t>
            </a:r>
            <a:endParaRPr lang="en-GB" sz="1400" b="1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B2AB72-76CF-0D9C-7AF5-23DB19763021}"/>
              </a:ext>
            </a:extLst>
          </p:cNvPr>
          <p:cNvSpPr txBox="1"/>
          <p:nvPr/>
        </p:nvSpPr>
        <p:spPr>
          <a:xfrm>
            <a:off x="6934653" y="4840429"/>
            <a:ext cx="3715658" cy="4019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algn="ctr" defTabSz="912276" fontAlgn="base">
              <a:spcAft>
                <a:spcPts val="1000"/>
              </a:spcAft>
              <a:buClr>
                <a:schemeClr val="bg1"/>
              </a:buClr>
              <a:buSzPct val="100000"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Limit POC to a pilot flow, a reporting prototype and a readiness backlog..</a:t>
            </a:r>
            <a:endParaRPr lang="en-GB" dirty="0" err="1"/>
          </a:p>
        </p:txBody>
      </p:sp>
      <p:sp>
        <p:nvSpPr>
          <p:cNvPr id="42" name="Arrow: Pentagon 41">
            <a:extLst>
              <a:ext uri="{FF2B5EF4-FFF2-40B4-BE49-F238E27FC236}">
                <a16:creationId xmlns:a16="http://schemas.microsoft.com/office/drawing/2014/main" id="{BD1F0A9F-C955-70F8-F464-EFB39DE8F1A8}"/>
              </a:ext>
            </a:extLst>
          </p:cNvPr>
          <p:cNvSpPr/>
          <p:nvPr/>
        </p:nvSpPr>
        <p:spPr>
          <a:xfrm>
            <a:off x="1687739" y="5460243"/>
            <a:ext cx="4572000" cy="822960"/>
          </a:xfrm>
          <a:prstGeom prst="homePlate">
            <a:avLst/>
          </a:prstGeom>
          <a:solidFill>
            <a:schemeClr val="tx1">
              <a:lumMod val="95000"/>
            </a:schemeClr>
          </a:solidFill>
          <a:ln w="15875">
            <a:solidFill>
              <a:schemeClr val="tx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B4CA175-A372-95DB-C5DB-514639E593E4}"/>
              </a:ext>
            </a:extLst>
          </p:cNvPr>
          <p:cNvSpPr/>
          <p:nvPr/>
        </p:nvSpPr>
        <p:spPr>
          <a:xfrm flipH="1">
            <a:off x="1687739" y="5460243"/>
            <a:ext cx="9144000" cy="822960"/>
          </a:xfrm>
          <a:prstGeom prst="roundRect">
            <a:avLst>
              <a:gd name="adj" fmla="val 50000"/>
            </a:avLst>
          </a:prstGeom>
          <a:noFill/>
          <a:ln w="15875">
            <a:solidFill>
              <a:schemeClr val="tx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FFDCB0E-D59D-FA5D-91CF-C5615F6AAA3F}"/>
              </a:ext>
            </a:extLst>
          </p:cNvPr>
          <p:cNvSpPr/>
          <p:nvPr/>
        </p:nvSpPr>
        <p:spPr>
          <a:xfrm>
            <a:off x="1273175" y="5460243"/>
            <a:ext cx="822960" cy="822960"/>
          </a:xfrm>
          <a:prstGeom prst="ellipse">
            <a:avLst/>
          </a:prstGeom>
          <a:solidFill>
            <a:schemeClr val="tx1"/>
          </a:solidFill>
          <a:ln w="15875">
            <a:gradFill flip="none" rotWithShape="1">
              <a:gsLst>
                <a:gs pos="37000">
                  <a:srgbClr val="02C8FF"/>
                </a:gs>
                <a:gs pos="5000">
                  <a:srgbClr val="0A60FF"/>
                </a:gs>
                <a:gs pos="44000">
                  <a:srgbClr val="02C8FF"/>
                </a:gs>
                <a:gs pos="75000">
                  <a:srgbClr val="FF007F"/>
                </a:gs>
                <a:gs pos="95000">
                  <a:srgbClr val="FF9000"/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 anchorCtr="0">
            <a:no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Impact" panose="020B0806030902050204" pitchFamily="34" charset="0"/>
              </a:rPr>
              <a:t>5</a:t>
            </a:r>
            <a:endParaRPr lang="en-GB" sz="3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9CD0CF5-EE8C-FECB-3B4A-25020BD22F11}"/>
              </a:ext>
            </a:extLst>
          </p:cNvPr>
          <p:cNvSpPr txBox="1"/>
          <p:nvPr/>
        </p:nvSpPr>
        <p:spPr>
          <a:xfrm>
            <a:off x="3562259" y="5557309"/>
            <a:ext cx="822960" cy="2446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400" b="1" dirty="0">
                <a:solidFill>
                  <a:schemeClr val="bg1"/>
                </a:solidFill>
              </a:rPr>
              <a:t>Risk</a:t>
            </a:r>
            <a:endParaRPr lang="en-GB" sz="1400" b="1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F80854D-44DE-9C0F-2559-63E46C459C3B}"/>
              </a:ext>
            </a:extLst>
          </p:cNvPr>
          <p:cNvSpPr txBox="1"/>
          <p:nvPr/>
        </p:nvSpPr>
        <p:spPr>
          <a:xfrm>
            <a:off x="2304596" y="5907449"/>
            <a:ext cx="3338286" cy="2446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algn="ctr" defTabSz="912276" fontAlgn="base">
              <a:spcAft>
                <a:spcPts val="1000"/>
              </a:spcAft>
              <a:buClr>
                <a:schemeClr val="bg1"/>
              </a:buClr>
              <a:buSzPct val="100000"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Not all marketing activity is in Workfront</a:t>
            </a:r>
            <a:endParaRPr lang="en-GB" dirty="0" err="1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5643F4C-2295-F227-D147-9BE1311DFC1F}"/>
              </a:ext>
            </a:extLst>
          </p:cNvPr>
          <p:cNvSpPr txBox="1"/>
          <p:nvPr/>
        </p:nvSpPr>
        <p:spPr>
          <a:xfrm>
            <a:off x="8134259" y="5557309"/>
            <a:ext cx="822960" cy="2446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400" b="1" dirty="0">
                <a:solidFill>
                  <a:schemeClr val="bg1"/>
                </a:solidFill>
              </a:rPr>
              <a:t>Control</a:t>
            </a:r>
            <a:endParaRPr lang="en-GB" sz="1400" b="1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9B373D8-2096-A98A-CC8E-2605DAC7E796}"/>
              </a:ext>
            </a:extLst>
          </p:cNvPr>
          <p:cNvSpPr txBox="1"/>
          <p:nvPr/>
        </p:nvSpPr>
        <p:spPr>
          <a:xfrm>
            <a:off x="6934653" y="5828799"/>
            <a:ext cx="3715658" cy="4019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algn="ctr" defTabSz="912276" fontAlgn="base">
              <a:spcAft>
                <a:spcPts val="1000"/>
              </a:spcAft>
              <a:buClr>
                <a:schemeClr val="bg1"/>
              </a:buClr>
              <a:buSzPct val="100000"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Allow non-Workfront teams to keep using CTT IDs with the same future-state attributes during transition..</a:t>
            </a:r>
            <a:endParaRPr lang="en-GB" dirty="0" err="1"/>
          </a:p>
        </p:txBody>
      </p:sp>
    </p:spTree>
    <p:extLst>
      <p:ext uri="{BB962C8B-B14F-4D97-AF65-F5344CB8AC3E}">
        <p14:creationId xmlns:p14="http://schemas.microsoft.com/office/powerpoint/2010/main" val="2930528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4DEAC-9F42-5B25-B0A1-35F601855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Requested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40F95A-0BEA-B5AD-11A7-6AEC66292EBB}"/>
              </a:ext>
            </a:extLst>
          </p:cNvPr>
          <p:cNvSpPr txBox="1"/>
          <p:nvPr/>
        </p:nvSpPr>
        <p:spPr>
          <a:xfrm>
            <a:off x="1633080" y="978408"/>
            <a:ext cx="8925841" cy="33855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algn="ctr" defTabSz="912276" fontAlgn="base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defRPr sz="1600">
                <a:solidFill>
                  <a:schemeClr val="accent2"/>
                </a:solidFill>
                <a:ea typeface="ＭＳ Ｐゴシック" charset="0"/>
              </a:defRPr>
            </a:lvl1pPr>
          </a:lstStyle>
          <a:p>
            <a:r>
              <a:rPr dirty="0"/>
              <a:t>Approve a POC that accelerates the Workfront future state without creating a reporting cliff.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76FE47-6D4E-5A8C-603F-FCA13660B836}"/>
              </a:ext>
            </a:extLst>
          </p:cNvPr>
          <p:cNvSpPr txBox="1"/>
          <p:nvPr/>
        </p:nvSpPr>
        <p:spPr>
          <a:xfrm>
            <a:off x="1043940" y="5890673"/>
            <a:ext cx="10104120" cy="52937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algn="ctr" defTabSz="912276" fontAlgn="base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defRPr sz="1600" b="0" i="1">
                <a:solidFill>
                  <a:schemeClr val="bg1"/>
                </a:solidFill>
                <a:ea typeface="ＭＳ Ｐゴシック" charset="0"/>
              </a:defRPr>
            </a:lvl1pPr>
          </a:lstStyle>
          <a:p>
            <a:r>
              <a:rPr lang="en-US" dirty="0"/>
              <a:t>T</a:t>
            </a:r>
            <a:r>
              <a:rPr dirty="0"/>
              <a:t>his investment helps us learn faster, protect business insight, and prepare CTT to be safely decommissioned as Workfront becomes ready.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B9C655C-E055-99C2-F9D2-96115A7C2D43}"/>
              </a:ext>
            </a:extLst>
          </p:cNvPr>
          <p:cNvSpPr/>
          <p:nvPr/>
        </p:nvSpPr>
        <p:spPr>
          <a:xfrm>
            <a:off x="526148" y="5304079"/>
            <a:ext cx="1805203" cy="371659"/>
          </a:xfrm>
          <a:prstGeom prst="roundRect">
            <a:avLst/>
          </a:prstGeom>
          <a:gradFill flip="none" rotWithShape="1">
            <a:gsLst>
              <a:gs pos="5000">
                <a:srgbClr val="0A60FF"/>
              </a:gs>
              <a:gs pos="95000">
                <a:srgbClr val="02C8FF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Bottom Line</a:t>
            </a:r>
            <a:endParaRPr lang="en-GB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872C8A5-11A3-7FDB-5FDF-5BB185B8C5AE}"/>
              </a:ext>
            </a:extLst>
          </p:cNvPr>
          <p:cNvSpPr/>
          <p:nvPr/>
        </p:nvSpPr>
        <p:spPr>
          <a:xfrm>
            <a:off x="663781" y="1534243"/>
            <a:ext cx="3447638" cy="3638550"/>
          </a:xfrm>
          <a:prstGeom prst="roundRect">
            <a:avLst>
              <a:gd name="adj" fmla="val 8379"/>
            </a:avLst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algn="l"/>
            <a:endParaRPr lang="en-GB" sz="1600" dirty="0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7603110-768D-0205-36DE-9F3E1E2620B3}"/>
              </a:ext>
            </a:extLst>
          </p:cNvPr>
          <p:cNvCxnSpPr>
            <a:cxnSpLocks/>
          </p:cNvCxnSpPr>
          <p:nvPr/>
        </p:nvCxnSpPr>
        <p:spPr>
          <a:xfrm>
            <a:off x="663956" y="2056600"/>
            <a:ext cx="3447288" cy="0"/>
          </a:xfrm>
          <a:prstGeom prst="line">
            <a:avLst/>
          </a:prstGeom>
          <a:noFill/>
          <a:ln w="79375">
            <a:gradFill flip="none" rotWithShape="1">
              <a:gsLst>
                <a:gs pos="37000">
                  <a:srgbClr val="02C8FF"/>
                </a:gs>
                <a:gs pos="5000">
                  <a:srgbClr val="0A60FF"/>
                </a:gs>
                <a:gs pos="44000">
                  <a:srgbClr val="02C8FF"/>
                </a:gs>
                <a:gs pos="75000">
                  <a:srgbClr val="FF007F"/>
                </a:gs>
                <a:gs pos="95000">
                  <a:srgbClr val="FF9000"/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0FA2817-81BD-A7E6-83F7-2D1D00AB1724}"/>
              </a:ext>
            </a:extLst>
          </p:cNvPr>
          <p:cNvSpPr txBox="1"/>
          <p:nvPr/>
        </p:nvSpPr>
        <p:spPr>
          <a:xfrm>
            <a:off x="787400" y="1582697"/>
            <a:ext cx="3200400" cy="444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20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Approve</a:t>
            </a:r>
            <a:endParaRPr lang="en-GB" sz="20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3668F0-A99E-96B4-EEE8-D80250F7D797}"/>
              </a:ext>
            </a:extLst>
          </p:cNvPr>
          <p:cNvSpPr txBox="1"/>
          <p:nvPr/>
        </p:nvSpPr>
        <p:spPr>
          <a:xfrm>
            <a:off x="730250" y="2185947"/>
            <a:ext cx="3314700" cy="270580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182880" indent="-182880" defTabSz="912276" fontAlgn="base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ea typeface="ＭＳ Ｐゴシック" charset="0"/>
              </a:defRPr>
            </a:lvl1pPr>
          </a:lstStyle>
          <a:p>
            <a:r>
              <a:rPr lang="en-US" dirty="0"/>
              <a:t>A Workfront + CTT integration proof of concept.</a:t>
            </a:r>
          </a:p>
          <a:p>
            <a:r>
              <a:rPr lang="en-US" dirty="0"/>
              <a:t>A pilot business area or activation type.</a:t>
            </a:r>
          </a:p>
          <a:p>
            <a:r>
              <a:rPr lang="en-US" dirty="0"/>
              <a:t>A shared success scorecard for data, process and reporting.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CA18BCD-7F16-7AE9-C3B7-CCE384E5280B}"/>
              </a:ext>
            </a:extLst>
          </p:cNvPr>
          <p:cNvSpPr/>
          <p:nvPr/>
        </p:nvSpPr>
        <p:spPr>
          <a:xfrm>
            <a:off x="4372181" y="1534243"/>
            <a:ext cx="3447638" cy="3638550"/>
          </a:xfrm>
          <a:prstGeom prst="roundRect">
            <a:avLst>
              <a:gd name="adj" fmla="val 8379"/>
            </a:avLst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algn="l"/>
            <a:endParaRPr lang="en-GB" sz="1600" dirty="0">
              <a:solidFill>
                <a:schemeClr val="bg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73C037-207F-45AD-9D52-5DDE458C9209}"/>
              </a:ext>
            </a:extLst>
          </p:cNvPr>
          <p:cNvCxnSpPr>
            <a:cxnSpLocks/>
          </p:cNvCxnSpPr>
          <p:nvPr/>
        </p:nvCxnSpPr>
        <p:spPr>
          <a:xfrm>
            <a:off x="4372356" y="2056600"/>
            <a:ext cx="3447288" cy="0"/>
          </a:xfrm>
          <a:prstGeom prst="line">
            <a:avLst/>
          </a:prstGeom>
          <a:noFill/>
          <a:ln w="79375">
            <a:gradFill flip="none" rotWithShape="1">
              <a:gsLst>
                <a:gs pos="37000">
                  <a:srgbClr val="02C8FF"/>
                </a:gs>
                <a:gs pos="5000">
                  <a:srgbClr val="0A60FF"/>
                </a:gs>
                <a:gs pos="44000">
                  <a:srgbClr val="02C8FF"/>
                </a:gs>
                <a:gs pos="75000">
                  <a:srgbClr val="FF007F"/>
                </a:gs>
                <a:gs pos="95000">
                  <a:srgbClr val="FF9000"/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41A013D-4E39-A302-EC91-04AB6AA5E8FD}"/>
              </a:ext>
            </a:extLst>
          </p:cNvPr>
          <p:cNvSpPr txBox="1"/>
          <p:nvPr/>
        </p:nvSpPr>
        <p:spPr>
          <a:xfrm>
            <a:off x="4495800" y="1582697"/>
            <a:ext cx="3200400" cy="444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20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Assign</a:t>
            </a:r>
            <a:endParaRPr lang="en-GB" sz="20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E73CAA-B2AF-1E14-9A49-4F740B602E37}"/>
              </a:ext>
            </a:extLst>
          </p:cNvPr>
          <p:cNvSpPr txBox="1"/>
          <p:nvPr/>
        </p:nvSpPr>
        <p:spPr>
          <a:xfrm>
            <a:off x="4438650" y="2185947"/>
            <a:ext cx="3314700" cy="270580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182880" indent="-182880" defTabSz="912276" fontAlgn="base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ea typeface="ＭＳ Ｐゴシック" charset="0"/>
              </a:defRPr>
            </a:lvl1pPr>
          </a:lstStyle>
          <a:p>
            <a:r>
              <a:rPr lang="en-US" dirty="0"/>
              <a:t>Workfront owner for pilot configuration and Task ID attributes.</a:t>
            </a:r>
          </a:p>
          <a:p>
            <a:r>
              <a:rPr lang="en-US" dirty="0"/>
              <a:t>CTT/integration owner for ID creation and write-back.</a:t>
            </a:r>
          </a:p>
          <a:p>
            <a:r>
              <a:rPr lang="en-US" dirty="0"/>
              <a:t>Reporting owner to validate outputs against current attribution needs.</a:t>
            </a:r>
          </a:p>
          <a:p>
            <a:endParaRPr lang="en-GB" dirty="0" err="1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D9191CC-490C-A255-2345-C55B930713AE}"/>
              </a:ext>
            </a:extLst>
          </p:cNvPr>
          <p:cNvSpPr/>
          <p:nvPr/>
        </p:nvSpPr>
        <p:spPr>
          <a:xfrm>
            <a:off x="8080581" y="1531897"/>
            <a:ext cx="3447638" cy="3638550"/>
          </a:xfrm>
          <a:prstGeom prst="roundRect">
            <a:avLst>
              <a:gd name="adj" fmla="val 8379"/>
            </a:avLst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algn="l"/>
            <a:endParaRPr lang="en-GB" sz="1600" dirty="0">
              <a:solidFill>
                <a:schemeClr val="bg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F889BD1-95A1-1D3E-7F3E-BB09211EB53A}"/>
              </a:ext>
            </a:extLst>
          </p:cNvPr>
          <p:cNvCxnSpPr>
            <a:cxnSpLocks/>
          </p:cNvCxnSpPr>
          <p:nvPr/>
        </p:nvCxnSpPr>
        <p:spPr>
          <a:xfrm>
            <a:off x="8080756" y="2054254"/>
            <a:ext cx="3447288" cy="0"/>
          </a:xfrm>
          <a:prstGeom prst="line">
            <a:avLst/>
          </a:prstGeom>
          <a:noFill/>
          <a:ln w="79375">
            <a:gradFill flip="none" rotWithShape="1">
              <a:gsLst>
                <a:gs pos="37000">
                  <a:srgbClr val="02C8FF"/>
                </a:gs>
                <a:gs pos="5000">
                  <a:srgbClr val="0A60FF"/>
                </a:gs>
                <a:gs pos="44000">
                  <a:srgbClr val="02C8FF"/>
                </a:gs>
                <a:gs pos="75000">
                  <a:srgbClr val="FF007F"/>
                </a:gs>
                <a:gs pos="95000">
                  <a:srgbClr val="FF9000"/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0BCDEC8-BE7D-29BB-8EBD-3BADCA726355}"/>
              </a:ext>
            </a:extLst>
          </p:cNvPr>
          <p:cNvSpPr txBox="1"/>
          <p:nvPr/>
        </p:nvSpPr>
        <p:spPr>
          <a:xfrm>
            <a:off x="8204200" y="1580351"/>
            <a:ext cx="3200400" cy="444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ea typeface="ＭＳ Ｐゴシック" charset="0"/>
              </a:rPr>
              <a:t>Expect</a:t>
            </a:r>
            <a:endParaRPr lang="en-GB" sz="20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B74BEC-CE16-D45D-5A27-25D1C5B7B378}"/>
              </a:ext>
            </a:extLst>
          </p:cNvPr>
          <p:cNvSpPr txBox="1"/>
          <p:nvPr/>
        </p:nvSpPr>
        <p:spPr>
          <a:xfrm>
            <a:off x="8147050" y="2183601"/>
            <a:ext cx="3314700" cy="270580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182880" indent="-182880" defTabSz="912276" fontAlgn="base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ea typeface="ＭＳ Ｐゴシック" charset="0"/>
              </a:defRPr>
            </a:lvl1pPr>
          </a:lstStyle>
          <a:p>
            <a:r>
              <a:rPr lang="en-US" dirty="0"/>
              <a:t>A working pilot flow.</a:t>
            </a:r>
          </a:p>
          <a:p>
            <a:r>
              <a:rPr lang="en-US" dirty="0"/>
              <a:t>A validated reporting proof.</a:t>
            </a:r>
          </a:p>
          <a:p>
            <a:r>
              <a:rPr lang="en-US" dirty="0"/>
              <a:t>A scale/decommission recommendation with dependencies, blockers and investment needs.</a:t>
            </a:r>
          </a:p>
        </p:txBody>
      </p:sp>
    </p:spTree>
    <p:extLst>
      <p:ext uri="{BB962C8B-B14F-4D97-AF65-F5344CB8AC3E}">
        <p14:creationId xmlns:p14="http://schemas.microsoft.com/office/powerpoint/2010/main" val="1439107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52EC08-0F14-7A54-ABC4-D4B3D7C21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7413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FY26 Cisco Default Lite">
  <a:themeElements>
    <a:clrScheme name="Cisco Light 04-16-2025">
      <a:dk1>
        <a:srgbClr val="07182D"/>
      </a:dk1>
      <a:lt1>
        <a:srgbClr val="FFFFFF"/>
      </a:lt1>
      <a:dk2>
        <a:srgbClr val="525E6C"/>
      </a:dk2>
      <a:lt2>
        <a:srgbClr val="B4B9C0"/>
      </a:lt2>
      <a:accent1>
        <a:srgbClr val="02C8FF"/>
      </a:accent1>
      <a:accent2>
        <a:srgbClr val="0A60FF"/>
      </a:accent2>
      <a:accent3>
        <a:srgbClr val="FF007F"/>
      </a:accent3>
      <a:accent4>
        <a:srgbClr val="FF9000"/>
      </a:accent4>
      <a:accent5>
        <a:srgbClr val="D6D6D6"/>
      </a:accent5>
      <a:accent6>
        <a:srgbClr val="6B6B6B"/>
      </a:accent6>
      <a:hlink>
        <a:srgbClr val="07182D"/>
      </a:hlink>
      <a:folHlink>
        <a:srgbClr val="C0C0C0"/>
      </a:folHlink>
    </a:clrScheme>
    <a:fontScheme name="Cisco PowerPoint 02-26-2025">
      <a:majorFont>
        <a:latin typeface="CiscoSansTT Medium"/>
        <a:ea typeface=""/>
        <a:cs typeface=""/>
      </a:majorFont>
      <a:minorFont>
        <a:latin typeface="CiscoSans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5875">
          <a:solidFill>
            <a:schemeClr val="bg2"/>
          </a:solidFill>
        </a:ln>
        <a:effectLst/>
      </a:spPr>
      <a:bodyPr lIns="182880" tIns="182880" rIns="182880" bIns="182880" rtlCol="0" anchor="t" anchorCtr="0">
        <a:noAutofit/>
      </a:bodyPr>
      <a:lstStyle>
        <a:defPPr marL="182880" indent="-182880" algn="l">
          <a:buFont typeface="Arial" panose="020B0604020202020204" pitchFamily="34" charset="0"/>
          <a:buChar char="•"/>
          <a:defRPr sz="1600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marL="182880" indent="-182880" algn="l" defTabSz="912276" rtl="0" eaLnBrk="1" fontAlgn="base" hangingPunct="1">
          <a:lnSpc>
            <a:spcPct val="100000"/>
          </a:lnSpc>
          <a:spcBef>
            <a:spcPts val="0"/>
          </a:spcBef>
          <a:spcAft>
            <a:spcPts val="1000"/>
          </a:spcAft>
          <a:buClr>
            <a:schemeClr val="bg1"/>
          </a:buClr>
          <a:buSzPct val="100000"/>
          <a:buFont typeface="Arial" panose="020B0604020202020204" pitchFamily="34" charset="0"/>
          <a:buChar char="•"/>
          <a:defRPr sz="1600" kern="1200" dirty="0" err="1" smtClean="0">
            <a:solidFill>
              <a:schemeClr val="bg1"/>
            </a:solidFill>
            <a:latin typeface="+mn-lt"/>
            <a:ea typeface="ＭＳ Ｐゴシック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FY26 Cisco Default Lite" id="{F6C7F7AC-E1D6-45EE-8B20-455D1551AF7D}" vid="{CB715792-BBCD-4822-A472-92D55CCFFCC3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E837C0C014154FB2B15D89EFA54B38" ma:contentTypeVersion="13" ma:contentTypeDescription="Create a new document." ma:contentTypeScope="" ma:versionID="d0030ed5fda7b73ec25d50671f929e41">
  <xsd:schema xmlns:xsd="http://www.w3.org/2001/XMLSchema" xmlns:xs="http://www.w3.org/2001/XMLSchema" xmlns:p="http://schemas.microsoft.com/office/2006/metadata/properties" xmlns:ns2="8f2b5035-1e63-4e0d-a1f8-6c8d73ef4eb4" xmlns:ns3="b5f16604-4fb8-433a-b8c7-95fecaa47cb7" targetNamespace="http://schemas.microsoft.com/office/2006/metadata/properties" ma:root="true" ma:fieldsID="4d4b8f11fdac4ee6c547e2512a2a515f" ns2:_="" ns3:_="">
    <xsd:import namespace="8f2b5035-1e63-4e0d-a1f8-6c8d73ef4eb4"/>
    <xsd:import namespace="b5f16604-4fb8-433a-b8c7-95fecaa47c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FolderDescrip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2b5035-1e63-4e0d-a1f8-6c8d73ef4e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710261dd-85c0-4e16-8580-30375acfae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FolderDescription" ma:index="20" nillable="true" ma:displayName="Folder Description" ma:description="Full Description of this folder" ma:format="Dropdown" ma:internalName="FolderDescription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f16604-4fb8-433a-b8c7-95fecaa47cb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2b2ac4a-8ca1-4ed9-bfbf-3a99f160e351}" ma:internalName="TaxCatchAll" ma:showField="CatchAllData" ma:web="b5f16604-4fb8-433a-b8c7-95fecaa47cb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olderDescription xmlns="8f2b5035-1e63-4e0d-a1f8-6c8d73ef4eb4" xsi:nil="true"/>
    <lcf76f155ced4ddcb4097134ff3c332f xmlns="8f2b5035-1e63-4e0d-a1f8-6c8d73ef4eb4">
      <Terms xmlns="http://schemas.microsoft.com/office/infopath/2007/PartnerControls"/>
    </lcf76f155ced4ddcb4097134ff3c332f>
    <TaxCatchAll xmlns="b5f16604-4fb8-433a-b8c7-95fecaa47cb7" xsi:nil="true"/>
  </documentManagement>
</p:properties>
</file>

<file path=customXml/itemProps1.xml><?xml version="1.0" encoding="utf-8"?>
<ds:datastoreItem xmlns:ds="http://schemas.openxmlformats.org/officeDocument/2006/customXml" ds:itemID="{F665C893-9A32-4182-BF37-497D9DEFDBC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2b5035-1e63-4e0d-a1f8-6c8d73ef4eb4"/>
    <ds:schemaRef ds:uri="b5f16604-4fb8-433a-b8c7-95fecaa47c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85EB413-BDFC-4AF4-B7E8-34621A70144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A0D7086-D804-4D83-815F-53AD29C30F1F}">
  <ds:schemaRefs>
    <ds:schemaRef ds:uri="b5f16604-4fb8-433a-b8c7-95fecaa47cb7"/>
    <ds:schemaRef ds:uri="8f2b5035-1e63-4e0d-a1f8-6c8d73ef4eb4"/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176</TotalTime>
  <Words>1270</Words>
  <Application>Microsoft Office PowerPoint</Application>
  <PresentationFormat>Widescreen</PresentationFormat>
  <Paragraphs>185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Wingdings</vt:lpstr>
      <vt:lpstr>ＭＳ Ｐゴシック</vt:lpstr>
      <vt:lpstr>CiscoSansTT Medium</vt:lpstr>
      <vt:lpstr>CiscoSansTT</vt:lpstr>
      <vt:lpstr>Arial</vt:lpstr>
      <vt:lpstr>Impact</vt:lpstr>
      <vt:lpstr>Calibri</vt:lpstr>
      <vt:lpstr>FY26 Cisco Default Lite</vt:lpstr>
      <vt:lpstr>Workfront &amp; CTT Integration</vt:lpstr>
      <vt:lpstr>Executive Summary</vt:lpstr>
      <vt:lpstr>The Reality – Workfront vs CTT</vt:lpstr>
      <vt:lpstr>Why the Bridge Matters</vt:lpstr>
      <vt:lpstr>The Opportunity</vt:lpstr>
      <vt:lpstr>Proof of Concept</vt:lpstr>
      <vt:lpstr>What the POC should Prove</vt:lpstr>
      <vt:lpstr>Recommended POC Scope</vt:lpstr>
      <vt:lpstr>Phased Delivery Actions</vt:lpstr>
      <vt:lpstr>Risks</vt:lpstr>
      <vt:lpstr>Decision Requested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Amanda Chenery (achenery)</dc:creator>
  <cp:lastModifiedBy>Amanda Chenery (achenery)</cp:lastModifiedBy>
  <cp:revision>2</cp:revision>
  <dcterms:created xsi:type="dcterms:W3CDTF">2026-06-23T12:16:32Z</dcterms:created>
  <dcterms:modified xsi:type="dcterms:W3CDTF">2026-06-23T15:44:46Z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0x010100C4E837C0C014154FB2B15D89EFA54B38</vt:lpwstr>
  </property>
  <property fmtid="{D5CDD505-2E9C-101B-9397-08002B2CF9AE}" pid="3" name="MediaServiceImageTags">
    <vt:lpwstr/>
  </property>
</Properties>
</file>