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07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0B23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82880" cy="6858000"/>
          </a:xfrm>
          <a:prstGeom prst="rect">
            <a:avLst/>
          </a:prstGeom>
          <a:solidFill>
            <a:srgbClr val="00AC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85800" y="612648"/>
            <a:ext cx="2011680" cy="384048"/>
          </a:xfrm>
          <a:prstGeom prst="roundRect">
            <a:avLst/>
          </a:prstGeom>
          <a:solidFill>
            <a:srgbClr val="00AC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704088"/>
            <a:ext cx="1920240" cy="182880"/>
          </a:xfrm>
          <a:prstGeom prst="rect">
            <a:avLst/>
          </a:prstGeom>
          <a:noFill/>
        </p:spPr>
        <p:txBody>
          <a:bodyPr wrap="square" lIns="45720" rIns="45720" tIns="18288" bIns="18288" anchor="t">
            <a:spAutoFit/>
          </a:bodyPr>
          <a:lstStyle/>
          <a:p>
            <a:pPr algn="ctr">
              <a:defRPr sz="1000" b="1">
                <a:solidFill>
                  <a:srgbClr val="FFFFFF"/>
                </a:solidFill>
                <a:latin typeface="Aptos"/>
              </a:defRPr>
            </a:pPr>
            <a:r>
              <a:t>INSERT SLIDES</a:t>
            </a:r>
          </a:p>
        </p:txBody>
      </p:sp>
      <p:sp>
        <p:nvSpPr>
          <p:cNvPr id="8" name="TextBox 7"/>
          <p:cNvSpPr txBox="1"/>
          <p:nvPr/>
        </p:nvSpPr>
        <p:spPr>
          <a:xfrm>
            <a:off x="685800" y="1261872"/>
            <a:ext cx="10607040" cy="1097280"/>
          </a:xfrm>
          <a:prstGeom prst="rect">
            <a:avLst/>
          </a:prstGeom>
          <a:noFill/>
        </p:spPr>
        <p:txBody>
          <a:bodyPr wrap="square" lIns="45720" rIns="45720" tIns="18288" bIns="18288" anchor="t">
            <a:spAutoFit/>
          </a:bodyPr>
          <a:lstStyle/>
          <a:p>
            <a:pPr algn="l">
              <a:defRPr sz="3800" b="1">
                <a:solidFill>
                  <a:srgbClr val="FFFFFF"/>
                </a:solidFill>
                <a:latin typeface="Aptos"/>
              </a:defRPr>
            </a:pPr>
            <a:r>
              <a:t>Clarifying the Workfront + CTT Bridge Story</a:t>
            </a:r>
          </a:p>
        </p:txBody>
      </p:sp>
      <p:sp>
        <p:nvSpPr>
          <p:cNvPr id="9" name="TextBox 8"/>
          <p:cNvSpPr txBox="1"/>
          <p:nvPr/>
        </p:nvSpPr>
        <p:spPr>
          <a:xfrm>
            <a:off x="713232" y="2578608"/>
            <a:ext cx="9875520" cy="621792"/>
          </a:xfrm>
          <a:prstGeom prst="rect">
            <a:avLst/>
          </a:prstGeom>
          <a:noFill/>
        </p:spPr>
        <p:txBody>
          <a:bodyPr wrap="square" lIns="45720" rIns="45720" tIns="18288" bIns="18288" anchor="t">
            <a:spAutoFit/>
          </a:bodyPr>
          <a:lstStyle/>
          <a:p>
            <a:pPr algn="l">
              <a:defRPr sz="1700" b="0">
                <a:solidFill>
                  <a:srgbClr val="DCEBF5"/>
                </a:solidFill>
                <a:latin typeface="Aptos"/>
              </a:defRPr>
            </a:pPr>
            <a:r>
              <a:t>An interim process to enable FY27 marketing measurement now, while protecting the Adobe North Star / automation end goal and avoiding disruption to One Cisco CRM work.</a:t>
            </a:r>
          </a:p>
        </p:txBody>
      </p:sp>
      <p:sp>
        <p:nvSpPr>
          <p:cNvPr id="10" name="Rounded Rectangle 9"/>
          <p:cNvSpPr/>
          <p:nvPr/>
        </p:nvSpPr>
        <p:spPr>
          <a:xfrm>
            <a:off x="713232" y="4251960"/>
            <a:ext cx="1920240" cy="384048"/>
          </a:xfrm>
          <a:prstGeom prst="roundRect">
            <a:avLst/>
          </a:prstGeom>
          <a:solidFill>
            <a:srgbClr val="00AC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8952" y="4343400"/>
            <a:ext cx="1828800" cy="182880"/>
          </a:xfrm>
          <a:prstGeom prst="rect">
            <a:avLst/>
          </a:prstGeom>
          <a:noFill/>
        </p:spPr>
        <p:txBody>
          <a:bodyPr wrap="square" lIns="45720" rIns="45720" tIns="18288" bIns="18288" anchor="t">
            <a:spAutoFit/>
          </a:bodyPr>
          <a:lstStyle/>
          <a:p>
            <a:pPr algn="ctr">
              <a:defRPr sz="1100" b="1">
                <a:solidFill>
                  <a:srgbClr val="FFFFFF"/>
                </a:solidFill>
                <a:latin typeface="Aptos"/>
              </a:defRPr>
            </a:pPr>
            <a:r>
              <a:t>Measure now</a:t>
            </a:r>
          </a:p>
        </p:txBody>
      </p:sp>
      <p:cxnSp>
        <p:nvCxnSpPr>
          <p:cNvPr id="12" name="Connector 11"/>
          <p:cNvCxnSpPr/>
          <p:nvPr/>
        </p:nvCxnSpPr>
        <p:spPr>
          <a:xfrm>
            <a:off x="2633472" y="4443984"/>
            <a:ext cx="338328" cy="0"/>
          </a:xfrm>
          <a:prstGeom prst="line">
            <a:avLst/>
          </a:prstGeom>
          <a:ln w="19050">
            <a:solidFill>
              <a:srgbClr val="BED2E1"/>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044952" y="4251960"/>
            <a:ext cx="1920240" cy="384048"/>
          </a:xfrm>
          <a:prstGeom prst="roundRect">
            <a:avLst/>
          </a:prstGeom>
          <a:solidFill>
            <a:srgbClr val="EF6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090672" y="4343400"/>
            <a:ext cx="1828800" cy="182880"/>
          </a:xfrm>
          <a:prstGeom prst="rect">
            <a:avLst/>
          </a:prstGeom>
          <a:noFill/>
        </p:spPr>
        <p:txBody>
          <a:bodyPr wrap="square" lIns="45720" rIns="45720" tIns="18288" bIns="18288" anchor="t">
            <a:spAutoFit/>
          </a:bodyPr>
          <a:lstStyle/>
          <a:p>
            <a:pPr algn="ctr">
              <a:defRPr sz="1100" b="1">
                <a:solidFill>
                  <a:srgbClr val="FFFFFF"/>
                </a:solidFill>
                <a:latin typeface="Aptos"/>
              </a:defRPr>
            </a:pPr>
            <a:r>
              <a:t>Bridge safely</a:t>
            </a:r>
          </a:p>
        </p:txBody>
      </p:sp>
      <p:cxnSp>
        <p:nvCxnSpPr>
          <p:cNvPr id="15" name="Connector 14"/>
          <p:cNvCxnSpPr/>
          <p:nvPr/>
        </p:nvCxnSpPr>
        <p:spPr>
          <a:xfrm>
            <a:off x="4965192" y="4443984"/>
            <a:ext cx="338328" cy="0"/>
          </a:xfrm>
          <a:prstGeom prst="line">
            <a:avLst/>
          </a:prstGeom>
          <a:ln w="19050">
            <a:solidFill>
              <a:srgbClr val="BED2E1"/>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5376672" y="4251960"/>
            <a:ext cx="1920240" cy="384048"/>
          </a:xfrm>
          <a:prstGeom prst="round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22392" y="4343400"/>
            <a:ext cx="1828800" cy="182880"/>
          </a:xfrm>
          <a:prstGeom prst="rect">
            <a:avLst/>
          </a:prstGeom>
          <a:noFill/>
        </p:spPr>
        <p:txBody>
          <a:bodyPr wrap="square" lIns="45720" rIns="45720" tIns="18288" bIns="18288" anchor="t">
            <a:spAutoFit/>
          </a:bodyPr>
          <a:lstStyle/>
          <a:p>
            <a:pPr algn="ctr">
              <a:defRPr sz="1100" b="1">
                <a:solidFill>
                  <a:srgbClr val="FFFFFF"/>
                </a:solidFill>
                <a:latin typeface="Aptos"/>
              </a:defRPr>
            </a:pPr>
            <a:r>
              <a:t>Decommission CTT</a:t>
            </a:r>
          </a:p>
        </p:txBody>
      </p:sp>
      <p:cxnSp>
        <p:nvCxnSpPr>
          <p:cNvPr id="18" name="Connector 17"/>
          <p:cNvCxnSpPr/>
          <p:nvPr/>
        </p:nvCxnSpPr>
        <p:spPr>
          <a:xfrm>
            <a:off x="7296912" y="4443984"/>
            <a:ext cx="338328" cy="0"/>
          </a:xfrm>
          <a:prstGeom prst="line">
            <a:avLst/>
          </a:prstGeom>
          <a:ln w="19050">
            <a:solidFill>
              <a:srgbClr val="BED2E1"/>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08392" y="4251960"/>
            <a:ext cx="1920240" cy="384048"/>
          </a:xfrm>
          <a:prstGeom prst="roundRect">
            <a:avLst/>
          </a:prstGeom>
          <a:solidFill>
            <a:srgbClr val="5E35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54112" y="4343400"/>
            <a:ext cx="1828800" cy="182880"/>
          </a:xfrm>
          <a:prstGeom prst="rect">
            <a:avLst/>
          </a:prstGeom>
          <a:noFill/>
        </p:spPr>
        <p:txBody>
          <a:bodyPr wrap="square" lIns="45720" rIns="45720" tIns="18288" bIns="18288" anchor="t">
            <a:spAutoFit/>
          </a:bodyPr>
          <a:lstStyle/>
          <a:p>
            <a:pPr algn="ctr">
              <a:defRPr sz="1100" b="1">
                <a:solidFill>
                  <a:srgbClr val="FFFFFF"/>
                </a:solidFill>
                <a:latin typeface="Aptos"/>
              </a:defRPr>
            </a:pPr>
            <a:r>
              <a:t>Reach North Star</a:t>
            </a:r>
          </a:p>
        </p:txBody>
      </p:sp>
      <p:sp>
        <p:nvSpPr>
          <p:cNvPr id="21" name="TextBox 20"/>
          <p:cNvSpPr txBox="1"/>
          <p:nvPr/>
        </p:nvSpPr>
        <p:spPr>
          <a:xfrm>
            <a:off x="731520" y="5989320"/>
            <a:ext cx="8961120" cy="228600"/>
          </a:xfrm>
          <a:prstGeom prst="rect">
            <a:avLst/>
          </a:prstGeom>
          <a:noFill/>
        </p:spPr>
        <p:txBody>
          <a:bodyPr wrap="square" lIns="45720" rIns="45720" tIns="18288" bIns="18288" anchor="t">
            <a:spAutoFit/>
          </a:bodyPr>
          <a:lstStyle/>
          <a:p>
            <a:pPr algn="l">
              <a:defRPr sz="950" b="0">
                <a:solidFill>
                  <a:srgbClr val="CDD7E1"/>
                </a:solidFill>
                <a:latin typeface="Aptos"/>
              </a:defRPr>
            </a:pPr>
            <a:r>
              <a:t>Use these slides as inserts or replacements in the corporate deck.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07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84048"/>
            <a:ext cx="11064240" cy="548640"/>
          </a:xfrm>
          <a:prstGeom prst="rect">
            <a:avLst/>
          </a:prstGeom>
          <a:noFill/>
        </p:spPr>
        <p:txBody>
          <a:bodyPr wrap="square" lIns="45720" rIns="45720" tIns="18288" bIns="18288" anchor="t">
            <a:spAutoFit/>
          </a:bodyPr>
          <a:lstStyle/>
          <a:p>
            <a:pPr algn="l">
              <a:defRPr sz="2800" b="1">
                <a:solidFill>
                  <a:srgbClr val="0B2340"/>
                </a:solidFill>
                <a:latin typeface="Aptos"/>
              </a:defRPr>
            </a:pPr>
            <a:r>
              <a:t>The message in one slide</a:t>
            </a:r>
          </a:p>
        </p:txBody>
      </p:sp>
      <p:sp>
        <p:nvSpPr>
          <p:cNvPr id="5" name="TextBox 4"/>
          <p:cNvSpPr txBox="1"/>
          <p:nvPr/>
        </p:nvSpPr>
        <p:spPr>
          <a:xfrm>
            <a:off x="530352" y="969264"/>
            <a:ext cx="10698480" cy="347472"/>
          </a:xfrm>
          <a:prstGeom prst="rect">
            <a:avLst/>
          </a:prstGeom>
          <a:noFill/>
        </p:spPr>
        <p:txBody>
          <a:bodyPr wrap="square" lIns="45720" rIns="45720" tIns="18288" bIns="18288" anchor="t">
            <a:spAutoFit/>
          </a:bodyPr>
          <a:lstStyle/>
          <a:p>
            <a:pPr algn="l">
              <a:defRPr sz="1250" b="0">
                <a:solidFill>
                  <a:srgbClr val="5B6770"/>
                </a:solidFill>
                <a:latin typeface="Aptos"/>
              </a:defRPr>
            </a:pPr>
            <a:r>
              <a:t>This is an interim bridge that accelerates Marketing measurement without changing the strategic destination.</a:t>
            </a:r>
          </a:p>
        </p:txBody>
      </p:sp>
      <p:sp>
        <p:nvSpPr>
          <p:cNvPr id="6" name="TextBox 5"/>
          <p:cNvSpPr txBox="1"/>
          <p:nvPr/>
        </p:nvSpPr>
        <p:spPr>
          <a:xfrm>
            <a:off x="457200" y="6473952"/>
            <a:ext cx="7315200" cy="219456"/>
          </a:xfrm>
          <a:prstGeom prst="rect">
            <a:avLst/>
          </a:prstGeom>
          <a:noFill/>
        </p:spPr>
        <p:txBody>
          <a:bodyPr wrap="square" lIns="45720" rIns="45720" tIns="18288" bIns="18288" anchor="t">
            <a:spAutoFit/>
          </a:bodyPr>
          <a:lstStyle/>
          <a:p>
            <a:pPr algn="l">
              <a:defRPr sz="800" b="0">
                <a:solidFill>
                  <a:srgbClr val="5B6770"/>
                </a:solidFill>
                <a:latin typeface="Aptos"/>
              </a:defRPr>
            </a:pPr>
            <a:r>
              <a:t>Workfront + CTT interim bridge support slides</a:t>
            </a:r>
          </a:p>
        </p:txBody>
      </p:sp>
      <p:sp>
        <p:nvSpPr>
          <p:cNvPr id="7" name="TextBox 6"/>
          <p:cNvSpPr txBox="1"/>
          <p:nvPr/>
        </p:nvSpPr>
        <p:spPr>
          <a:xfrm>
            <a:off x="11292840" y="6473952"/>
            <a:ext cx="502920" cy="219456"/>
          </a:xfrm>
          <a:prstGeom prst="rect">
            <a:avLst/>
          </a:prstGeom>
          <a:noFill/>
        </p:spPr>
        <p:txBody>
          <a:bodyPr wrap="square" lIns="45720" rIns="45720" tIns="18288" bIns="18288" anchor="t">
            <a:spAutoFit/>
          </a:bodyPr>
          <a:lstStyle/>
          <a:p>
            <a:pPr algn="r">
              <a:defRPr sz="800" b="0">
                <a:solidFill>
                  <a:srgbClr val="5B6770"/>
                </a:solidFill>
                <a:latin typeface="Aptos"/>
              </a:defRPr>
            </a:pPr>
            <a:r>
              <a:t>2</a:t>
            </a:r>
          </a:p>
        </p:txBody>
      </p:sp>
      <p:sp>
        <p:nvSpPr>
          <p:cNvPr id="8" name="Rounded Rectangle 7"/>
          <p:cNvSpPr/>
          <p:nvPr/>
        </p:nvSpPr>
        <p:spPr>
          <a:xfrm>
            <a:off x="658368" y="1600200"/>
            <a:ext cx="3401568" cy="3291840"/>
          </a:xfrm>
          <a:prstGeom prst="roundRect">
            <a:avLst/>
          </a:prstGeom>
          <a:solidFill>
            <a:srgbClr val="FFFFFF"/>
          </a:solidFill>
          <a:ln w="12700">
            <a:solidFill>
              <a:srgbClr val="D8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1600200"/>
            <a:ext cx="73152" cy="329184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1719072"/>
            <a:ext cx="3081528" cy="320040"/>
          </a:xfrm>
          <a:prstGeom prst="rect">
            <a:avLst/>
          </a:prstGeom>
          <a:noFill/>
        </p:spPr>
        <p:txBody>
          <a:bodyPr wrap="square" lIns="45720" rIns="45720" tIns="18288" bIns="18288" anchor="t">
            <a:spAutoFit/>
          </a:bodyPr>
          <a:lstStyle/>
          <a:p>
            <a:pPr algn="l">
              <a:defRPr sz="1400" b="1">
                <a:solidFill>
                  <a:srgbClr val="0B2340"/>
                </a:solidFill>
                <a:latin typeface="Aptos"/>
              </a:defRPr>
            </a:pPr>
            <a:r>
              <a:t>Where we are going</a:t>
            </a:r>
          </a:p>
        </p:txBody>
      </p:sp>
      <p:sp>
        <p:nvSpPr>
          <p:cNvPr id="11" name="TextBox 10"/>
          <p:cNvSpPr txBox="1"/>
          <p:nvPr/>
        </p:nvSpPr>
        <p:spPr>
          <a:xfrm>
            <a:off x="859536" y="2130552"/>
            <a:ext cx="3017520" cy="2697480"/>
          </a:xfrm>
          <a:prstGeom prst="rect">
            <a:avLst/>
          </a:prstGeom>
          <a:noFill/>
        </p:spPr>
        <p:txBody>
          <a:bodyPr wrap="square" lIns="18288" rIns="18288" tIns="18288">
            <a:spAutoFit/>
          </a:bodyPr>
          <a:lstStyle/>
          <a:p>
            <a:pPr marL="228600" indent="-127000">
              <a:buChar char="•"/>
              <a:spcAft>
                <a:spcPts val="300"/>
              </a:spcAft>
              <a:defRPr sz="1320">
                <a:solidFill>
                  <a:srgbClr val="1C2024"/>
                </a:solidFill>
                <a:latin typeface="Aptos"/>
              </a:defRPr>
            </a:pPr>
            <a:r>
              <a:t>Workfront becomes the marketing execution/data source.</a:t>
            </a:r>
          </a:p>
          <a:p>
            <a:pPr marL="228600" indent="-127000">
              <a:buChar char="•"/>
              <a:spcAft>
                <a:spcPts val="300"/>
              </a:spcAft>
              <a:defRPr sz="1320">
                <a:solidFill>
                  <a:srgbClr val="1C2024"/>
                </a:solidFill>
                <a:latin typeface="Aptos"/>
              </a:defRPr>
            </a:pPr>
            <a:r>
              <a:t>Adobe North Star and automation remain the end goal.</a:t>
            </a:r>
          </a:p>
          <a:p>
            <a:pPr marL="228600" indent="-127000">
              <a:buChar char="•"/>
              <a:spcAft>
                <a:spcPts val="300"/>
              </a:spcAft>
              <a:defRPr sz="1320">
                <a:solidFill>
                  <a:srgbClr val="1C2024"/>
                </a:solidFill>
                <a:latin typeface="Aptos"/>
              </a:defRPr>
            </a:pPr>
            <a:r>
              <a:t>CTT is ultimately decommissioned.</a:t>
            </a:r>
          </a:p>
        </p:txBody>
      </p:sp>
      <p:sp>
        <p:nvSpPr>
          <p:cNvPr id="12" name="Rounded Rectangle 11"/>
          <p:cNvSpPr/>
          <p:nvPr/>
        </p:nvSpPr>
        <p:spPr>
          <a:xfrm>
            <a:off x="4462272" y="1600200"/>
            <a:ext cx="3401568" cy="3291840"/>
          </a:xfrm>
          <a:prstGeom prst="roundRect">
            <a:avLst/>
          </a:prstGeom>
          <a:solidFill>
            <a:srgbClr val="FFFFFF"/>
          </a:solidFill>
          <a:ln w="12700">
            <a:solidFill>
              <a:srgbClr val="D8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62272" y="1600200"/>
            <a:ext cx="73152" cy="3291840"/>
          </a:xfrm>
          <a:prstGeom prst="rect">
            <a:avLst/>
          </a:prstGeom>
          <a:solidFill>
            <a:srgbClr val="EF6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26864" y="1719072"/>
            <a:ext cx="3081528" cy="320040"/>
          </a:xfrm>
          <a:prstGeom prst="rect">
            <a:avLst/>
          </a:prstGeom>
          <a:noFill/>
        </p:spPr>
        <p:txBody>
          <a:bodyPr wrap="square" lIns="45720" rIns="45720" tIns="18288" bIns="18288" anchor="t">
            <a:spAutoFit/>
          </a:bodyPr>
          <a:lstStyle/>
          <a:p>
            <a:pPr algn="l">
              <a:defRPr sz="1400" b="1">
                <a:solidFill>
                  <a:srgbClr val="0B2340"/>
                </a:solidFill>
                <a:latin typeface="Aptos"/>
              </a:defRPr>
            </a:pPr>
            <a:r>
              <a:t>What is blocking a clean cutover today</a:t>
            </a:r>
          </a:p>
        </p:txBody>
      </p:sp>
      <p:sp>
        <p:nvSpPr>
          <p:cNvPr id="15" name="TextBox 14"/>
          <p:cNvSpPr txBox="1"/>
          <p:nvPr/>
        </p:nvSpPr>
        <p:spPr>
          <a:xfrm>
            <a:off x="4663440" y="2130552"/>
            <a:ext cx="3017520" cy="2697480"/>
          </a:xfrm>
          <a:prstGeom prst="rect">
            <a:avLst/>
          </a:prstGeom>
          <a:noFill/>
        </p:spPr>
        <p:txBody>
          <a:bodyPr wrap="square" lIns="18288" rIns="18288" tIns="18288">
            <a:spAutoFit/>
          </a:bodyPr>
          <a:lstStyle/>
          <a:p>
            <a:pPr marL="228600" indent="-127000">
              <a:buChar char="•"/>
              <a:spcAft>
                <a:spcPts val="300"/>
              </a:spcAft>
              <a:defRPr sz="1320">
                <a:solidFill>
                  <a:srgbClr val="1C2024"/>
                </a:solidFill>
                <a:latin typeface="Aptos"/>
              </a:defRPr>
            </a:pPr>
            <a:r>
              <a:t>Not all activities originate in Workfront yet.</a:t>
            </a:r>
          </a:p>
          <a:p>
            <a:pPr marL="228600" indent="-127000">
              <a:buChar char="•"/>
              <a:spcAft>
                <a:spcPts val="300"/>
              </a:spcAft>
              <a:defRPr sz="1320">
                <a:solidFill>
                  <a:srgbClr val="1C2024"/>
                </a:solidFill>
                <a:latin typeface="Aptos"/>
              </a:defRPr>
            </a:pPr>
            <a:r>
              <a:t>CTT IDs are embedded in processes, tools and reporting.</a:t>
            </a:r>
          </a:p>
          <a:p>
            <a:pPr marL="228600" indent="-127000">
              <a:buChar char="•"/>
              <a:spcAft>
                <a:spcPts val="300"/>
              </a:spcAft>
              <a:defRPr sz="1320">
                <a:solidFill>
                  <a:srgbClr val="1C2024"/>
                </a:solidFill>
                <a:latin typeface="Aptos"/>
              </a:defRPr>
            </a:pPr>
            <a:r>
              <a:t>SFDC / One Cisco CRM work should not be interrupted by this request.</a:t>
            </a:r>
          </a:p>
        </p:txBody>
      </p:sp>
      <p:sp>
        <p:nvSpPr>
          <p:cNvPr id="16" name="Rounded Rectangle 15"/>
          <p:cNvSpPr/>
          <p:nvPr/>
        </p:nvSpPr>
        <p:spPr>
          <a:xfrm>
            <a:off x="8266176" y="1600200"/>
            <a:ext cx="3401568" cy="3291840"/>
          </a:xfrm>
          <a:prstGeom prst="roundRect">
            <a:avLst/>
          </a:prstGeom>
          <a:solidFill>
            <a:srgbClr val="FFFFFF"/>
          </a:solidFill>
          <a:ln w="12700">
            <a:solidFill>
              <a:srgbClr val="D8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66176" y="1600200"/>
            <a:ext cx="73152" cy="3291840"/>
          </a:xfrm>
          <a:prstGeom prst="rect">
            <a:avLst/>
          </a:prstGeom>
          <a:solidFill>
            <a:srgbClr val="007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30768" y="1719072"/>
            <a:ext cx="3081528" cy="320040"/>
          </a:xfrm>
          <a:prstGeom prst="rect">
            <a:avLst/>
          </a:prstGeom>
          <a:noFill/>
        </p:spPr>
        <p:txBody>
          <a:bodyPr wrap="square" lIns="45720" rIns="45720" tIns="18288" bIns="18288" anchor="t">
            <a:spAutoFit/>
          </a:bodyPr>
          <a:lstStyle/>
          <a:p>
            <a:pPr algn="l">
              <a:defRPr sz="1400" b="1">
                <a:solidFill>
                  <a:srgbClr val="0B2340"/>
                </a:solidFill>
                <a:latin typeface="Aptos"/>
              </a:defRPr>
            </a:pPr>
            <a:r>
              <a:t>What we are asking for now</a:t>
            </a:r>
          </a:p>
        </p:txBody>
      </p:sp>
      <p:sp>
        <p:nvSpPr>
          <p:cNvPr id="19" name="TextBox 18"/>
          <p:cNvSpPr txBox="1"/>
          <p:nvPr/>
        </p:nvSpPr>
        <p:spPr>
          <a:xfrm>
            <a:off x="8467344" y="2130552"/>
            <a:ext cx="3017520" cy="2697480"/>
          </a:xfrm>
          <a:prstGeom prst="rect">
            <a:avLst/>
          </a:prstGeom>
          <a:noFill/>
        </p:spPr>
        <p:txBody>
          <a:bodyPr wrap="square" lIns="18288" rIns="18288" tIns="18288">
            <a:spAutoFit/>
          </a:bodyPr>
          <a:lstStyle/>
          <a:p>
            <a:pPr marL="228600" indent="-127000">
              <a:buChar char="•"/>
              <a:spcAft>
                <a:spcPts val="300"/>
              </a:spcAft>
              <a:defRPr sz="1320">
                <a:solidFill>
                  <a:srgbClr val="1C2024"/>
                </a:solidFill>
                <a:latin typeface="Aptos"/>
              </a:defRPr>
            </a:pPr>
            <a:r>
              <a:t>Approve a POC for Workfront + CTT integration.</a:t>
            </a:r>
          </a:p>
          <a:p>
            <a:pPr marL="228600" indent="-127000">
              <a:buChar char="•"/>
              <a:spcAft>
                <a:spcPts val="300"/>
              </a:spcAft>
              <a:defRPr sz="1320">
                <a:solidFill>
                  <a:srgbClr val="1C2024"/>
                </a:solidFill>
                <a:latin typeface="Aptos"/>
              </a:defRPr>
            </a:pPr>
            <a:r>
              <a:t>Capture FY27 reporting data elements for all activities during transition.</a:t>
            </a:r>
          </a:p>
          <a:p>
            <a:pPr marL="228600" indent="-127000">
              <a:buChar char="•"/>
              <a:spcAft>
                <a:spcPts val="300"/>
              </a:spcAft>
              <a:defRPr sz="1320">
                <a:solidFill>
                  <a:srgbClr val="1C2024"/>
                </a:solidFill>
                <a:latin typeface="Aptos"/>
              </a:defRPr>
            </a:pPr>
            <a:r>
              <a:t>Use the bridge to build decommission evidence and readiness.</a:t>
            </a:r>
          </a:p>
        </p:txBody>
      </p:sp>
      <p:sp>
        <p:nvSpPr>
          <p:cNvPr id="20" name="TextBox 19"/>
          <p:cNvSpPr txBox="1"/>
          <p:nvPr/>
        </p:nvSpPr>
        <p:spPr>
          <a:xfrm>
            <a:off x="914400" y="5394960"/>
            <a:ext cx="10332720" cy="438912"/>
          </a:xfrm>
          <a:prstGeom prst="rect">
            <a:avLst/>
          </a:prstGeom>
          <a:noFill/>
        </p:spPr>
        <p:txBody>
          <a:bodyPr wrap="square" lIns="45720" rIns="45720" tIns="18288" bIns="18288" anchor="t">
            <a:spAutoFit/>
          </a:bodyPr>
          <a:lstStyle/>
          <a:p>
            <a:pPr algn="ctr">
              <a:defRPr sz="1700" b="1">
                <a:solidFill>
                  <a:srgbClr val="0B2340"/>
                </a:solidFill>
                <a:latin typeface="Aptos"/>
              </a:defRPr>
            </a:pPr>
            <a:r>
              <a:t>The bridge is not a request to keep CTT permanently; it is a controlled way to keep Marketing insight moving while the target architecture matures.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07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84048"/>
            <a:ext cx="11064240" cy="548640"/>
          </a:xfrm>
          <a:prstGeom prst="rect">
            <a:avLst/>
          </a:prstGeom>
          <a:noFill/>
        </p:spPr>
        <p:txBody>
          <a:bodyPr wrap="square" lIns="45720" rIns="45720" tIns="18288" bIns="18288" anchor="t">
            <a:spAutoFit/>
          </a:bodyPr>
          <a:lstStyle/>
          <a:p>
            <a:pPr algn="l">
              <a:defRPr sz="2800" b="1">
                <a:solidFill>
                  <a:srgbClr val="0B2340"/>
                </a:solidFill>
                <a:latin typeface="Aptos"/>
              </a:defRPr>
            </a:pPr>
            <a:r>
              <a:t>Why we need this now</a:t>
            </a:r>
          </a:p>
        </p:txBody>
      </p:sp>
      <p:sp>
        <p:nvSpPr>
          <p:cNvPr id="5" name="TextBox 4"/>
          <p:cNvSpPr txBox="1"/>
          <p:nvPr/>
        </p:nvSpPr>
        <p:spPr>
          <a:xfrm>
            <a:off x="530352" y="969264"/>
            <a:ext cx="10698480" cy="347472"/>
          </a:xfrm>
          <a:prstGeom prst="rect">
            <a:avLst/>
          </a:prstGeom>
          <a:noFill/>
        </p:spPr>
        <p:txBody>
          <a:bodyPr wrap="square" lIns="45720" rIns="45720" tIns="18288" bIns="18288" anchor="t">
            <a:spAutoFit/>
          </a:bodyPr>
          <a:lstStyle/>
          <a:p>
            <a:pPr algn="l">
              <a:defRPr sz="1250" b="0">
                <a:solidFill>
                  <a:srgbClr val="5B6770"/>
                </a:solidFill>
                <a:latin typeface="Aptos"/>
              </a:defRPr>
            </a:pPr>
            <a:r>
              <a:t>FY27 reporting requires consistent marketing data elements across all activity types, not only those already in Workfront.</a:t>
            </a:r>
          </a:p>
        </p:txBody>
      </p:sp>
      <p:sp>
        <p:nvSpPr>
          <p:cNvPr id="6" name="TextBox 5"/>
          <p:cNvSpPr txBox="1"/>
          <p:nvPr/>
        </p:nvSpPr>
        <p:spPr>
          <a:xfrm>
            <a:off x="457200" y="6473952"/>
            <a:ext cx="7315200" cy="219456"/>
          </a:xfrm>
          <a:prstGeom prst="rect">
            <a:avLst/>
          </a:prstGeom>
          <a:noFill/>
        </p:spPr>
        <p:txBody>
          <a:bodyPr wrap="square" lIns="45720" rIns="45720" tIns="18288" bIns="18288" anchor="t">
            <a:spAutoFit/>
          </a:bodyPr>
          <a:lstStyle/>
          <a:p>
            <a:pPr algn="l">
              <a:defRPr sz="800" b="0">
                <a:solidFill>
                  <a:srgbClr val="5B6770"/>
                </a:solidFill>
                <a:latin typeface="Aptos"/>
              </a:defRPr>
            </a:pPr>
            <a:r>
              <a:t>Workfront + CTT interim bridge support slides</a:t>
            </a:r>
          </a:p>
        </p:txBody>
      </p:sp>
      <p:sp>
        <p:nvSpPr>
          <p:cNvPr id="7" name="TextBox 6"/>
          <p:cNvSpPr txBox="1"/>
          <p:nvPr/>
        </p:nvSpPr>
        <p:spPr>
          <a:xfrm>
            <a:off x="11292840" y="6473952"/>
            <a:ext cx="502920" cy="219456"/>
          </a:xfrm>
          <a:prstGeom prst="rect">
            <a:avLst/>
          </a:prstGeom>
          <a:noFill/>
        </p:spPr>
        <p:txBody>
          <a:bodyPr wrap="square" lIns="45720" rIns="45720" tIns="18288" bIns="18288" anchor="t">
            <a:spAutoFit/>
          </a:bodyPr>
          <a:lstStyle/>
          <a:p>
            <a:pPr algn="r">
              <a:defRPr sz="800" b="0">
                <a:solidFill>
                  <a:srgbClr val="5B6770"/>
                </a:solidFill>
                <a:latin typeface="Aptos"/>
              </a:defRPr>
            </a:pPr>
            <a:r>
              <a:t>3</a:t>
            </a:r>
          </a:p>
        </p:txBody>
      </p:sp>
      <p:sp>
        <p:nvSpPr>
          <p:cNvPr id="8" name="Rounded Rectangle 7"/>
          <p:cNvSpPr/>
          <p:nvPr/>
        </p:nvSpPr>
        <p:spPr>
          <a:xfrm>
            <a:off x="685800" y="1463040"/>
            <a:ext cx="3383280" cy="4480560"/>
          </a:xfrm>
          <a:prstGeom prst="roundRect">
            <a:avLst/>
          </a:prstGeom>
          <a:solidFill>
            <a:srgbClr val="FFFFFF"/>
          </a:solidFill>
          <a:ln w="12700">
            <a:solidFill>
              <a:srgbClr val="D8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1463040"/>
            <a:ext cx="73152" cy="4480560"/>
          </a:xfrm>
          <a:prstGeom prst="rect">
            <a:avLst/>
          </a:prstGeom>
          <a:solidFill>
            <a:srgbClr val="EF6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0392" y="1581912"/>
            <a:ext cx="3063240" cy="320040"/>
          </a:xfrm>
          <a:prstGeom prst="rect">
            <a:avLst/>
          </a:prstGeom>
          <a:noFill/>
        </p:spPr>
        <p:txBody>
          <a:bodyPr wrap="square" lIns="45720" rIns="45720" tIns="18288" bIns="18288" anchor="t">
            <a:spAutoFit/>
          </a:bodyPr>
          <a:lstStyle/>
          <a:p>
            <a:pPr algn="l">
              <a:defRPr sz="1400" b="1">
                <a:solidFill>
                  <a:srgbClr val="0B2340"/>
                </a:solidFill>
                <a:latin typeface="Aptos"/>
              </a:defRPr>
            </a:pPr>
            <a:r>
              <a:t>The risk if we wait</a:t>
            </a:r>
          </a:p>
        </p:txBody>
      </p:sp>
      <p:sp>
        <p:nvSpPr>
          <p:cNvPr id="11" name="TextBox 10"/>
          <p:cNvSpPr txBox="1"/>
          <p:nvPr/>
        </p:nvSpPr>
        <p:spPr>
          <a:xfrm>
            <a:off x="886968" y="1993392"/>
            <a:ext cx="2999232" cy="3886200"/>
          </a:xfrm>
          <a:prstGeom prst="rect">
            <a:avLst/>
          </a:prstGeom>
          <a:noFill/>
        </p:spPr>
        <p:txBody>
          <a:bodyPr wrap="square" lIns="18288" rIns="18288" tIns="18288">
            <a:spAutoFit/>
          </a:bodyPr>
          <a:lstStyle/>
          <a:p>
            <a:pPr marL="228600" indent="-127000">
              <a:buChar char="•"/>
              <a:spcAft>
                <a:spcPts val="300"/>
              </a:spcAft>
              <a:defRPr sz="1280">
                <a:solidFill>
                  <a:srgbClr val="1C2024"/>
                </a:solidFill>
                <a:latin typeface="Aptos"/>
              </a:defRPr>
            </a:pPr>
            <a:r>
              <a:t>Marketing cannot consistently measure all FY27 initiatives.</a:t>
            </a:r>
          </a:p>
          <a:p>
            <a:pPr marL="228600" indent="-127000">
              <a:buChar char="•"/>
              <a:spcAft>
                <a:spcPts val="300"/>
              </a:spcAft>
              <a:defRPr sz="1280">
                <a:solidFill>
                  <a:srgbClr val="1C2024"/>
                </a:solidFill>
                <a:latin typeface="Aptos"/>
              </a:defRPr>
            </a:pPr>
            <a:r>
              <a:t>Online, offline and non-Workfront activities may be reported differently.</a:t>
            </a:r>
          </a:p>
          <a:p>
            <a:pPr marL="228600" indent="-127000">
              <a:buChar char="•"/>
              <a:spcAft>
                <a:spcPts val="300"/>
              </a:spcAft>
              <a:defRPr sz="1280">
                <a:solidFill>
                  <a:srgbClr val="1C2024"/>
                </a:solidFill>
                <a:latin typeface="Aptos"/>
              </a:defRPr>
            </a:pPr>
            <a:r>
              <a:t>Teams may slow Workfront adoption if reporting continuity is unclear.</a:t>
            </a:r>
          </a:p>
          <a:p>
            <a:pPr marL="228600" indent="-127000">
              <a:buChar char="•"/>
              <a:spcAft>
                <a:spcPts val="300"/>
              </a:spcAft>
              <a:defRPr sz="1280">
                <a:solidFill>
                  <a:srgbClr val="1C2024"/>
                </a:solidFill>
                <a:latin typeface="Aptos"/>
              </a:defRPr>
            </a:pPr>
            <a:r>
              <a:t>Attribution and funnel reporting may remain dependent on legacy structures.</a:t>
            </a:r>
          </a:p>
        </p:txBody>
      </p:sp>
      <p:sp>
        <p:nvSpPr>
          <p:cNvPr id="12" name="Rounded Rectangle 11"/>
          <p:cNvSpPr/>
          <p:nvPr/>
        </p:nvSpPr>
        <p:spPr>
          <a:xfrm>
            <a:off x="4389120" y="1463040"/>
            <a:ext cx="3383280" cy="4480560"/>
          </a:xfrm>
          <a:prstGeom prst="roundRect">
            <a:avLst/>
          </a:prstGeom>
          <a:solidFill>
            <a:srgbClr val="FFFFFF"/>
          </a:solidFill>
          <a:ln w="12700">
            <a:solidFill>
              <a:srgbClr val="D8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89120" y="1463040"/>
            <a:ext cx="73152" cy="4480560"/>
          </a:xfrm>
          <a:prstGeom prst="rect">
            <a:avLst/>
          </a:prstGeom>
          <a:solidFill>
            <a:srgbClr val="007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53712" y="1581912"/>
            <a:ext cx="3063240" cy="320040"/>
          </a:xfrm>
          <a:prstGeom prst="rect">
            <a:avLst/>
          </a:prstGeom>
          <a:noFill/>
        </p:spPr>
        <p:txBody>
          <a:bodyPr wrap="square" lIns="45720" rIns="45720" tIns="18288" bIns="18288" anchor="t">
            <a:spAutoFit/>
          </a:bodyPr>
          <a:lstStyle/>
          <a:p>
            <a:pPr algn="l">
              <a:defRPr sz="1400" b="1">
                <a:solidFill>
                  <a:srgbClr val="0B2340"/>
                </a:solidFill>
                <a:latin typeface="Aptos"/>
              </a:defRPr>
            </a:pPr>
            <a:r>
              <a:t>The opportunity now</a:t>
            </a:r>
          </a:p>
        </p:txBody>
      </p:sp>
      <p:sp>
        <p:nvSpPr>
          <p:cNvPr id="15" name="TextBox 14"/>
          <p:cNvSpPr txBox="1"/>
          <p:nvPr/>
        </p:nvSpPr>
        <p:spPr>
          <a:xfrm>
            <a:off x="4590288" y="1993392"/>
            <a:ext cx="2999232" cy="3886200"/>
          </a:xfrm>
          <a:prstGeom prst="rect">
            <a:avLst/>
          </a:prstGeom>
          <a:noFill/>
        </p:spPr>
        <p:txBody>
          <a:bodyPr wrap="square" lIns="18288" rIns="18288" tIns="18288">
            <a:spAutoFit/>
          </a:bodyPr>
          <a:lstStyle/>
          <a:p>
            <a:pPr marL="228600" indent="-127000">
              <a:buChar char="•"/>
              <a:spcAft>
                <a:spcPts val="300"/>
              </a:spcAft>
              <a:defRPr sz="1280">
                <a:solidFill>
                  <a:srgbClr val="1C2024"/>
                </a:solidFill>
                <a:latin typeface="Aptos"/>
              </a:defRPr>
            </a:pPr>
            <a:r>
              <a:t>Add the FY27 data elements into CTT during transition.</a:t>
            </a:r>
          </a:p>
          <a:p>
            <a:pPr marL="228600" indent="-127000">
              <a:buChar char="•"/>
              <a:spcAft>
                <a:spcPts val="300"/>
              </a:spcAft>
              <a:defRPr sz="1280">
                <a:solidFill>
                  <a:srgbClr val="1C2024"/>
                </a:solidFill>
                <a:latin typeface="Aptos"/>
              </a:defRPr>
            </a:pPr>
            <a:r>
              <a:t>Connect Workfront-originated activity to CTT IDs automatically.</a:t>
            </a:r>
          </a:p>
          <a:p>
            <a:pPr marL="228600" indent="-127000">
              <a:buChar char="•"/>
              <a:spcAft>
                <a:spcPts val="300"/>
              </a:spcAft>
              <a:defRPr sz="1280">
                <a:solidFill>
                  <a:srgbClr val="1C2024"/>
                </a:solidFill>
                <a:latin typeface="Aptos"/>
              </a:defRPr>
            </a:pPr>
            <a:r>
              <a:t>Write those IDs and attributes back into Workfront.</a:t>
            </a:r>
          </a:p>
          <a:p>
            <a:pPr marL="228600" indent="-127000">
              <a:buChar char="•"/>
              <a:spcAft>
                <a:spcPts val="300"/>
              </a:spcAft>
              <a:defRPr sz="1280">
                <a:solidFill>
                  <a:srgbClr val="1C2024"/>
                </a:solidFill>
                <a:latin typeface="Aptos"/>
              </a:defRPr>
            </a:pPr>
            <a:r>
              <a:t>Create a consistent data foundation before full decommission.</a:t>
            </a:r>
          </a:p>
        </p:txBody>
      </p:sp>
      <p:sp>
        <p:nvSpPr>
          <p:cNvPr id="16" name="Rounded Rectangle 15"/>
          <p:cNvSpPr/>
          <p:nvPr/>
        </p:nvSpPr>
        <p:spPr>
          <a:xfrm>
            <a:off x="8092440" y="1463040"/>
            <a:ext cx="3383280" cy="4480560"/>
          </a:xfrm>
          <a:prstGeom prst="roundRect">
            <a:avLst/>
          </a:prstGeom>
          <a:solidFill>
            <a:srgbClr val="FFFFFF"/>
          </a:solidFill>
          <a:ln w="12700">
            <a:solidFill>
              <a:srgbClr val="D8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92440" y="1463040"/>
            <a:ext cx="73152" cy="448056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57031" y="1581912"/>
            <a:ext cx="3063240" cy="320040"/>
          </a:xfrm>
          <a:prstGeom prst="rect">
            <a:avLst/>
          </a:prstGeom>
          <a:noFill/>
        </p:spPr>
        <p:txBody>
          <a:bodyPr wrap="square" lIns="45720" rIns="45720" tIns="18288" bIns="18288" anchor="t">
            <a:spAutoFit/>
          </a:bodyPr>
          <a:lstStyle/>
          <a:p>
            <a:pPr algn="l">
              <a:defRPr sz="1400" b="1">
                <a:solidFill>
                  <a:srgbClr val="0B2340"/>
                </a:solidFill>
                <a:latin typeface="Aptos"/>
              </a:defRPr>
            </a:pPr>
            <a:r>
              <a:t>The business outcome</a:t>
            </a:r>
          </a:p>
        </p:txBody>
      </p:sp>
      <p:sp>
        <p:nvSpPr>
          <p:cNvPr id="19" name="TextBox 18"/>
          <p:cNvSpPr txBox="1"/>
          <p:nvPr/>
        </p:nvSpPr>
        <p:spPr>
          <a:xfrm>
            <a:off x="8293608" y="1993392"/>
            <a:ext cx="2999232" cy="3886200"/>
          </a:xfrm>
          <a:prstGeom prst="rect">
            <a:avLst/>
          </a:prstGeom>
          <a:noFill/>
        </p:spPr>
        <p:txBody>
          <a:bodyPr wrap="square" lIns="18288" rIns="18288" tIns="18288">
            <a:spAutoFit/>
          </a:bodyPr>
          <a:lstStyle/>
          <a:p>
            <a:pPr marL="228600" indent="-127000">
              <a:buChar char="•"/>
              <a:spcAft>
                <a:spcPts val="300"/>
              </a:spcAft>
              <a:defRPr sz="1280">
                <a:solidFill>
                  <a:srgbClr val="1C2024"/>
                </a:solidFill>
                <a:latin typeface="Aptos"/>
              </a:defRPr>
            </a:pPr>
            <a:r>
              <a:t>Marketing can measure activity performance sooner.</a:t>
            </a:r>
          </a:p>
          <a:p>
            <a:pPr marL="228600" indent="-127000">
              <a:buChar char="•"/>
              <a:spcAft>
                <a:spcPts val="300"/>
              </a:spcAft>
              <a:defRPr sz="1280">
                <a:solidFill>
                  <a:srgbClr val="1C2024"/>
                </a:solidFill>
                <a:latin typeface="Aptos"/>
              </a:defRPr>
            </a:pPr>
            <a:r>
              <a:t>Reporting teams can use a common set of data elements.</a:t>
            </a:r>
          </a:p>
          <a:p>
            <a:pPr marL="228600" indent="-127000">
              <a:buChar char="•"/>
              <a:spcAft>
                <a:spcPts val="300"/>
              </a:spcAft>
              <a:defRPr sz="1280">
                <a:solidFill>
                  <a:srgbClr val="1C2024"/>
                </a:solidFill>
                <a:latin typeface="Aptos"/>
              </a:defRPr>
            </a:pPr>
            <a:r>
              <a:t>Workfront migration can progress without creating a measurement gap.</a:t>
            </a:r>
          </a:p>
          <a:p>
            <a:pPr marL="228600" indent="-127000">
              <a:buChar char="•"/>
              <a:spcAft>
                <a:spcPts val="300"/>
              </a:spcAft>
              <a:defRPr sz="1280">
                <a:solidFill>
                  <a:srgbClr val="1C2024"/>
                </a:solidFill>
                <a:latin typeface="Aptos"/>
              </a:defRPr>
            </a:pPr>
            <a:r>
              <a:t>CTT is prepared for decommission instead of left as a separate legacy path.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07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84048"/>
            <a:ext cx="11064240" cy="548640"/>
          </a:xfrm>
          <a:prstGeom prst="rect">
            <a:avLst/>
          </a:prstGeom>
          <a:noFill/>
        </p:spPr>
        <p:txBody>
          <a:bodyPr wrap="square" lIns="45720" rIns="45720" tIns="18288" bIns="18288" anchor="t">
            <a:spAutoFit/>
          </a:bodyPr>
          <a:lstStyle/>
          <a:p>
            <a:pPr algn="l">
              <a:defRPr sz="2800" b="1">
                <a:solidFill>
                  <a:srgbClr val="0B2340"/>
                </a:solidFill>
                <a:latin typeface="Aptos"/>
              </a:defRPr>
            </a:pPr>
            <a:r>
              <a:t>What the interim process does</a:t>
            </a:r>
          </a:p>
        </p:txBody>
      </p:sp>
      <p:sp>
        <p:nvSpPr>
          <p:cNvPr id="5" name="TextBox 4"/>
          <p:cNvSpPr txBox="1"/>
          <p:nvPr/>
        </p:nvSpPr>
        <p:spPr>
          <a:xfrm>
            <a:off x="530352" y="969264"/>
            <a:ext cx="10698480" cy="347472"/>
          </a:xfrm>
          <a:prstGeom prst="rect">
            <a:avLst/>
          </a:prstGeom>
          <a:noFill/>
        </p:spPr>
        <p:txBody>
          <a:bodyPr wrap="square" lIns="45720" rIns="45720" tIns="18288" bIns="18288" anchor="t">
            <a:spAutoFit/>
          </a:bodyPr>
          <a:lstStyle/>
          <a:p>
            <a:pPr algn="l">
              <a:defRPr sz="1250" b="0">
                <a:solidFill>
                  <a:srgbClr val="5B6770"/>
                </a:solidFill>
                <a:latin typeface="Aptos"/>
              </a:defRPr>
            </a:pPr>
            <a:r>
              <a:t>The bridge creates consistency across Workfront and non-Workfront activity while keeping the end-state direction intact.</a:t>
            </a:r>
          </a:p>
        </p:txBody>
      </p:sp>
      <p:sp>
        <p:nvSpPr>
          <p:cNvPr id="6" name="TextBox 5"/>
          <p:cNvSpPr txBox="1"/>
          <p:nvPr/>
        </p:nvSpPr>
        <p:spPr>
          <a:xfrm>
            <a:off x="457200" y="6473952"/>
            <a:ext cx="7315200" cy="219456"/>
          </a:xfrm>
          <a:prstGeom prst="rect">
            <a:avLst/>
          </a:prstGeom>
          <a:noFill/>
        </p:spPr>
        <p:txBody>
          <a:bodyPr wrap="square" lIns="45720" rIns="45720" tIns="18288" bIns="18288" anchor="t">
            <a:spAutoFit/>
          </a:bodyPr>
          <a:lstStyle/>
          <a:p>
            <a:pPr algn="l">
              <a:defRPr sz="800" b="0">
                <a:solidFill>
                  <a:srgbClr val="5B6770"/>
                </a:solidFill>
                <a:latin typeface="Aptos"/>
              </a:defRPr>
            </a:pPr>
            <a:r>
              <a:t>Workfront + CTT interim bridge support slides</a:t>
            </a:r>
          </a:p>
        </p:txBody>
      </p:sp>
      <p:sp>
        <p:nvSpPr>
          <p:cNvPr id="7" name="TextBox 6"/>
          <p:cNvSpPr txBox="1"/>
          <p:nvPr/>
        </p:nvSpPr>
        <p:spPr>
          <a:xfrm>
            <a:off x="11292840" y="6473952"/>
            <a:ext cx="502920" cy="219456"/>
          </a:xfrm>
          <a:prstGeom prst="rect">
            <a:avLst/>
          </a:prstGeom>
          <a:noFill/>
        </p:spPr>
        <p:txBody>
          <a:bodyPr wrap="square" lIns="45720" rIns="45720" tIns="18288" bIns="18288" anchor="t">
            <a:spAutoFit/>
          </a:bodyPr>
          <a:lstStyle/>
          <a:p>
            <a:pPr algn="r">
              <a:defRPr sz="800" b="0">
                <a:solidFill>
                  <a:srgbClr val="5B6770"/>
                </a:solidFill>
                <a:latin typeface="Aptos"/>
              </a:defRPr>
            </a:pPr>
            <a:r>
              <a:t>4</a:t>
            </a:r>
          </a:p>
        </p:txBody>
      </p:sp>
      <p:sp>
        <p:nvSpPr>
          <p:cNvPr id="8" name="Oval 7"/>
          <p:cNvSpPr/>
          <p:nvPr/>
        </p:nvSpPr>
        <p:spPr>
          <a:xfrm>
            <a:off x="1088136" y="1536192"/>
            <a:ext cx="658368" cy="658368"/>
          </a:xfrm>
          <a:prstGeom prst="ellipse">
            <a:avLst/>
          </a:prstGeom>
          <a:solidFill>
            <a:srgbClr val="007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89304" y="1700784"/>
            <a:ext cx="256032" cy="164592"/>
          </a:xfrm>
          <a:prstGeom prst="rect">
            <a:avLst/>
          </a:prstGeom>
          <a:noFill/>
        </p:spPr>
        <p:txBody>
          <a:bodyPr wrap="square" lIns="45720" rIns="45720" tIns="18288" bIns="18288" anchor="t">
            <a:spAutoFit/>
          </a:bodyPr>
          <a:lstStyle/>
          <a:p>
            <a:pPr algn="ctr">
              <a:defRPr sz="1300" b="1">
                <a:solidFill>
                  <a:srgbClr val="FFFFFF"/>
                </a:solidFill>
                <a:latin typeface="Aptos"/>
              </a:defRPr>
            </a:pPr>
            <a:r>
              <a:t>1</a:t>
            </a:r>
          </a:p>
        </p:txBody>
      </p:sp>
      <p:sp>
        <p:nvSpPr>
          <p:cNvPr id="10" name="Rounded Rectangle 9"/>
          <p:cNvSpPr/>
          <p:nvPr/>
        </p:nvSpPr>
        <p:spPr>
          <a:xfrm>
            <a:off x="384048" y="2423160"/>
            <a:ext cx="2084831" cy="2286000"/>
          </a:xfrm>
          <a:prstGeom prst="roundRect">
            <a:avLst/>
          </a:prstGeom>
          <a:solidFill>
            <a:srgbClr val="FFFFFF"/>
          </a:solidFill>
          <a:ln w="12700">
            <a:solidFill>
              <a:srgbClr val="D8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84048" y="2423160"/>
            <a:ext cx="73152" cy="2286000"/>
          </a:xfrm>
          <a:prstGeom prst="rect">
            <a:avLst/>
          </a:prstGeom>
          <a:solidFill>
            <a:srgbClr val="007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2542032"/>
            <a:ext cx="1764791" cy="320040"/>
          </a:xfrm>
          <a:prstGeom prst="rect">
            <a:avLst/>
          </a:prstGeom>
          <a:noFill/>
        </p:spPr>
        <p:txBody>
          <a:bodyPr wrap="square" lIns="45720" rIns="45720" tIns="18288" bIns="18288" anchor="t">
            <a:spAutoFit/>
          </a:bodyPr>
          <a:lstStyle/>
          <a:p>
            <a:pPr algn="l">
              <a:defRPr sz="1150" b="1">
                <a:solidFill>
                  <a:srgbClr val="0B2340"/>
                </a:solidFill>
                <a:latin typeface="Aptos"/>
              </a:defRPr>
            </a:pPr>
            <a:r>
              <a:t>Marketing-defined FY27 data elements</a:t>
            </a:r>
          </a:p>
        </p:txBody>
      </p:sp>
      <p:sp>
        <p:nvSpPr>
          <p:cNvPr id="13" name="TextBox 12"/>
          <p:cNvSpPr txBox="1"/>
          <p:nvPr/>
        </p:nvSpPr>
        <p:spPr>
          <a:xfrm>
            <a:off x="566928" y="2953512"/>
            <a:ext cx="1719072" cy="1691640"/>
          </a:xfrm>
          <a:prstGeom prst="rect">
            <a:avLst/>
          </a:prstGeom>
          <a:noFill/>
        </p:spPr>
        <p:txBody>
          <a:bodyPr wrap="square" lIns="45720" rIns="45720" tIns="18288" bIns="18288" anchor="t">
            <a:spAutoFit/>
          </a:bodyPr>
          <a:lstStyle/>
          <a:p>
            <a:pPr algn="l">
              <a:defRPr sz="1080" b="0">
                <a:solidFill>
                  <a:srgbClr val="1C2024"/>
                </a:solidFill>
                <a:latin typeface="Aptos"/>
              </a:defRPr>
            </a:pPr>
            <a:r>
              <a:t>Business Priority, Stakeholder Unit, campaign/program context and other agreed reporting attributes</a:t>
            </a:r>
          </a:p>
        </p:txBody>
      </p:sp>
      <p:cxnSp>
        <p:nvCxnSpPr>
          <p:cNvPr id="14" name="Connector 13"/>
          <p:cNvCxnSpPr/>
          <p:nvPr/>
        </p:nvCxnSpPr>
        <p:spPr>
          <a:xfrm>
            <a:off x="2468879" y="1865376"/>
            <a:ext cx="219457" cy="0"/>
          </a:xfrm>
          <a:prstGeom prst="line">
            <a:avLst/>
          </a:prstGeom>
          <a:ln w="19050">
            <a:solidFill>
              <a:srgbClr val="5B6770"/>
            </a:solidFill>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3447288" y="1536192"/>
            <a:ext cx="658368" cy="658368"/>
          </a:xfrm>
          <a:prstGeom prst="ellipse">
            <a:avLst/>
          </a:prstGeom>
          <a:solidFill>
            <a:srgbClr val="00AC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48456" y="1700784"/>
            <a:ext cx="256032" cy="164592"/>
          </a:xfrm>
          <a:prstGeom prst="rect">
            <a:avLst/>
          </a:prstGeom>
          <a:noFill/>
        </p:spPr>
        <p:txBody>
          <a:bodyPr wrap="square" lIns="45720" rIns="45720" tIns="18288" bIns="18288" anchor="t">
            <a:spAutoFit/>
          </a:bodyPr>
          <a:lstStyle/>
          <a:p>
            <a:pPr algn="ctr">
              <a:defRPr sz="1300" b="1">
                <a:solidFill>
                  <a:srgbClr val="FFFFFF"/>
                </a:solidFill>
                <a:latin typeface="Aptos"/>
              </a:defRPr>
            </a:pPr>
            <a:r>
              <a:t>2</a:t>
            </a:r>
          </a:p>
        </p:txBody>
      </p:sp>
      <p:sp>
        <p:nvSpPr>
          <p:cNvPr id="17" name="Rounded Rectangle 16"/>
          <p:cNvSpPr/>
          <p:nvPr/>
        </p:nvSpPr>
        <p:spPr>
          <a:xfrm>
            <a:off x="2743200" y="2423160"/>
            <a:ext cx="2084831" cy="2286000"/>
          </a:xfrm>
          <a:prstGeom prst="roundRect">
            <a:avLst/>
          </a:prstGeom>
          <a:solidFill>
            <a:srgbClr val="FFFFFF"/>
          </a:solidFill>
          <a:ln w="12700">
            <a:solidFill>
              <a:srgbClr val="D8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743200" y="2423160"/>
            <a:ext cx="73152" cy="2286000"/>
          </a:xfrm>
          <a:prstGeom prst="rect">
            <a:avLst/>
          </a:prstGeom>
          <a:solidFill>
            <a:srgbClr val="00AC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907792" y="2542032"/>
            <a:ext cx="1764791" cy="320040"/>
          </a:xfrm>
          <a:prstGeom prst="rect">
            <a:avLst/>
          </a:prstGeom>
          <a:noFill/>
        </p:spPr>
        <p:txBody>
          <a:bodyPr wrap="square" lIns="45720" rIns="45720" tIns="18288" bIns="18288" anchor="t">
            <a:spAutoFit/>
          </a:bodyPr>
          <a:lstStyle/>
          <a:p>
            <a:pPr algn="l">
              <a:defRPr sz="1150" b="1">
                <a:solidFill>
                  <a:srgbClr val="0B2340"/>
                </a:solidFill>
                <a:latin typeface="Aptos"/>
              </a:defRPr>
            </a:pPr>
            <a:r>
              <a:t>Workfront activity enters pilot flow</a:t>
            </a:r>
          </a:p>
        </p:txBody>
      </p:sp>
      <p:sp>
        <p:nvSpPr>
          <p:cNvPr id="20" name="TextBox 19"/>
          <p:cNvSpPr txBox="1"/>
          <p:nvPr/>
        </p:nvSpPr>
        <p:spPr>
          <a:xfrm>
            <a:off x="2926080" y="2953512"/>
            <a:ext cx="1719072" cy="1691640"/>
          </a:xfrm>
          <a:prstGeom prst="rect">
            <a:avLst/>
          </a:prstGeom>
          <a:noFill/>
        </p:spPr>
        <p:txBody>
          <a:bodyPr wrap="square" lIns="45720" rIns="45720" tIns="18288" bIns="18288" anchor="t">
            <a:spAutoFit/>
          </a:bodyPr>
          <a:lstStyle/>
          <a:p>
            <a:pPr algn="l">
              <a:defRPr sz="1080" b="0">
                <a:solidFill>
                  <a:srgbClr val="1C2024"/>
                </a:solidFill>
                <a:latin typeface="Aptos"/>
              </a:defRPr>
            </a:pPr>
            <a:r>
              <a:t>Selected channel/content activations trigger the integration</a:t>
            </a:r>
          </a:p>
        </p:txBody>
      </p:sp>
      <p:cxnSp>
        <p:nvCxnSpPr>
          <p:cNvPr id="21" name="Connector 20"/>
          <p:cNvCxnSpPr/>
          <p:nvPr/>
        </p:nvCxnSpPr>
        <p:spPr>
          <a:xfrm>
            <a:off x="4828031" y="1865376"/>
            <a:ext cx="219457" cy="0"/>
          </a:xfrm>
          <a:prstGeom prst="line">
            <a:avLst/>
          </a:prstGeom>
          <a:ln w="19050">
            <a:solidFill>
              <a:srgbClr val="5B6770"/>
            </a:solidFill>
          </a:ln>
        </p:spPr>
        <p:style>
          <a:lnRef idx="2">
            <a:schemeClr val="accent1"/>
          </a:lnRef>
          <a:fillRef idx="0">
            <a:schemeClr val="accent1"/>
          </a:fillRef>
          <a:effectRef idx="1">
            <a:schemeClr val="accent1"/>
          </a:effectRef>
          <a:fontRef idx="minor">
            <a:schemeClr val="tx1"/>
          </a:fontRef>
        </p:style>
      </p:cxnSp>
      <p:sp>
        <p:nvSpPr>
          <p:cNvPr id="22" name="Oval 21"/>
          <p:cNvSpPr/>
          <p:nvPr/>
        </p:nvSpPr>
        <p:spPr>
          <a:xfrm>
            <a:off x="5806440" y="1536192"/>
            <a:ext cx="658368" cy="658368"/>
          </a:xfrm>
          <a:prstGeom prst="ellipse">
            <a:avLst/>
          </a:prstGeom>
          <a:solidFill>
            <a:srgbClr val="EF6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007608" y="1700784"/>
            <a:ext cx="256032" cy="164592"/>
          </a:xfrm>
          <a:prstGeom prst="rect">
            <a:avLst/>
          </a:prstGeom>
          <a:noFill/>
        </p:spPr>
        <p:txBody>
          <a:bodyPr wrap="square" lIns="45720" rIns="45720" tIns="18288" bIns="18288" anchor="t">
            <a:spAutoFit/>
          </a:bodyPr>
          <a:lstStyle/>
          <a:p>
            <a:pPr algn="ctr">
              <a:defRPr sz="1300" b="1">
                <a:solidFill>
                  <a:srgbClr val="FFFFFF"/>
                </a:solidFill>
                <a:latin typeface="Aptos"/>
              </a:defRPr>
            </a:pPr>
            <a:r>
              <a:t>3</a:t>
            </a:r>
          </a:p>
        </p:txBody>
      </p:sp>
      <p:sp>
        <p:nvSpPr>
          <p:cNvPr id="24" name="Rounded Rectangle 23"/>
          <p:cNvSpPr/>
          <p:nvPr/>
        </p:nvSpPr>
        <p:spPr>
          <a:xfrm>
            <a:off x="5102352" y="2423160"/>
            <a:ext cx="2084831" cy="2286000"/>
          </a:xfrm>
          <a:prstGeom prst="roundRect">
            <a:avLst/>
          </a:prstGeom>
          <a:solidFill>
            <a:srgbClr val="FFFFFF"/>
          </a:solidFill>
          <a:ln w="12700">
            <a:solidFill>
              <a:srgbClr val="D8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102352" y="2423160"/>
            <a:ext cx="73152" cy="2286000"/>
          </a:xfrm>
          <a:prstGeom prst="rect">
            <a:avLst/>
          </a:prstGeom>
          <a:solidFill>
            <a:srgbClr val="EF6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266944" y="2542032"/>
            <a:ext cx="1764791" cy="320040"/>
          </a:xfrm>
          <a:prstGeom prst="rect">
            <a:avLst/>
          </a:prstGeom>
          <a:noFill/>
        </p:spPr>
        <p:txBody>
          <a:bodyPr wrap="square" lIns="45720" rIns="45720" tIns="18288" bIns="18288" anchor="t">
            <a:spAutoFit/>
          </a:bodyPr>
          <a:lstStyle/>
          <a:p>
            <a:pPr algn="l">
              <a:defRPr sz="1150" b="1">
                <a:solidFill>
                  <a:srgbClr val="0B2340"/>
                </a:solidFill>
                <a:latin typeface="Aptos"/>
              </a:defRPr>
            </a:pPr>
            <a:r>
              <a:t>CTT creates compatible IDs</a:t>
            </a:r>
          </a:p>
        </p:txBody>
      </p:sp>
      <p:sp>
        <p:nvSpPr>
          <p:cNvPr id="27" name="TextBox 26"/>
          <p:cNvSpPr txBox="1"/>
          <p:nvPr/>
        </p:nvSpPr>
        <p:spPr>
          <a:xfrm>
            <a:off x="5285232" y="2953512"/>
            <a:ext cx="1719072" cy="1691640"/>
          </a:xfrm>
          <a:prstGeom prst="rect">
            <a:avLst/>
          </a:prstGeom>
          <a:noFill/>
        </p:spPr>
        <p:txBody>
          <a:bodyPr wrap="square" lIns="45720" rIns="45720" tIns="18288" bIns="18288" anchor="t">
            <a:spAutoFit/>
          </a:bodyPr>
          <a:lstStyle/>
          <a:p>
            <a:pPr algn="l">
              <a:defRPr sz="1080" b="0">
                <a:solidFill>
                  <a:srgbClr val="1C2024"/>
                </a:solidFill>
                <a:latin typeface="Aptos"/>
              </a:defRPr>
            </a:pPr>
            <a:r>
              <a:t>Activity ID for channel activations; Offer ID for content activations</a:t>
            </a:r>
          </a:p>
        </p:txBody>
      </p:sp>
      <p:cxnSp>
        <p:nvCxnSpPr>
          <p:cNvPr id="28" name="Connector 27"/>
          <p:cNvCxnSpPr/>
          <p:nvPr/>
        </p:nvCxnSpPr>
        <p:spPr>
          <a:xfrm>
            <a:off x="7187183" y="1865376"/>
            <a:ext cx="219457" cy="0"/>
          </a:xfrm>
          <a:prstGeom prst="line">
            <a:avLst/>
          </a:prstGeom>
          <a:ln w="19050">
            <a:solidFill>
              <a:srgbClr val="5B6770"/>
            </a:solidFill>
          </a:ln>
        </p:spPr>
        <p:style>
          <a:lnRef idx="2">
            <a:schemeClr val="accent1"/>
          </a:lnRef>
          <a:fillRef idx="0">
            <a:schemeClr val="accent1"/>
          </a:fillRef>
          <a:effectRef idx="1">
            <a:schemeClr val="accent1"/>
          </a:effectRef>
          <a:fontRef idx="minor">
            <a:schemeClr val="tx1"/>
          </a:fontRef>
        </p:style>
      </p:cxnSp>
      <p:sp>
        <p:nvSpPr>
          <p:cNvPr id="29" name="Oval 28"/>
          <p:cNvSpPr/>
          <p:nvPr/>
        </p:nvSpPr>
        <p:spPr>
          <a:xfrm>
            <a:off x="8165592" y="1536192"/>
            <a:ext cx="658368" cy="658368"/>
          </a:xfrm>
          <a:prstGeom prst="ellipse">
            <a:avLst/>
          </a:prstGeom>
          <a:solidFill>
            <a:srgbClr val="5E35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66760" y="1700784"/>
            <a:ext cx="256032" cy="164592"/>
          </a:xfrm>
          <a:prstGeom prst="rect">
            <a:avLst/>
          </a:prstGeom>
          <a:noFill/>
        </p:spPr>
        <p:txBody>
          <a:bodyPr wrap="square" lIns="45720" rIns="45720" tIns="18288" bIns="18288" anchor="t">
            <a:spAutoFit/>
          </a:bodyPr>
          <a:lstStyle/>
          <a:p>
            <a:pPr algn="ctr">
              <a:defRPr sz="1300" b="1">
                <a:solidFill>
                  <a:srgbClr val="FFFFFF"/>
                </a:solidFill>
                <a:latin typeface="Aptos"/>
              </a:defRPr>
            </a:pPr>
            <a:r>
              <a:t>4</a:t>
            </a:r>
          </a:p>
        </p:txBody>
      </p:sp>
      <p:sp>
        <p:nvSpPr>
          <p:cNvPr id="31" name="Rounded Rectangle 30"/>
          <p:cNvSpPr/>
          <p:nvPr/>
        </p:nvSpPr>
        <p:spPr>
          <a:xfrm>
            <a:off x="7461504" y="2423160"/>
            <a:ext cx="2084831" cy="2286000"/>
          </a:xfrm>
          <a:prstGeom prst="roundRect">
            <a:avLst/>
          </a:prstGeom>
          <a:solidFill>
            <a:srgbClr val="FFFFFF"/>
          </a:solidFill>
          <a:ln w="12700">
            <a:solidFill>
              <a:srgbClr val="D8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461504" y="2423160"/>
            <a:ext cx="73152" cy="2286000"/>
          </a:xfrm>
          <a:prstGeom prst="rect">
            <a:avLst/>
          </a:prstGeom>
          <a:solidFill>
            <a:srgbClr val="5E35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626096" y="2542032"/>
            <a:ext cx="1764791" cy="320040"/>
          </a:xfrm>
          <a:prstGeom prst="rect">
            <a:avLst/>
          </a:prstGeom>
          <a:noFill/>
        </p:spPr>
        <p:txBody>
          <a:bodyPr wrap="square" lIns="45720" rIns="45720" tIns="18288" bIns="18288" anchor="t">
            <a:spAutoFit/>
          </a:bodyPr>
          <a:lstStyle/>
          <a:p>
            <a:pPr algn="l">
              <a:defRPr sz="1150" b="1">
                <a:solidFill>
                  <a:srgbClr val="0B2340"/>
                </a:solidFill>
                <a:latin typeface="Aptos"/>
              </a:defRPr>
            </a:pPr>
            <a:r>
              <a:t>IDs and attributes write back</a:t>
            </a:r>
          </a:p>
        </p:txBody>
      </p:sp>
      <p:sp>
        <p:nvSpPr>
          <p:cNvPr id="34" name="TextBox 33"/>
          <p:cNvSpPr txBox="1"/>
          <p:nvPr/>
        </p:nvSpPr>
        <p:spPr>
          <a:xfrm>
            <a:off x="7644383" y="2953512"/>
            <a:ext cx="1719072" cy="1691640"/>
          </a:xfrm>
          <a:prstGeom prst="rect">
            <a:avLst/>
          </a:prstGeom>
          <a:noFill/>
        </p:spPr>
        <p:txBody>
          <a:bodyPr wrap="square" lIns="45720" rIns="45720" tIns="18288" bIns="18288" anchor="t">
            <a:spAutoFit/>
          </a:bodyPr>
          <a:lstStyle/>
          <a:p>
            <a:pPr algn="l">
              <a:defRPr sz="1080" b="0">
                <a:solidFill>
                  <a:srgbClr val="1C2024"/>
                </a:solidFill>
                <a:latin typeface="Aptos"/>
              </a:defRPr>
            </a:pPr>
            <a:r>
              <a:t>Workfront receives the generated IDs and shared reporting attributes</a:t>
            </a:r>
          </a:p>
        </p:txBody>
      </p:sp>
      <p:cxnSp>
        <p:nvCxnSpPr>
          <p:cNvPr id="35" name="Connector 34"/>
          <p:cNvCxnSpPr/>
          <p:nvPr/>
        </p:nvCxnSpPr>
        <p:spPr>
          <a:xfrm>
            <a:off x="9546336" y="1865376"/>
            <a:ext cx="219456" cy="0"/>
          </a:xfrm>
          <a:prstGeom prst="line">
            <a:avLst/>
          </a:prstGeom>
          <a:ln w="19050">
            <a:solidFill>
              <a:srgbClr val="5B6770"/>
            </a:solidFill>
          </a:ln>
        </p:spPr>
        <p:style>
          <a:lnRef idx="2">
            <a:schemeClr val="accent1"/>
          </a:lnRef>
          <a:fillRef idx="0">
            <a:schemeClr val="accent1"/>
          </a:fillRef>
          <a:effectRef idx="1">
            <a:schemeClr val="accent1"/>
          </a:effectRef>
          <a:fontRef idx="minor">
            <a:schemeClr val="tx1"/>
          </a:fontRef>
        </p:style>
      </p:cxnSp>
      <p:sp>
        <p:nvSpPr>
          <p:cNvPr id="36" name="Oval 35"/>
          <p:cNvSpPr/>
          <p:nvPr/>
        </p:nvSpPr>
        <p:spPr>
          <a:xfrm>
            <a:off x="10524744" y="1536192"/>
            <a:ext cx="658368" cy="658368"/>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725912" y="1700784"/>
            <a:ext cx="256032" cy="164592"/>
          </a:xfrm>
          <a:prstGeom prst="rect">
            <a:avLst/>
          </a:prstGeom>
          <a:noFill/>
        </p:spPr>
        <p:txBody>
          <a:bodyPr wrap="square" lIns="45720" rIns="45720" tIns="18288" bIns="18288" anchor="t">
            <a:spAutoFit/>
          </a:bodyPr>
          <a:lstStyle/>
          <a:p>
            <a:pPr algn="ctr">
              <a:defRPr sz="1300" b="1">
                <a:solidFill>
                  <a:srgbClr val="FFFFFF"/>
                </a:solidFill>
                <a:latin typeface="Aptos"/>
              </a:defRPr>
            </a:pPr>
            <a:r>
              <a:t>5</a:t>
            </a:r>
          </a:p>
        </p:txBody>
      </p:sp>
      <p:sp>
        <p:nvSpPr>
          <p:cNvPr id="38" name="Rounded Rectangle 37"/>
          <p:cNvSpPr/>
          <p:nvPr/>
        </p:nvSpPr>
        <p:spPr>
          <a:xfrm>
            <a:off x="9820656" y="2423160"/>
            <a:ext cx="2084831" cy="2286000"/>
          </a:xfrm>
          <a:prstGeom prst="roundRect">
            <a:avLst/>
          </a:prstGeom>
          <a:solidFill>
            <a:srgbClr val="FFFFFF"/>
          </a:solidFill>
          <a:ln w="12700">
            <a:solidFill>
              <a:srgbClr val="D8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820656" y="2423160"/>
            <a:ext cx="73152" cy="228600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985248" y="2542032"/>
            <a:ext cx="1764791" cy="320040"/>
          </a:xfrm>
          <a:prstGeom prst="rect">
            <a:avLst/>
          </a:prstGeom>
          <a:noFill/>
        </p:spPr>
        <p:txBody>
          <a:bodyPr wrap="square" lIns="45720" rIns="45720" tIns="18288" bIns="18288" anchor="t">
            <a:spAutoFit/>
          </a:bodyPr>
          <a:lstStyle/>
          <a:p>
            <a:pPr algn="l">
              <a:defRPr sz="1150" b="1">
                <a:solidFill>
                  <a:srgbClr val="0B2340"/>
                </a:solidFill>
                <a:latin typeface="Aptos"/>
              </a:defRPr>
            </a:pPr>
            <a:r>
              <a:t>Reporting can compare all activity</a:t>
            </a:r>
          </a:p>
        </p:txBody>
      </p:sp>
      <p:sp>
        <p:nvSpPr>
          <p:cNvPr id="41" name="TextBox 40"/>
          <p:cNvSpPr txBox="1"/>
          <p:nvPr/>
        </p:nvSpPr>
        <p:spPr>
          <a:xfrm>
            <a:off x="10003536" y="2953512"/>
            <a:ext cx="1719072" cy="1691640"/>
          </a:xfrm>
          <a:prstGeom prst="rect">
            <a:avLst/>
          </a:prstGeom>
          <a:noFill/>
        </p:spPr>
        <p:txBody>
          <a:bodyPr wrap="square" lIns="45720" rIns="45720" tIns="18288" bIns="18288" anchor="t">
            <a:spAutoFit/>
          </a:bodyPr>
          <a:lstStyle/>
          <a:p>
            <a:pPr algn="l">
              <a:defRPr sz="1080" b="0">
                <a:solidFill>
                  <a:srgbClr val="1C2024"/>
                </a:solidFill>
                <a:latin typeface="Aptos"/>
              </a:defRPr>
            </a:pPr>
            <a:r>
              <a:t>Workfront and non-Workfront activity can be viewed through consistent FY27 data elements</a:t>
            </a:r>
          </a:p>
        </p:txBody>
      </p:sp>
      <p:sp>
        <p:nvSpPr>
          <p:cNvPr id="42" name="TextBox 41"/>
          <p:cNvSpPr txBox="1"/>
          <p:nvPr/>
        </p:nvSpPr>
        <p:spPr>
          <a:xfrm>
            <a:off x="777240" y="5285232"/>
            <a:ext cx="10698480" cy="566928"/>
          </a:xfrm>
          <a:prstGeom prst="rect">
            <a:avLst/>
          </a:prstGeom>
          <a:noFill/>
        </p:spPr>
        <p:txBody>
          <a:bodyPr wrap="square" lIns="45720" rIns="45720" tIns="18288" bIns="18288" anchor="t">
            <a:spAutoFit/>
          </a:bodyPr>
          <a:lstStyle/>
          <a:p>
            <a:pPr algn="ctr">
              <a:defRPr sz="1700" b="1">
                <a:solidFill>
                  <a:srgbClr val="0B2340"/>
                </a:solidFill>
                <a:latin typeface="Aptos"/>
              </a:defRPr>
            </a:pPr>
            <a:r>
              <a:t>Important: this process intentionally avoids making SFDC the dependency for FY27 reporting-data capture while One Cisco CRM work continues.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07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84048"/>
            <a:ext cx="11064240" cy="548640"/>
          </a:xfrm>
          <a:prstGeom prst="rect">
            <a:avLst/>
          </a:prstGeom>
          <a:noFill/>
        </p:spPr>
        <p:txBody>
          <a:bodyPr wrap="square" lIns="45720" rIns="45720" tIns="18288" bIns="18288" anchor="t">
            <a:spAutoFit/>
          </a:bodyPr>
          <a:lstStyle/>
          <a:p>
            <a:pPr algn="l">
              <a:defRPr sz="2800" b="1">
                <a:solidFill>
                  <a:srgbClr val="0B2340"/>
                </a:solidFill>
                <a:latin typeface="Aptos"/>
              </a:defRPr>
            </a:pPr>
            <a:r>
              <a:t>Why this does not interrupt SFDC / One Cisco CRM</a:t>
            </a:r>
          </a:p>
        </p:txBody>
      </p:sp>
      <p:sp>
        <p:nvSpPr>
          <p:cNvPr id="5" name="TextBox 4"/>
          <p:cNvSpPr txBox="1"/>
          <p:nvPr/>
        </p:nvSpPr>
        <p:spPr>
          <a:xfrm>
            <a:off x="530352" y="969264"/>
            <a:ext cx="10698480" cy="347472"/>
          </a:xfrm>
          <a:prstGeom prst="rect">
            <a:avLst/>
          </a:prstGeom>
          <a:noFill/>
        </p:spPr>
        <p:txBody>
          <a:bodyPr wrap="square" lIns="45720" rIns="45720" tIns="18288" bIns="18288" anchor="t">
            <a:spAutoFit/>
          </a:bodyPr>
          <a:lstStyle/>
          <a:p>
            <a:pPr algn="l">
              <a:defRPr sz="1250" b="0">
                <a:solidFill>
                  <a:srgbClr val="5B6770"/>
                </a:solidFill>
                <a:latin typeface="Aptos"/>
              </a:defRPr>
            </a:pPr>
            <a:r>
              <a:t>The proposal separates Marketing measurement readiness from CRM transformation dependencies.</a:t>
            </a:r>
          </a:p>
        </p:txBody>
      </p:sp>
      <p:sp>
        <p:nvSpPr>
          <p:cNvPr id="6" name="TextBox 5"/>
          <p:cNvSpPr txBox="1"/>
          <p:nvPr/>
        </p:nvSpPr>
        <p:spPr>
          <a:xfrm>
            <a:off x="457200" y="6473952"/>
            <a:ext cx="7315200" cy="219456"/>
          </a:xfrm>
          <a:prstGeom prst="rect">
            <a:avLst/>
          </a:prstGeom>
          <a:noFill/>
        </p:spPr>
        <p:txBody>
          <a:bodyPr wrap="square" lIns="45720" rIns="45720" tIns="18288" bIns="18288" anchor="t">
            <a:spAutoFit/>
          </a:bodyPr>
          <a:lstStyle/>
          <a:p>
            <a:pPr algn="l">
              <a:defRPr sz="800" b="0">
                <a:solidFill>
                  <a:srgbClr val="5B6770"/>
                </a:solidFill>
                <a:latin typeface="Aptos"/>
              </a:defRPr>
            </a:pPr>
            <a:r>
              <a:t>Workfront + CTT interim bridge support slides</a:t>
            </a:r>
          </a:p>
        </p:txBody>
      </p:sp>
      <p:sp>
        <p:nvSpPr>
          <p:cNvPr id="7" name="TextBox 6"/>
          <p:cNvSpPr txBox="1"/>
          <p:nvPr/>
        </p:nvSpPr>
        <p:spPr>
          <a:xfrm>
            <a:off x="11292840" y="6473952"/>
            <a:ext cx="502920" cy="219456"/>
          </a:xfrm>
          <a:prstGeom prst="rect">
            <a:avLst/>
          </a:prstGeom>
          <a:noFill/>
        </p:spPr>
        <p:txBody>
          <a:bodyPr wrap="square" lIns="45720" rIns="45720" tIns="18288" bIns="18288" anchor="t">
            <a:spAutoFit/>
          </a:bodyPr>
          <a:lstStyle/>
          <a:p>
            <a:pPr algn="r">
              <a:defRPr sz="800" b="0">
                <a:solidFill>
                  <a:srgbClr val="5B6770"/>
                </a:solidFill>
                <a:latin typeface="Aptos"/>
              </a:defRPr>
            </a:pPr>
            <a:r>
              <a:t>5</a:t>
            </a:r>
          </a:p>
        </p:txBody>
      </p:sp>
      <p:sp>
        <p:nvSpPr>
          <p:cNvPr id="8" name="Rounded Rectangle 7"/>
          <p:cNvSpPr/>
          <p:nvPr/>
        </p:nvSpPr>
        <p:spPr>
          <a:xfrm>
            <a:off x="685800" y="1417320"/>
            <a:ext cx="3429000" cy="4343400"/>
          </a:xfrm>
          <a:prstGeom prst="roundRect">
            <a:avLst/>
          </a:prstGeom>
          <a:solidFill>
            <a:srgbClr val="FFFFFF"/>
          </a:solidFill>
          <a:ln w="12700">
            <a:solidFill>
              <a:srgbClr val="D8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1417320"/>
            <a:ext cx="73152" cy="4343400"/>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0392" y="1536192"/>
            <a:ext cx="3108960" cy="320040"/>
          </a:xfrm>
          <a:prstGeom prst="rect">
            <a:avLst/>
          </a:prstGeom>
          <a:noFill/>
        </p:spPr>
        <p:txBody>
          <a:bodyPr wrap="square" lIns="45720" rIns="45720" tIns="18288" bIns="18288" anchor="t">
            <a:spAutoFit/>
          </a:bodyPr>
          <a:lstStyle/>
          <a:p>
            <a:pPr algn="l">
              <a:defRPr sz="1400" b="1">
                <a:solidFill>
                  <a:srgbClr val="0B2340"/>
                </a:solidFill>
                <a:latin typeface="Aptos"/>
              </a:defRPr>
            </a:pPr>
            <a:r>
              <a:t>What we are not asking for</a:t>
            </a:r>
          </a:p>
        </p:txBody>
      </p:sp>
      <p:sp>
        <p:nvSpPr>
          <p:cNvPr id="11" name="TextBox 10"/>
          <p:cNvSpPr txBox="1"/>
          <p:nvPr/>
        </p:nvSpPr>
        <p:spPr>
          <a:xfrm>
            <a:off x="886968" y="1947672"/>
            <a:ext cx="3044952" cy="3749039"/>
          </a:xfrm>
          <a:prstGeom prst="rect">
            <a:avLst/>
          </a:prstGeom>
          <a:noFill/>
        </p:spPr>
        <p:txBody>
          <a:bodyPr wrap="square" lIns="18288" rIns="18288" tIns="18288">
            <a:spAutoFit/>
          </a:bodyPr>
          <a:lstStyle/>
          <a:p>
            <a:pPr marL="228600" indent="-127000">
              <a:buChar char="•"/>
              <a:spcAft>
                <a:spcPts val="300"/>
              </a:spcAft>
              <a:defRPr sz="1280">
                <a:solidFill>
                  <a:srgbClr val="1C2024"/>
                </a:solidFill>
                <a:latin typeface="Aptos"/>
              </a:defRPr>
            </a:pPr>
            <a:r>
              <a:t>No immediate SFDC tracking-parameter redesign.</a:t>
            </a:r>
          </a:p>
          <a:p>
            <a:pPr marL="228600" indent="-127000">
              <a:buChar char="•"/>
              <a:spcAft>
                <a:spcPts val="300"/>
              </a:spcAft>
              <a:defRPr sz="1280">
                <a:solidFill>
                  <a:srgbClr val="1C2024"/>
                </a:solidFill>
                <a:latin typeface="Aptos"/>
              </a:defRPr>
            </a:pPr>
            <a:r>
              <a:t>No change to the One Cisco CRM delivery path.</a:t>
            </a:r>
          </a:p>
          <a:p>
            <a:pPr marL="228600" indent="-127000">
              <a:buChar char="•"/>
              <a:spcAft>
                <a:spcPts val="300"/>
              </a:spcAft>
              <a:defRPr sz="1280">
                <a:solidFill>
                  <a:srgbClr val="1C2024"/>
                </a:solidFill>
                <a:latin typeface="Aptos"/>
              </a:defRPr>
            </a:pPr>
            <a:r>
              <a:t>No attempt to make SFDC the source of new FY27 reporting attributes during this POC.</a:t>
            </a:r>
          </a:p>
          <a:p>
            <a:pPr marL="228600" indent="-127000">
              <a:buChar char="•"/>
              <a:spcAft>
                <a:spcPts val="300"/>
              </a:spcAft>
              <a:defRPr sz="1280">
                <a:solidFill>
                  <a:srgbClr val="1C2024"/>
                </a:solidFill>
                <a:latin typeface="Aptos"/>
              </a:defRPr>
            </a:pPr>
            <a:r>
              <a:t>No permanent extension of CTT as the future-state platform.</a:t>
            </a:r>
          </a:p>
        </p:txBody>
      </p:sp>
      <p:sp>
        <p:nvSpPr>
          <p:cNvPr id="12" name="Rounded Rectangle 11"/>
          <p:cNvSpPr/>
          <p:nvPr/>
        </p:nvSpPr>
        <p:spPr>
          <a:xfrm>
            <a:off x="4389120" y="1417320"/>
            <a:ext cx="3429000" cy="4343400"/>
          </a:xfrm>
          <a:prstGeom prst="roundRect">
            <a:avLst/>
          </a:prstGeom>
          <a:solidFill>
            <a:srgbClr val="FFFFFF"/>
          </a:solidFill>
          <a:ln w="12700">
            <a:solidFill>
              <a:srgbClr val="D8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89120" y="1417320"/>
            <a:ext cx="73152" cy="4343400"/>
          </a:xfrm>
          <a:prstGeom prst="rect">
            <a:avLst/>
          </a:prstGeom>
          <a:solidFill>
            <a:srgbClr val="007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53712" y="1536192"/>
            <a:ext cx="3108960" cy="320040"/>
          </a:xfrm>
          <a:prstGeom prst="rect">
            <a:avLst/>
          </a:prstGeom>
          <a:noFill/>
        </p:spPr>
        <p:txBody>
          <a:bodyPr wrap="square" lIns="45720" rIns="45720" tIns="18288" bIns="18288" anchor="t">
            <a:spAutoFit/>
          </a:bodyPr>
          <a:lstStyle/>
          <a:p>
            <a:pPr algn="l">
              <a:defRPr sz="1400" b="1">
                <a:solidFill>
                  <a:srgbClr val="0B2340"/>
                </a:solidFill>
                <a:latin typeface="Aptos"/>
              </a:defRPr>
            </a:pPr>
            <a:r>
              <a:t>What we are asking for</a:t>
            </a:r>
          </a:p>
        </p:txBody>
      </p:sp>
      <p:sp>
        <p:nvSpPr>
          <p:cNvPr id="15" name="TextBox 14"/>
          <p:cNvSpPr txBox="1"/>
          <p:nvPr/>
        </p:nvSpPr>
        <p:spPr>
          <a:xfrm>
            <a:off x="4590288" y="1947672"/>
            <a:ext cx="3044952" cy="3749039"/>
          </a:xfrm>
          <a:prstGeom prst="rect">
            <a:avLst/>
          </a:prstGeom>
          <a:noFill/>
        </p:spPr>
        <p:txBody>
          <a:bodyPr wrap="square" lIns="18288" rIns="18288" tIns="18288">
            <a:spAutoFit/>
          </a:bodyPr>
          <a:lstStyle/>
          <a:p>
            <a:pPr marL="228600" indent="-127000">
              <a:buChar char="•"/>
              <a:spcAft>
                <a:spcPts val="300"/>
              </a:spcAft>
              <a:defRPr sz="1280">
                <a:solidFill>
                  <a:srgbClr val="1C2024"/>
                </a:solidFill>
                <a:latin typeface="Aptos"/>
              </a:defRPr>
            </a:pPr>
            <a:r>
              <a:t>Use Workfront + CTT to capture and align the required Marketing reporting attributes.</a:t>
            </a:r>
          </a:p>
          <a:p>
            <a:pPr marL="228600" indent="-127000">
              <a:buChar char="•"/>
              <a:spcAft>
                <a:spcPts val="300"/>
              </a:spcAft>
              <a:defRPr sz="1280">
                <a:solidFill>
                  <a:srgbClr val="1C2024"/>
                </a:solidFill>
                <a:latin typeface="Aptos"/>
              </a:defRPr>
            </a:pPr>
            <a:r>
              <a:t>Keep existing CTT-dependent processes stable during transition.</a:t>
            </a:r>
          </a:p>
          <a:p>
            <a:pPr marL="228600" indent="-127000">
              <a:buChar char="•"/>
              <a:spcAft>
                <a:spcPts val="300"/>
              </a:spcAft>
              <a:defRPr sz="1280">
                <a:solidFill>
                  <a:srgbClr val="1C2024"/>
                </a:solidFill>
                <a:latin typeface="Aptos"/>
              </a:defRPr>
            </a:pPr>
            <a:r>
              <a:t>Use the POC to identify what SFDC may need later, once CRM work is ready.</a:t>
            </a:r>
          </a:p>
          <a:p>
            <a:pPr marL="228600" indent="-127000">
              <a:buChar char="•"/>
              <a:spcAft>
                <a:spcPts val="300"/>
              </a:spcAft>
              <a:defRPr sz="1280">
                <a:solidFill>
                  <a:srgbClr val="1C2024"/>
                </a:solidFill>
                <a:latin typeface="Aptos"/>
              </a:defRPr>
            </a:pPr>
            <a:r>
              <a:t>Create a cleaner handoff to future CRM and Adobe North Star architecture.</a:t>
            </a:r>
          </a:p>
        </p:txBody>
      </p:sp>
      <p:sp>
        <p:nvSpPr>
          <p:cNvPr id="16" name="Rounded Rectangle 15"/>
          <p:cNvSpPr/>
          <p:nvPr/>
        </p:nvSpPr>
        <p:spPr>
          <a:xfrm>
            <a:off x="8092440" y="1417320"/>
            <a:ext cx="3429000" cy="4343400"/>
          </a:xfrm>
          <a:prstGeom prst="roundRect">
            <a:avLst/>
          </a:prstGeom>
          <a:solidFill>
            <a:srgbClr val="FFFFFF"/>
          </a:solidFill>
          <a:ln w="12700">
            <a:solidFill>
              <a:srgbClr val="D8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92440" y="1417320"/>
            <a:ext cx="73152" cy="434340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57031" y="1536192"/>
            <a:ext cx="3108960" cy="320040"/>
          </a:xfrm>
          <a:prstGeom prst="rect">
            <a:avLst/>
          </a:prstGeom>
          <a:noFill/>
        </p:spPr>
        <p:txBody>
          <a:bodyPr wrap="square" lIns="45720" rIns="45720" tIns="18288" bIns="18288" anchor="t">
            <a:spAutoFit/>
          </a:bodyPr>
          <a:lstStyle/>
          <a:p>
            <a:pPr algn="l">
              <a:defRPr sz="1400" b="1">
                <a:solidFill>
                  <a:srgbClr val="0B2340"/>
                </a:solidFill>
                <a:latin typeface="Aptos"/>
              </a:defRPr>
            </a:pPr>
            <a:r>
              <a:t>Why it helps CRM work</a:t>
            </a:r>
          </a:p>
        </p:txBody>
      </p:sp>
      <p:sp>
        <p:nvSpPr>
          <p:cNvPr id="19" name="TextBox 18"/>
          <p:cNvSpPr txBox="1"/>
          <p:nvPr/>
        </p:nvSpPr>
        <p:spPr>
          <a:xfrm>
            <a:off x="8293608" y="1947672"/>
            <a:ext cx="3044952" cy="3749039"/>
          </a:xfrm>
          <a:prstGeom prst="rect">
            <a:avLst/>
          </a:prstGeom>
          <a:noFill/>
        </p:spPr>
        <p:txBody>
          <a:bodyPr wrap="square" lIns="18288" rIns="18288" tIns="18288">
            <a:spAutoFit/>
          </a:bodyPr>
          <a:lstStyle/>
          <a:p>
            <a:pPr marL="228600" indent="-127000">
              <a:buChar char="•"/>
              <a:spcAft>
                <a:spcPts val="300"/>
              </a:spcAft>
              <a:defRPr sz="1280">
                <a:solidFill>
                  <a:srgbClr val="1C2024"/>
                </a:solidFill>
                <a:latin typeface="Aptos"/>
              </a:defRPr>
            </a:pPr>
            <a:r>
              <a:t>Reduces pressure to force short-term CRM changes.</a:t>
            </a:r>
          </a:p>
          <a:p>
            <a:pPr marL="228600" indent="-127000">
              <a:buChar char="•"/>
              <a:spcAft>
                <a:spcPts val="300"/>
              </a:spcAft>
              <a:defRPr sz="1280">
                <a:solidFill>
                  <a:srgbClr val="1C2024"/>
                </a:solidFill>
                <a:latin typeface="Aptos"/>
              </a:defRPr>
            </a:pPr>
            <a:r>
              <a:t>Gives One Cisco CRM teams a clearer future data requirement set.</a:t>
            </a:r>
          </a:p>
          <a:p>
            <a:pPr marL="228600" indent="-127000">
              <a:buChar char="•"/>
              <a:spcAft>
                <a:spcPts val="300"/>
              </a:spcAft>
              <a:defRPr sz="1280">
                <a:solidFill>
                  <a:srgbClr val="1C2024"/>
                </a:solidFill>
                <a:latin typeface="Aptos"/>
              </a:defRPr>
            </a:pPr>
            <a:r>
              <a:t>Prevents Marketing measurement needs from becoming an unplanned CRM blocker.</a:t>
            </a:r>
          </a:p>
          <a:p>
            <a:pPr marL="228600" indent="-127000">
              <a:buChar char="•"/>
              <a:spcAft>
                <a:spcPts val="300"/>
              </a:spcAft>
              <a:defRPr sz="1280">
                <a:solidFill>
                  <a:srgbClr val="1C2024"/>
                </a:solidFill>
                <a:latin typeface="Aptos"/>
              </a:defRPr>
            </a:pPr>
            <a:r>
              <a:t>Allows each workstream to progress with less cross-program dependency risk.</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07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84048"/>
            <a:ext cx="11064240" cy="548640"/>
          </a:xfrm>
          <a:prstGeom prst="rect">
            <a:avLst/>
          </a:prstGeom>
          <a:noFill/>
        </p:spPr>
        <p:txBody>
          <a:bodyPr wrap="square" lIns="45720" rIns="45720" tIns="18288" bIns="18288" anchor="t">
            <a:spAutoFit/>
          </a:bodyPr>
          <a:lstStyle/>
          <a:p>
            <a:pPr algn="l">
              <a:defRPr sz="2800" b="1">
                <a:solidFill>
                  <a:srgbClr val="0B2340"/>
                </a:solidFill>
                <a:latin typeface="Aptos"/>
              </a:defRPr>
            </a:pPr>
            <a:r>
              <a:t>Benefits of approving the POC</a:t>
            </a:r>
          </a:p>
        </p:txBody>
      </p:sp>
      <p:sp>
        <p:nvSpPr>
          <p:cNvPr id="5" name="TextBox 4"/>
          <p:cNvSpPr txBox="1"/>
          <p:nvPr/>
        </p:nvSpPr>
        <p:spPr>
          <a:xfrm>
            <a:off x="530352" y="969264"/>
            <a:ext cx="10698480" cy="347472"/>
          </a:xfrm>
          <a:prstGeom prst="rect">
            <a:avLst/>
          </a:prstGeom>
          <a:noFill/>
        </p:spPr>
        <p:txBody>
          <a:bodyPr wrap="square" lIns="45720" rIns="45720" tIns="18288" bIns="18288" anchor="t">
            <a:spAutoFit/>
          </a:bodyPr>
          <a:lstStyle/>
          <a:p>
            <a:pPr algn="l">
              <a:defRPr sz="1250" b="0">
                <a:solidFill>
                  <a:srgbClr val="5B6770"/>
                </a:solidFill>
                <a:latin typeface="Aptos"/>
              </a:defRPr>
            </a:pPr>
            <a:r>
              <a:t>The investment creates immediate Marketing value and future-state readiness.</a:t>
            </a:r>
          </a:p>
        </p:txBody>
      </p:sp>
      <p:sp>
        <p:nvSpPr>
          <p:cNvPr id="6" name="TextBox 5"/>
          <p:cNvSpPr txBox="1"/>
          <p:nvPr/>
        </p:nvSpPr>
        <p:spPr>
          <a:xfrm>
            <a:off x="457200" y="6473952"/>
            <a:ext cx="7315200" cy="219456"/>
          </a:xfrm>
          <a:prstGeom prst="rect">
            <a:avLst/>
          </a:prstGeom>
          <a:noFill/>
        </p:spPr>
        <p:txBody>
          <a:bodyPr wrap="square" lIns="45720" rIns="45720" tIns="18288" bIns="18288" anchor="t">
            <a:spAutoFit/>
          </a:bodyPr>
          <a:lstStyle/>
          <a:p>
            <a:pPr algn="l">
              <a:defRPr sz="800" b="0">
                <a:solidFill>
                  <a:srgbClr val="5B6770"/>
                </a:solidFill>
                <a:latin typeface="Aptos"/>
              </a:defRPr>
            </a:pPr>
            <a:r>
              <a:t>Workfront + CTT interim bridge support slides</a:t>
            </a:r>
          </a:p>
        </p:txBody>
      </p:sp>
      <p:sp>
        <p:nvSpPr>
          <p:cNvPr id="7" name="TextBox 6"/>
          <p:cNvSpPr txBox="1"/>
          <p:nvPr/>
        </p:nvSpPr>
        <p:spPr>
          <a:xfrm>
            <a:off x="11292840" y="6473952"/>
            <a:ext cx="502920" cy="219456"/>
          </a:xfrm>
          <a:prstGeom prst="rect">
            <a:avLst/>
          </a:prstGeom>
          <a:noFill/>
        </p:spPr>
        <p:txBody>
          <a:bodyPr wrap="square" lIns="45720" rIns="45720" tIns="18288" bIns="18288" anchor="t">
            <a:spAutoFit/>
          </a:bodyPr>
          <a:lstStyle/>
          <a:p>
            <a:pPr algn="r">
              <a:defRPr sz="800" b="0">
                <a:solidFill>
                  <a:srgbClr val="5B6770"/>
                </a:solidFill>
                <a:latin typeface="Aptos"/>
              </a:defRPr>
            </a:pPr>
            <a:r>
              <a:t>6</a:t>
            </a:r>
          </a:p>
        </p:txBody>
      </p:sp>
      <p:sp>
        <p:nvSpPr>
          <p:cNvPr id="8" name="Rounded Rectangle 7"/>
          <p:cNvSpPr/>
          <p:nvPr/>
        </p:nvSpPr>
        <p:spPr>
          <a:xfrm>
            <a:off x="658368" y="1463040"/>
            <a:ext cx="3337560" cy="1828800"/>
          </a:xfrm>
          <a:prstGeom prst="roundRect">
            <a:avLst/>
          </a:prstGeom>
          <a:solidFill>
            <a:srgbClr val="FFFFFF"/>
          </a:solidFill>
          <a:ln w="12700">
            <a:solidFill>
              <a:srgbClr val="D8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1463040"/>
            <a:ext cx="73152" cy="1828800"/>
          </a:xfrm>
          <a:prstGeom prst="rect">
            <a:avLst/>
          </a:prstGeom>
          <a:solidFill>
            <a:srgbClr val="007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1581912"/>
            <a:ext cx="3017520" cy="320040"/>
          </a:xfrm>
          <a:prstGeom prst="rect">
            <a:avLst/>
          </a:prstGeom>
          <a:noFill/>
        </p:spPr>
        <p:txBody>
          <a:bodyPr wrap="square" lIns="45720" rIns="45720" tIns="18288" bIns="18288" anchor="t">
            <a:spAutoFit/>
          </a:bodyPr>
          <a:lstStyle/>
          <a:p>
            <a:pPr algn="l">
              <a:defRPr sz="1320" b="1">
                <a:solidFill>
                  <a:srgbClr val="0B2340"/>
                </a:solidFill>
                <a:latin typeface="Aptos"/>
              </a:defRPr>
            </a:pPr>
            <a:r>
              <a:t>Measure FY27 activity performance</a:t>
            </a:r>
          </a:p>
        </p:txBody>
      </p:sp>
      <p:sp>
        <p:nvSpPr>
          <p:cNvPr id="11" name="TextBox 10"/>
          <p:cNvSpPr txBox="1"/>
          <p:nvPr/>
        </p:nvSpPr>
        <p:spPr>
          <a:xfrm>
            <a:off x="841247" y="1993392"/>
            <a:ext cx="2971800" cy="1234440"/>
          </a:xfrm>
          <a:prstGeom prst="rect">
            <a:avLst/>
          </a:prstGeom>
          <a:noFill/>
        </p:spPr>
        <p:txBody>
          <a:bodyPr wrap="square" lIns="45720" rIns="45720" tIns="18288" bIns="18288" anchor="t">
            <a:spAutoFit/>
          </a:bodyPr>
          <a:lstStyle/>
          <a:p>
            <a:pPr algn="l">
              <a:defRPr sz="1220" b="0">
                <a:solidFill>
                  <a:srgbClr val="1C2024"/>
                </a:solidFill>
                <a:latin typeface="Aptos"/>
              </a:defRPr>
            </a:pPr>
            <a:r>
              <a:t>Marketing gets the data elements it has defined for FY27 reporting across all activities.</a:t>
            </a:r>
          </a:p>
        </p:txBody>
      </p:sp>
      <p:sp>
        <p:nvSpPr>
          <p:cNvPr id="12" name="Rounded Rectangle 11"/>
          <p:cNvSpPr/>
          <p:nvPr/>
        </p:nvSpPr>
        <p:spPr>
          <a:xfrm>
            <a:off x="4407407" y="1463040"/>
            <a:ext cx="3337560" cy="1828800"/>
          </a:xfrm>
          <a:prstGeom prst="roundRect">
            <a:avLst/>
          </a:prstGeom>
          <a:solidFill>
            <a:srgbClr val="FFFFFF"/>
          </a:solidFill>
          <a:ln w="12700">
            <a:solidFill>
              <a:srgbClr val="D8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07407" y="1463040"/>
            <a:ext cx="73152" cy="1828800"/>
          </a:xfrm>
          <a:prstGeom prst="rect">
            <a:avLst/>
          </a:prstGeom>
          <a:solidFill>
            <a:srgbClr val="EF6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1999" y="1581912"/>
            <a:ext cx="3017520" cy="320040"/>
          </a:xfrm>
          <a:prstGeom prst="rect">
            <a:avLst/>
          </a:prstGeom>
          <a:noFill/>
        </p:spPr>
        <p:txBody>
          <a:bodyPr wrap="square" lIns="45720" rIns="45720" tIns="18288" bIns="18288" anchor="t">
            <a:spAutoFit/>
          </a:bodyPr>
          <a:lstStyle/>
          <a:p>
            <a:pPr algn="l">
              <a:defRPr sz="1320" b="1">
                <a:solidFill>
                  <a:srgbClr val="0B2340"/>
                </a:solidFill>
                <a:latin typeface="Aptos"/>
              </a:defRPr>
            </a:pPr>
            <a:r>
              <a:t>Protect business continuity</a:t>
            </a:r>
          </a:p>
        </p:txBody>
      </p:sp>
      <p:sp>
        <p:nvSpPr>
          <p:cNvPr id="15" name="TextBox 14"/>
          <p:cNvSpPr txBox="1"/>
          <p:nvPr/>
        </p:nvSpPr>
        <p:spPr>
          <a:xfrm>
            <a:off x="4590288" y="1993392"/>
            <a:ext cx="2971800" cy="1234440"/>
          </a:xfrm>
          <a:prstGeom prst="rect">
            <a:avLst/>
          </a:prstGeom>
          <a:noFill/>
        </p:spPr>
        <p:txBody>
          <a:bodyPr wrap="square" lIns="45720" rIns="45720" tIns="18288" bIns="18288" anchor="t">
            <a:spAutoFit/>
          </a:bodyPr>
          <a:lstStyle/>
          <a:p>
            <a:pPr algn="l">
              <a:defRPr sz="1220" b="0">
                <a:solidFill>
                  <a:srgbClr val="1C2024"/>
                </a:solidFill>
                <a:latin typeface="Aptos"/>
              </a:defRPr>
            </a:pPr>
            <a:r>
              <a:t>Current CTT-dependent processes and reports continue while migration work progresses.</a:t>
            </a:r>
          </a:p>
        </p:txBody>
      </p:sp>
      <p:sp>
        <p:nvSpPr>
          <p:cNvPr id="16" name="Rounded Rectangle 15"/>
          <p:cNvSpPr/>
          <p:nvPr/>
        </p:nvSpPr>
        <p:spPr>
          <a:xfrm>
            <a:off x="8156448" y="1463040"/>
            <a:ext cx="3337560" cy="1828800"/>
          </a:xfrm>
          <a:prstGeom prst="roundRect">
            <a:avLst/>
          </a:prstGeom>
          <a:solidFill>
            <a:srgbClr val="FFFFFF"/>
          </a:solidFill>
          <a:ln w="12700">
            <a:solidFill>
              <a:srgbClr val="D8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156448" y="1463040"/>
            <a:ext cx="73152" cy="1828800"/>
          </a:xfrm>
          <a:prstGeom prst="rect">
            <a:avLst/>
          </a:prstGeom>
          <a:solidFill>
            <a:srgbClr val="00AC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21040" y="1581912"/>
            <a:ext cx="3017520" cy="320040"/>
          </a:xfrm>
          <a:prstGeom prst="rect">
            <a:avLst/>
          </a:prstGeom>
          <a:noFill/>
        </p:spPr>
        <p:txBody>
          <a:bodyPr wrap="square" lIns="45720" rIns="45720" tIns="18288" bIns="18288" anchor="t">
            <a:spAutoFit/>
          </a:bodyPr>
          <a:lstStyle/>
          <a:p>
            <a:pPr algn="l">
              <a:defRPr sz="1320" b="1">
                <a:solidFill>
                  <a:srgbClr val="0B2340"/>
                </a:solidFill>
                <a:latin typeface="Aptos"/>
              </a:defRPr>
            </a:pPr>
            <a:r>
              <a:t>Accelerate Workfront confidence</a:t>
            </a:r>
          </a:p>
        </p:txBody>
      </p:sp>
      <p:sp>
        <p:nvSpPr>
          <p:cNvPr id="19" name="TextBox 18"/>
          <p:cNvSpPr txBox="1"/>
          <p:nvPr/>
        </p:nvSpPr>
        <p:spPr>
          <a:xfrm>
            <a:off x="8339327" y="1993392"/>
            <a:ext cx="2971800" cy="1234440"/>
          </a:xfrm>
          <a:prstGeom prst="rect">
            <a:avLst/>
          </a:prstGeom>
          <a:noFill/>
        </p:spPr>
        <p:txBody>
          <a:bodyPr wrap="square" lIns="45720" rIns="45720" tIns="18288" bIns="18288" anchor="t">
            <a:spAutoFit/>
          </a:bodyPr>
          <a:lstStyle/>
          <a:p>
            <a:pPr algn="l">
              <a:defRPr sz="1220" b="0">
                <a:solidFill>
                  <a:srgbClr val="1C2024"/>
                </a:solidFill>
                <a:latin typeface="Aptos"/>
              </a:defRPr>
            </a:pPr>
            <a:r>
              <a:t>Teams can adopt Workfront without fear that campaign measurement will be lost.</a:t>
            </a:r>
          </a:p>
        </p:txBody>
      </p:sp>
      <p:sp>
        <p:nvSpPr>
          <p:cNvPr id="20" name="Rounded Rectangle 19"/>
          <p:cNvSpPr/>
          <p:nvPr/>
        </p:nvSpPr>
        <p:spPr>
          <a:xfrm>
            <a:off x="658368" y="3675887"/>
            <a:ext cx="3337560" cy="1828800"/>
          </a:xfrm>
          <a:prstGeom prst="roundRect">
            <a:avLst/>
          </a:prstGeom>
          <a:solidFill>
            <a:srgbClr val="FFFFFF"/>
          </a:solidFill>
          <a:ln w="12700">
            <a:solidFill>
              <a:srgbClr val="D8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58368" y="3675887"/>
            <a:ext cx="73152" cy="1828800"/>
          </a:xfrm>
          <a:prstGeom prst="rect">
            <a:avLst/>
          </a:prstGeom>
          <a:solidFill>
            <a:srgbClr val="5E35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59" y="3794759"/>
            <a:ext cx="3017520" cy="320040"/>
          </a:xfrm>
          <a:prstGeom prst="rect">
            <a:avLst/>
          </a:prstGeom>
          <a:noFill/>
        </p:spPr>
        <p:txBody>
          <a:bodyPr wrap="square" lIns="45720" rIns="45720" tIns="18288" bIns="18288" anchor="t">
            <a:spAutoFit/>
          </a:bodyPr>
          <a:lstStyle/>
          <a:p>
            <a:pPr algn="l">
              <a:defRPr sz="1320" b="1">
                <a:solidFill>
                  <a:srgbClr val="0B2340"/>
                </a:solidFill>
                <a:latin typeface="Aptos"/>
              </a:defRPr>
            </a:pPr>
            <a:r>
              <a:t>Prepare for Adobe North Star</a:t>
            </a:r>
          </a:p>
        </p:txBody>
      </p:sp>
      <p:sp>
        <p:nvSpPr>
          <p:cNvPr id="23" name="TextBox 22"/>
          <p:cNvSpPr txBox="1"/>
          <p:nvPr/>
        </p:nvSpPr>
        <p:spPr>
          <a:xfrm>
            <a:off x="841247" y="4206240"/>
            <a:ext cx="2971800" cy="1234440"/>
          </a:xfrm>
          <a:prstGeom prst="rect">
            <a:avLst/>
          </a:prstGeom>
          <a:noFill/>
        </p:spPr>
        <p:txBody>
          <a:bodyPr wrap="square" lIns="45720" rIns="45720" tIns="18288" bIns="18288" anchor="t">
            <a:spAutoFit/>
          </a:bodyPr>
          <a:lstStyle/>
          <a:p>
            <a:pPr algn="l">
              <a:defRPr sz="1220" b="0">
                <a:solidFill>
                  <a:srgbClr val="1C2024"/>
                </a:solidFill>
                <a:latin typeface="Aptos"/>
              </a:defRPr>
            </a:pPr>
            <a:r>
              <a:t>The bridge aligns data capture to the future unified-intelligence and automation model.</a:t>
            </a:r>
          </a:p>
        </p:txBody>
      </p:sp>
      <p:sp>
        <p:nvSpPr>
          <p:cNvPr id="24" name="Rounded Rectangle 23"/>
          <p:cNvSpPr/>
          <p:nvPr/>
        </p:nvSpPr>
        <p:spPr>
          <a:xfrm>
            <a:off x="4407407" y="3675887"/>
            <a:ext cx="3337560" cy="1828800"/>
          </a:xfrm>
          <a:prstGeom prst="roundRect">
            <a:avLst/>
          </a:prstGeom>
          <a:solidFill>
            <a:srgbClr val="FFFFFF"/>
          </a:solidFill>
          <a:ln w="12700">
            <a:solidFill>
              <a:srgbClr val="D8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407407" y="3675887"/>
            <a:ext cx="73152" cy="182880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71999" y="3794759"/>
            <a:ext cx="3017520" cy="320040"/>
          </a:xfrm>
          <a:prstGeom prst="rect">
            <a:avLst/>
          </a:prstGeom>
          <a:noFill/>
        </p:spPr>
        <p:txBody>
          <a:bodyPr wrap="square" lIns="45720" rIns="45720" tIns="18288" bIns="18288" anchor="t">
            <a:spAutoFit/>
          </a:bodyPr>
          <a:lstStyle/>
          <a:p>
            <a:pPr algn="l">
              <a:defRPr sz="1320" b="1">
                <a:solidFill>
                  <a:srgbClr val="0B2340"/>
                </a:solidFill>
                <a:latin typeface="Aptos"/>
              </a:defRPr>
            </a:pPr>
            <a:r>
              <a:t>Avoid CRM disruption</a:t>
            </a:r>
          </a:p>
        </p:txBody>
      </p:sp>
      <p:sp>
        <p:nvSpPr>
          <p:cNvPr id="27" name="TextBox 26"/>
          <p:cNvSpPr txBox="1"/>
          <p:nvPr/>
        </p:nvSpPr>
        <p:spPr>
          <a:xfrm>
            <a:off x="4590288" y="4206240"/>
            <a:ext cx="2971800" cy="1234440"/>
          </a:xfrm>
          <a:prstGeom prst="rect">
            <a:avLst/>
          </a:prstGeom>
          <a:noFill/>
        </p:spPr>
        <p:txBody>
          <a:bodyPr wrap="square" lIns="45720" rIns="45720" tIns="18288" bIns="18288" anchor="t">
            <a:spAutoFit/>
          </a:bodyPr>
          <a:lstStyle/>
          <a:p>
            <a:pPr algn="l">
              <a:defRPr sz="1220" b="0">
                <a:solidFill>
                  <a:srgbClr val="1C2024"/>
                </a:solidFill>
                <a:latin typeface="Aptos"/>
              </a:defRPr>
            </a:pPr>
            <a:r>
              <a:t>The POC does not require immediate SFDC changes while One Cisco CRM work is underway.</a:t>
            </a:r>
          </a:p>
        </p:txBody>
      </p:sp>
      <p:sp>
        <p:nvSpPr>
          <p:cNvPr id="28" name="Rounded Rectangle 27"/>
          <p:cNvSpPr/>
          <p:nvPr/>
        </p:nvSpPr>
        <p:spPr>
          <a:xfrm>
            <a:off x="8156448" y="3675887"/>
            <a:ext cx="3337560" cy="1828800"/>
          </a:xfrm>
          <a:prstGeom prst="roundRect">
            <a:avLst/>
          </a:prstGeom>
          <a:solidFill>
            <a:srgbClr val="FFFFFF"/>
          </a:solidFill>
          <a:ln w="12700">
            <a:solidFill>
              <a:srgbClr val="D8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156448" y="3675887"/>
            <a:ext cx="73152" cy="1828800"/>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21040" y="3794759"/>
            <a:ext cx="3017520" cy="320040"/>
          </a:xfrm>
          <a:prstGeom prst="rect">
            <a:avLst/>
          </a:prstGeom>
          <a:noFill/>
        </p:spPr>
        <p:txBody>
          <a:bodyPr wrap="square" lIns="45720" rIns="45720" tIns="18288" bIns="18288" anchor="t">
            <a:spAutoFit/>
          </a:bodyPr>
          <a:lstStyle/>
          <a:p>
            <a:pPr algn="l">
              <a:defRPr sz="1320" b="1">
                <a:solidFill>
                  <a:srgbClr val="0B2340"/>
                </a:solidFill>
                <a:latin typeface="Aptos"/>
              </a:defRPr>
            </a:pPr>
            <a:r>
              <a:t>Create decommission evidence</a:t>
            </a:r>
          </a:p>
        </p:txBody>
      </p:sp>
      <p:sp>
        <p:nvSpPr>
          <p:cNvPr id="31" name="TextBox 30"/>
          <p:cNvSpPr txBox="1"/>
          <p:nvPr/>
        </p:nvSpPr>
        <p:spPr>
          <a:xfrm>
            <a:off x="8339327" y="4206240"/>
            <a:ext cx="2971800" cy="1234440"/>
          </a:xfrm>
          <a:prstGeom prst="rect">
            <a:avLst/>
          </a:prstGeom>
          <a:noFill/>
        </p:spPr>
        <p:txBody>
          <a:bodyPr wrap="square" lIns="45720" rIns="45720" tIns="18288" bIns="18288" anchor="t">
            <a:spAutoFit/>
          </a:bodyPr>
          <a:lstStyle/>
          <a:p>
            <a:pPr algn="l">
              <a:defRPr sz="1220" b="0">
                <a:solidFill>
                  <a:srgbClr val="1C2024"/>
                </a:solidFill>
                <a:latin typeface="Aptos"/>
              </a:defRPr>
            </a:pPr>
            <a:r>
              <a:t>The pilot identifies what must be true before CTT can be safely retired.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07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84048"/>
            <a:ext cx="11064240" cy="548640"/>
          </a:xfrm>
          <a:prstGeom prst="rect">
            <a:avLst/>
          </a:prstGeom>
          <a:noFill/>
        </p:spPr>
        <p:txBody>
          <a:bodyPr wrap="square" lIns="45720" rIns="45720" tIns="18288" bIns="18288" anchor="t">
            <a:spAutoFit/>
          </a:bodyPr>
          <a:lstStyle/>
          <a:p>
            <a:pPr algn="l">
              <a:defRPr sz="2800" b="1">
                <a:solidFill>
                  <a:srgbClr val="0B2340"/>
                </a:solidFill>
                <a:latin typeface="Aptos"/>
              </a:defRPr>
            </a:pPr>
            <a:r>
              <a:t>Recommended wording for the management ask</a:t>
            </a:r>
          </a:p>
        </p:txBody>
      </p:sp>
      <p:sp>
        <p:nvSpPr>
          <p:cNvPr id="5" name="TextBox 4"/>
          <p:cNvSpPr txBox="1"/>
          <p:nvPr/>
        </p:nvSpPr>
        <p:spPr>
          <a:xfrm>
            <a:off x="530352" y="969264"/>
            <a:ext cx="10698480" cy="347472"/>
          </a:xfrm>
          <a:prstGeom prst="rect">
            <a:avLst/>
          </a:prstGeom>
          <a:noFill/>
        </p:spPr>
        <p:txBody>
          <a:bodyPr wrap="square" lIns="45720" rIns="45720" tIns="18288" bIns="18288" anchor="t">
            <a:spAutoFit/>
          </a:bodyPr>
          <a:lstStyle/>
          <a:p>
            <a:pPr algn="l">
              <a:defRPr sz="1250" b="0">
                <a:solidFill>
                  <a:srgbClr val="5B6770"/>
                </a:solidFill>
                <a:latin typeface="Aptos"/>
              </a:defRPr>
            </a:pPr>
            <a:r>
              <a:t>Use direct language that makes the purpose, scope and guardrails clear.</a:t>
            </a:r>
          </a:p>
        </p:txBody>
      </p:sp>
      <p:sp>
        <p:nvSpPr>
          <p:cNvPr id="6" name="TextBox 5"/>
          <p:cNvSpPr txBox="1"/>
          <p:nvPr/>
        </p:nvSpPr>
        <p:spPr>
          <a:xfrm>
            <a:off x="457200" y="6473952"/>
            <a:ext cx="7315200" cy="219456"/>
          </a:xfrm>
          <a:prstGeom prst="rect">
            <a:avLst/>
          </a:prstGeom>
          <a:noFill/>
        </p:spPr>
        <p:txBody>
          <a:bodyPr wrap="square" lIns="45720" rIns="45720" tIns="18288" bIns="18288" anchor="t">
            <a:spAutoFit/>
          </a:bodyPr>
          <a:lstStyle/>
          <a:p>
            <a:pPr algn="l">
              <a:defRPr sz="800" b="0">
                <a:solidFill>
                  <a:srgbClr val="5B6770"/>
                </a:solidFill>
                <a:latin typeface="Aptos"/>
              </a:defRPr>
            </a:pPr>
            <a:r>
              <a:t>Workfront + CTT interim bridge support slides</a:t>
            </a:r>
          </a:p>
        </p:txBody>
      </p:sp>
      <p:sp>
        <p:nvSpPr>
          <p:cNvPr id="7" name="TextBox 6"/>
          <p:cNvSpPr txBox="1"/>
          <p:nvPr/>
        </p:nvSpPr>
        <p:spPr>
          <a:xfrm>
            <a:off x="11292840" y="6473952"/>
            <a:ext cx="502920" cy="219456"/>
          </a:xfrm>
          <a:prstGeom prst="rect">
            <a:avLst/>
          </a:prstGeom>
          <a:noFill/>
        </p:spPr>
        <p:txBody>
          <a:bodyPr wrap="square" lIns="45720" rIns="45720" tIns="18288" bIns="18288" anchor="t">
            <a:spAutoFit/>
          </a:bodyPr>
          <a:lstStyle/>
          <a:p>
            <a:pPr algn="r">
              <a:defRPr sz="800" b="0">
                <a:solidFill>
                  <a:srgbClr val="5B6770"/>
                </a:solidFill>
                <a:latin typeface="Aptos"/>
              </a:defRPr>
            </a:pPr>
            <a:r>
              <a:t>7</a:t>
            </a:r>
          </a:p>
        </p:txBody>
      </p:sp>
      <p:sp>
        <p:nvSpPr>
          <p:cNvPr id="8" name="Rounded Rectangle 7"/>
          <p:cNvSpPr/>
          <p:nvPr/>
        </p:nvSpPr>
        <p:spPr>
          <a:xfrm>
            <a:off x="868680" y="1508760"/>
            <a:ext cx="10469880" cy="2057400"/>
          </a:xfrm>
          <a:prstGeom prst="roundRect">
            <a:avLst/>
          </a:prstGeom>
          <a:solidFill>
            <a:srgbClr val="F4F8FB"/>
          </a:solidFill>
          <a:ln w="12700">
            <a:solidFill>
              <a:srgbClr val="D8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783080"/>
            <a:ext cx="9921240" cy="1417320"/>
          </a:xfrm>
          <a:prstGeom prst="rect">
            <a:avLst/>
          </a:prstGeom>
          <a:noFill/>
        </p:spPr>
        <p:txBody>
          <a:bodyPr wrap="square" lIns="45720" rIns="45720" tIns="18288" bIns="18288" anchor="ctr">
            <a:spAutoFit/>
          </a:bodyPr>
          <a:lstStyle/>
          <a:p>
            <a:pPr algn="ctr">
              <a:defRPr sz="2000" b="1">
                <a:solidFill>
                  <a:srgbClr val="0B2340"/>
                </a:solidFill>
                <a:latin typeface="Aptos"/>
              </a:defRPr>
            </a:pPr>
            <a:r>
              <a:t>Approve a Proof of Concept to integrate Workfront and CTT as an interim bridge, so Marketing can capture the FY27 reporting data elements it has defined across all activities while we continue moving toward Workfront, Adobe North Star and automation. The POC should avoid disrupting SFDC / One Cisco CRM work and should produce the evidence needed to plan CTT decommissioning safely.</a:t>
            </a:r>
          </a:p>
        </p:txBody>
      </p:sp>
      <p:sp>
        <p:nvSpPr>
          <p:cNvPr id="10" name="Rounded Rectangle 9"/>
          <p:cNvSpPr/>
          <p:nvPr/>
        </p:nvSpPr>
        <p:spPr>
          <a:xfrm>
            <a:off x="868680" y="3977639"/>
            <a:ext cx="3154680" cy="1554480"/>
          </a:xfrm>
          <a:prstGeom prst="roundRect">
            <a:avLst/>
          </a:prstGeom>
          <a:solidFill>
            <a:srgbClr val="FFFFFF"/>
          </a:solidFill>
          <a:ln w="12700">
            <a:solidFill>
              <a:srgbClr val="D8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68680" y="3977639"/>
            <a:ext cx="73152" cy="155448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33271" y="4096511"/>
            <a:ext cx="2834640" cy="320040"/>
          </a:xfrm>
          <a:prstGeom prst="rect">
            <a:avLst/>
          </a:prstGeom>
          <a:noFill/>
        </p:spPr>
        <p:txBody>
          <a:bodyPr wrap="square" lIns="45720" rIns="45720" tIns="18288" bIns="18288" anchor="t">
            <a:spAutoFit/>
          </a:bodyPr>
          <a:lstStyle/>
          <a:p>
            <a:pPr algn="l">
              <a:defRPr sz="1400" b="1">
                <a:solidFill>
                  <a:srgbClr val="0B2340"/>
                </a:solidFill>
                <a:latin typeface="Aptos"/>
              </a:defRPr>
            </a:pPr>
            <a:r>
              <a:t>Ask</a:t>
            </a:r>
          </a:p>
        </p:txBody>
      </p:sp>
      <p:sp>
        <p:nvSpPr>
          <p:cNvPr id="13" name="TextBox 12"/>
          <p:cNvSpPr txBox="1"/>
          <p:nvPr/>
        </p:nvSpPr>
        <p:spPr>
          <a:xfrm>
            <a:off x="1069848" y="4507992"/>
            <a:ext cx="2770632" cy="960119"/>
          </a:xfrm>
          <a:prstGeom prst="rect">
            <a:avLst/>
          </a:prstGeom>
          <a:noFill/>
        </p:spPr>
        <p:txBody>
          <a:bodyPr wrap="square" lIns="18288" rIns="18288" tIns="18288">
            <a:spAutoFit/>
          </a:bodyPr>
          <a:lstStyle/>
          <a:p>
            <a:pPr marL="228600" indent="-127000">
              <a:buChar char="•"/>
              <a:spcAft>
                <a:spcPts val="300"/>
              </a:spcAft>
              <a:defRPr sz="1300">
                <a:solidFill>
                  <a:srgbClr val="1C2024"/>
                </a:solidFill>
                <a:latin typeface="Aptos"/>
              </a:defRPr>
            </a:pPr>
            <a:r>
              <a:t>Fund the POC and nominate a pilot area.</a:t>
            </a:r>
          </a:p>
        </p:txBody>
      </p:sp>
      <p:sp>
        <p:nvSpPr>
          <p:cNvPr id="14" name="Rounded Rectangle 13"/>
          <p:cNvSpPr/>
          <p:nvPr/>
        </p:nvSpPr>
        <p:spPr>
          <a:xfrm>
            <a:off x="4526280" y="3977639"/>
            <a:ext cx="3154680" cy="1554480"/>
          </a:xfrm>
          <a:prstGeom prst="roundRect">
            <a:avLst/>
          </a:prstGeom>
          <a:solidFill>
            <a:srgbClr val="FFFFFF"/>
          </a:solidFill>
          <a:ln w="12700">
            <a:solidFill>
              <a:srgbClr val="D8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26280" y="3977639"/>
            <a:ext cx="73152" cy="1554480"/>
          </a:xfrm>
          <a:prstGeom prst="rect">
            <a:avLst/>
          </a:prstGeom>
          <a:solidFill>
            <a:srgbClr val="EF6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90872" y="4096511"/>
            <a:ext cx="2834640" cy="320040"/>
          </a:xfrm>
          <a:prstGeom prst="rect">
            <a:avLst/>
          </a:prstGeom>
          <a:noFill/>
        </p:spPr>
        <p:txBody>
          <a:bodyPr wrap="square" lIns="45720" rIns="45720" tIns="18288" bIns="18288" anchor="t">
            <a:spAutoFit/>
          </a:bodyPr>
          <a:lstStyle/>
          <a:p>
            <a:pPr algn="l">
              <a:defRPr sz="1400" b="1">
                <a:solidFill>
                  <a:srgbClr val="0B2340"/>
                </a:solidFill>
                <a:latin typeface="Aptos"/>
              </a:defRPr>
            </a:pPr>
            <a:r>
              <a:t>Guardrail</a:t>
            </a:r>
          </a:p>
        </p:txBody>
      </p:sp>
      <p:sp>
        <p:nvSpPr>
          <p:cNvPr id="17" name="TextBox 16"/>
          <p:cNvSpPr txBox="1"/>
          <p:nvPr/>
        </p:nvSpPr>
        <p:spPr>
          <a:xfrm>
            <a:off x="4727448" y="4507992"/>
            <a:ext cx="2770632" cy="960119"/>
          </a:xfrm>
          <a:prstGeom prst="rect">
            <a:avLst/>
          </a:prstGeom>
          <a:noFill/>
        </p:spPr>
        <p:txBody>
          <a:bodyPr wrap="square" lIns="18288" rIns="18288" tIns="18288">
            <a:spAutoFit/>
          </a:bodyPr>
          <a:lstStyle/>
          <a:p>
            <a:pPr marL="228600" indent="-127000">
              <a:buChar char="•"/>
              <a:spcAft>
                <a:spcPts val="300"/>
              </a:spcAft>
              <a:defRPr sz="1300">
                <a:solidFill>
                  <a:srgbClr val="1C2024"/>
                </a:solidFill>
                <a:latin typeface="Aptos"/>
              </a:defRPr>
            </a:pPr>
            <a:r>
              <a:t>Interim bridge only; CTT remains on the decommission path.</a:t>
            </a:r>
          </a:p>
        </p:txBody>
      </p:sp>
      <p:sp>
        <p:nvSpPr>
          <p:cNvPr id="18" name="Rounded Rectangle 17"/>
          <p:cNvSpPr/>
          <p:nvPr/>
        </p:nvSpPr>
        <p:spPr>
          <a:xfrm>
            <a:off x="8183879" y="3977639"/>
            <a:ext cx="3154680" cy="1554480"/>
          </a:xfrm>
          <a:prstGeom prst="roundRect">
            <a:avLst/>
          </a:prstGeom>
          <a:solidFill>
            <a:srgbClr val="FFFFFF"/>
          </a:solidFill>
          <a:ln w="12700">
            <a:solidFill>
              <a:srgbClr val="D8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183879" y="3977639"/>
            <a:ext cx="73152" cy="1554480"/>
          </a:xfrm>
          <a:prstGeom prst="rect">
            <a:avLst/>
          </a:prstGeom>
          <a:solidFill>
            <a:srgbClr val="007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48471" y="4096511"/>
            <a:ext cx="2834640" cy="320040"/>
          </a:xfrm>
          <a:prstGeom prst="rect">
            <a:avLst/>
          </a:prstGeom>
          <a:noFill/>
        </p:spPr>
        <p:txBody>
          <a:bodyPr wrap="square" lIns="45720" rIns="45720" tIns="18288" bIns="18288" anchor="t">
            <a:spAutoFit/>
          </a:bodyPr>
          <a:lstStyle/>
          <a:p>
            <a:pPr algn="l">
              <a:defRPr sz="1400" b="1">
                <a:solidFill>
                  <a:srgbClr val="0B2340"/>
                </a:solidFill>
                <a:latin typeface="Aptos"/>
              </a:defRPr>
            </a:pPr>
            <a:r>
              <a:t>Outcome</a:t>
            </a:r>
          </a:p>
        </p:txBody>
      </p:sp>
      <p:sp>
        <p:nvSpPr>
          <p:cNvPr id="21" name="TextBox 20"/>
          <p:cNvSpPr txBox="1"/>
          <p:nvPr/>
        </p:nvSpPr>
        <p:spPr>
          <a:xfrm>
            <a:off x="8385048" y="4507992"/>
            <a:ext cx="2770632" cy="960119"/>
          </a:xfrm>
          <a:prstGeom prst="rect">
            <a:avLst/>
          </a:prstGeom>
          <a:noFill/>
        </p:spPr>
        <p:txBody>
          <a:bodyPr wrap="square" lIns="18288" rIns="18288" tIns="18288">
            <a:spAutoFit/>
          </a:bodyPr>
          <a:lstStyle/>
          <a:p>
            <a:pPr marL="228600" indent="-127000">
              <a:buChar char="•"/>
              <a:spcAft>
                <a:spcPts val="300"/>
              </a:spcAft>
              <a:defRPr sz="1300">
                <a:solidFill>
                  <a:srgbClr val="1C2024"/>
                </a:solidFill>
                <a:latin typeface="Aptos"/>
              </a:defRPr>
            </a:pPr>
            <a:r>
              <a:t>FY27 measurement readiness without interrupting CRM work.</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07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84048"/>
            <a:ext cx="11064240" cy="548640"/>
          </a:xfrm>
          <a:prstGeom prst="rect">
            <a:avLst/>
          </a:prstGeom>
          <a:noFill/>
        </p:spPr>
        <p:txBody>
          <a:bodyPr wrap="square" lIns="45720" rIns="45720" tIns="18288" bIns="18288" anchor="t">
            <a:spAutoFit/>
          </a:bodyPr>
          <a:lstStyle/>
          <a:p>
            <a:pPr algn="l">
              <a:defRPr sz="2800" b="1">
                <a:solidFill>
                  <a:srgbClr val="0B2340"/>
                </a:solidFill>
                <a:latin typeface="Aptos"/>
              </a:defRPr>
            </a:pPr>
            <a:r>
              <a:t>How to make the story land</a:t>
            </a:r>
          </a:p>
        </p:txBody>
      </p:sp>
      <p:sp>
        <p:nvSpPr>
          <p:cNvPr id="5" name="TextBox 4"/>
          <p:cNvSpPr txBox="1"/>
          <p:nvPr/>
        </p:nvSpPr>
        <p:spPr>
          <a:xfrm>
            <a:off x="530352" y="969264"/>
            <a:ext cx="10698480" cy="347472"/>
          </a:xfrm>
          <a:prstGeom prst="rect">
            <a:avLst/>
          </a:prstGeom>
          <a:noFill/>
        </p:spPr>
        <p:txBody>
          <a:bodyPr wrap="square" lIns="45720" rIns="45720" tIns="18288" bIns="18288" anchor="t">
            <a:spAutoFit/>
          </a:bodyPr>
          <a:lstStyle/>
          <a:p>
            <a:pPr algn="l">
              <a:defRPr sz="1250" b="0">
                <a:solidFill>
                  <a:srgbClr val="5B6770"/>
                </a:solidFill>
                <a:latin typeface="Aptos"/>
              </a:defRPr>
            </a:pPr>
            <a:r>
              <a:t>Suggested slide order for your corporate deck.</a:t>
            </a:r>
          </a:p>
        </p:txBody>
      </p:sp>
      <p:sp>
        <p:nvSpPr>
          <p:cNvPr id="6" name="TextBox 5"/>
          <p:cNvSpPr txBox="1"/>
          <p:nvPr/>
        </p:nvSpPr>
        <p:spPr>
          <a:xfrm>
            <a:off x="457200" y="6473952"/>
            <a:ext cx="7315200" cy="219456"/>
          </a:xfrm>
          <a:prstGeom prst="rect">
            <a:avLst/>
          </a:prstGeom>
          <a:noFill/>
        </p:spPr>
        <p:txBody>
          <a:bodyPr wrap="square" lIns="45720" rIns="45720" tIns="18288" bIns="18288" anchor="t">
            <a:spAutoFit/>
          </a:bodyPr>
          <a:lstStyle/>
          <a:p>
            <a:pPr algn="l">
              <a:defRPr sz="800" b="0">
                <a:solidFill>
                  <a:srgbClr val="5B6770"/>
                </a:solidFill>
                <a:latin typeface="Aptos"/>
              </a:defRPr>
            </a:pPr>
            <a:r>
              <a:t>Workfront + CTT interim bridge support slides</a:t>
            </a:r>
          </a:p>
        </p:txBody>
      </p:sp>
      <p:sp>
        <p:nvSpPr>
          <p:cNvPr id="7" name="TextBox 6"/>
          <p:cNvSpPr txBox="1"/>
          <p:nvPr/>
        </p:nvSpPr>
        <p:spPr>
          <a:xfrm>
            <a:off x="11292840" y="6473952"/>
            <a:ext cx="502920" cy="219456"/>
          </a:xfrm>
          <a:prstGeom prst="rect">
            <a:avLst/>
          </a:prstGeom>
          <a:noFill/>
        </p:spPr>
        <p:txBody>
          <a:bodyPr wrap="square" lIns="45720" rIns="45720" tIns="18288" bIns="18288" anchor="t">
            <a:spAutoFit/>
          </a:bodyPr>
          <a:lstStyle/>
          <a:p>
            <a:pPr algn="r">
              <a:defRPr sz="800" b="0">
                <a:solidFill>
                  <a:srgbClr val="5B6770"/>
                </a:solidFill>
                <a:latin typeface="Aptos"/>
              </a:defRPr>
            </a:pPr>
            <a:r>
              <a:t>8</a:t>
            </a:r>
          </a:p>
        </p:txBody>
      </p:sp>
      <p:sp>
        <p:nvSpPr>
          <p:cNvPr id="8" name="Rounded Rectangle 7"/>
          <p:cNvSpPr/>
          <p:nvPr/>
        </p:nvSpPr>
        <p:spPr>
          <a:xfrm>
            <a:off x="731520" y="1298448"/>
            <a:ext cx="2194560" cy="384048"/>
          </a:xfrm>
          <a:prstGeom prst="round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389888"/>
            <a:ext cx="2103120" cy="182880"/>
          </a:xfrm>
          <a:prstGeom prst="rect">
            <a:avLst/>
          </a:prstGeom>
          <a:noFill/>
        </p:spPr>
        <p:txBody>
          <a:bodyPr wrap="square" lIns="45720" rIns="45720" tIns="18288" bIns="18288" anchor="t">
            <a:spAutoFit/>
          </a:bodyPr>
          <a:lstStyle/>
          <a:p>
            <a:pPr algn="ctr">
              <a:defRPr sz="980" b="1">
                <a:solidFill>
                  <a:srgbClr val="FFFFFF"/>
                </a:solidFill>
                <a:latin typeface="Aptos"/>
              </a:defRPr>
            </a:pPr>
            <a:r>
              <a:t>1. Start with alignment</a:t>
            </a:r>
          </a:p>
        </p:txBody>
      </p:sp>
      <p:sp>
        <p:nvSpPr>
          <p:cNvPr id="10" name="TextBox 9"/>
          <p:cNvSpPr txBox="1"/>
          <p:nvPr/>
        </p:nvSpPr>
        <p:spPr>
          <a:xfrm>
            <a:off x="3154680" y="1344168"/>
            <a:ext cx="8046720" cy="292608"/>
          </a:xfrm>
          <a:prstGeom prst="rect">
            <a:avLst/>
          </a:prstGeom>
          <a:noFill/>
        </p:spPr>
        <p:txBody>
          <a:bodyPr wrap="square" lIns="45720" rIns="45720" tIns="18288" bIns="18288" anchor="t">
            <a:spAutoFit/>
          </a:bodyPr>
          <a:lstStyle/>
          <a:p>
            <a:pPr algn="l">
              <a:defRPr sz="1400" b="0">
                <a:solidFill>
                  <a:srgbClr val="1C2024"/>
                </a:solidFill>
                <a:latin typeface="Aptos"/>
              </a:defRPr>
            </a:pPr>
            <a:r>
              <a:t>We agree Workfront, Adobe North Star and automation are the destination.</a:t>
            </a:r>
          </a:p>
        </p:txBody>
      </p:sp>
      <p:sp>
        <p:nvSpPr>
          <p:cNvPr id="11" name="Rounded Rectangle 10"/>
          <p:cNvSpPr/>
          <p:nvPr/>
        </p:nvSpPr>
        <p:spPr>
          <a:xfrm>
            <a:off x="731520" y="2048255"/>
            <a:ext cx="2194560" cy="384048"/>
          </a:xfrm>
          <a:prstGeom prst="roundRect">
            <a:avLst/>
          </a:prstGeom>
          <a:solidFill>
            <a:srgbClr val="EF6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2139696"/>
            <a:ext cx="2103120" cy="182880"/>
          </a:xfrm>
          <a:prstGeom prst="rect">
            <a:avLst/>
          </a:prstGeom>
          <a:noFill/>
        </p:spPr>
        <p:txBody>
          <a:bodyPr wrap="square" lIns="45720" rIns="45720" tIns="18288" bIns="18288" anchor="t">
            <a:spAutoFit/>
          </a:bodyPr>
          <a:lstStyle/>
          <a:p>
            <a:pPr algn="ctr">
              <a:defRPr sz="980" b="1">
                <a:solidFill>
                  <a:srgbClr val="FFFFFF"/>
                </a:solidFill>
                <a:latin typeface="Aptos"/>
              </a:defRPr>
            </a:pPr>
            <a:r>
              <a:t>2. Explain the gap</a:t>
            </a:r>
          </a:p>
        </p:txBody>
      </p:sp>
      <p:sp>
        <p:nvSpPr>
          <p:cNvPr id="13" name="TextBox 12"/>
          <p:cNvSpPr txBox="1"/>
          <p:nvPr/>
        </p:nvSpPr>
        <p:spPr>
          <a:xfrm>
            <a:off x="3154680" y="2093975"/>
            <a:ext cx="8046720" cy="292608"/>
          </a:xfrm>
          <a:prstGeom prst="rect">
            <a:avLst/>
          </a:prstGeom>
          <a:noFill/>
        </p:spPr>
        <p:txBody>
          <a:bodyPr wrap="square" lIns="45720" rIns="45720" tIns="18288" bIns="18288" anchor="t">
            <a:spAutoFit/>
          </a:bodyPr>
          <a:lstStyle/>
          <a:p>
            <a:pPr algn="l">
              <a:defRPr sz="1400" b="0">
                <a:solidFill>
                  <a:srgbClr val="1C2024"/>
                </a:solidFill>
                <a:latin typeface="Aptos"/>
              </a:defRPr>
            </a:pPr>
            <a:r>
              <a:t>Not all activity is in Workfront and CTT is deeply embedded in current measurement.</a:t>
            </a:r>
          </a:p>
        </p:txBody>
      </p:sp>
      <p:sp>
        <p:nvSpPr>
          <p:cNvPr id="14" name="Rounded Rectangle 13"/>
          <p:cNvSpPr/>
          <p:nvPr/>
        </p:nvSpPr>
        <p:spPr>
          <a:xfrm>
            <a:off x="731520" y="2798063"/>
            <a:ext cx="2194560" cy="384048"/>
          </a:xfrm>
          <a:prstGeom prst="round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2889503"/>
            <a:ext cx="2103120" cy="182880"/>
          </a:xfrm>
          <a:prstGeom prst="rect">
            <a:avLst/>
          </a:prstGeom>
          <a:noFill/>
        </p:spPr>
        <p:txBody>
          <a:bodyPr wrap="square" lIns="45720" rIns="45720" tIns="18288" bIns="18288" anchor="t">
            <a:spAutoFit/>
          </a:bodyPr>
          <a:lstStyle/>
          <a:p>
            <a:pPr algn="ctr">
              <a:defRPr sz="980" b="1">
                <a:solidFill>
                  <a:srgbClr val="FFFFFF"/>
                </a:solidFill>
                <a:latin typeface="Aptos"/>
              </a:defRPr>
            </a:pPr>
            <a:r>
              <a:t>3. State the risk</a:t>
            </a:r>
          </a:p>
        </p:txBody>
      </p:sp>
      <p:sp>
        <p:nvSpPr>
          <p:cNvPr id="16" name="TextBox 15"/>
          <p:cNvSpPr txBox="1"/>
          <p:nvPr/>
        </p:nvSpPr>
        <p:spPr>
          <a:xfrm>
            <a:off x="3154680" y="2843783"/>
            <a:ext cx="8046720" cy="292608"/>
          </a:xfrm>
          <a:prstGeom prst="rect">
            <a:avLst/>
          </a:prstGeom>
          <a:noFill/>
        </p:spPr>
        <p:txBody>
          <a:bodyPr wrap="square" lIns="45720" rIns="45720" tIns="18288" bIns="18288" anchor="t">
            <a:spAutoFit/>
          </a:bodyPr>
          <a:lstStyle/>
          <a:p>
            <a:pPr algn="l">
              <a:defRPr sz="1400" b="0">
                <a:solidFill>
                  <a:srgbClr val="1C2024"/>
                </a:solidFill>
                <a:latin typeface="Aptos"/>
              </a:defRPr>
            </a:pPr>
            <a:r>
              <a:t>Waiting for every dependency creates a FY27 Marketing reporting and insight gap.</a:t>
            </a:r>
          </a:p>
        </p:txBody>
      </p:sp>
      <p:sp>
        <p:nvSpPr>
          <p:cNvPr id="17" name="Rounded Rectangle 16"/>
          <p:cNvSpPr/>
          <p:nvPr/>
        </p:nvSpPr>
        <p:spPr>
          <a:xfrm>
            <a:off x="731520" y="3547872"/>
            <a:ext cx="2194560" cy="384048"/>
          </a:xfrm>
          <a:prstGeom prst="roundRect">
            <a:avLst/>
          </a:prstGeom>
          <a:solidFill>
            <a:srgbClr val="007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3639312"/>
            <a:ext cx="2103120" cy="182880"/>
          </a:xfrm>
          <a:prstGeom prst="rect">
            <a:avLst/>
          </a:prstGeom>
          <a:noFill/>
        </p:spPr>
        <p:txBody>
          <a:bodyPr wrap="square" lIns="45720" rIns="45720" tIns="18288" bIns="18288" anchor="t">
            <a:spAutoFit/>
          </a:bodyPr>
          <a:lstStyle/>
          <a:p>
            <a:pPr algn="ctr">
              <a:defRPr sz="980" b="1">
                <a:solidFill>
                  <a:srgbClr val="FFFFFF"/>
                </a:solidFill>
                <a:latin typeface="Aptos"/>
              </a:defRPr>
            </a:pPr>
            <a:r>
              <a:t>4. Introduce the bridge</a:t>
            </a:r>
          </a:p>
        </p:txBody>
      </p:sp>
      <p:sp>
        <p:nvSpPr>
          <p:cNvPr id="19" name="TextBox 18"/>
          <p:cNvSpPr txBox="1"/>
          <p:nvPr/>
        </p:nvSpPr>
        <p:spPr>
          <a:xfrm>
            <a:off x="3154680" y="3593591"/>
            <a:ext cx="8046720" cy="292608"/>
          </a:xfrm>
          <a:prstGeom prst="rect">
            <a:avLst/>
          </a:prstGeom>
          <a:noFill/>
        </p:spPr>
        <p:txBody>
          <a:bodyPr wrap="square" lIns="45720" rIns="45720" tIns="18288" bIns="18288" anchor="t">
            <a:spAutoFit/>
          </a:bodyPr>
          <a:lstStyle/>
          <a:p>
            <a:pPr algn="l">
              <a:defRPr sz="1400" b="0">
                <a:solidFill>
                  <a:srgbClr val="1C2024"/>
                </a:solidFill>
                <a:latin typeface="Aptos"/>
              </a:defRPr>
            </a:pPr>
            <a:r>
              <a:t>Workfront + CTT integration captures agreed data elements for all activities during transition.</a:t>
            </a:r>
          </a:p>
        </p:txBody>
      </p:sp>
      <p:sp>
        <p:nvSpPr>
          <p:cNvPr id="20" name="Rounded Rectangle 19"/>
          <p:cNvSpPr/>
          <p:nvPr/>
        </p:nvSpPr>
        <p:spPr>
          <a:xfrm>
            <a:off x="731520" y="4297679"/>
            <a:ext cx="2194560" cy="384048"/>
          </a:xfrm>
          <a:prstGeom prst="roundRect">
            <a:avLst/>
          </a:prstGeom>
          <a:solidFill>
            <a:srgbClr val="5E35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4389119"/>
            <a:ext cx="2103120" cy="182880"/>
          </a:xfrm>
          <a:prstGeom prst="rect">
            <a:avLst/>
          </a:prstGeom>
          <a:noFill/>
        </p:spPr>
        <p:txBody>
          <a:bodyPr wrap="square" lIns="45720" rIns="45720" tIns="18288" bIns="18288" anchor="t">
            <a:spAutoFit/>
          </a:bodyPr>
          <a:lstStyle/>
          <a:p>
            <a:pPr algn="ctr">
              <a:defRPr sz="980" b="1">
                <a:solidFill>
                  <a:srgbClr val="FFFFFF"/>
                </a:solidFill>
                <a:latin typeface="Aptos"/>
              </a:defRPr>
            </a:pPr>
            <a:r>
              <a:t>5. Set the guardrails</a:t>
            </a:r>
          </a:p>
        </p:txBody>
      </p:sp>
      <p:sp>
        <p:nvSpPr>
          <p:cNvPr id="22" name="TextBox 21"/>
          <p:cNvSpPr txBox="1"/>
          <p:nvPr/>
        </p:nvSpPr>
        <p:spPr>
          <a:xfrm>
            <a:off x="3154680" y="4343399"/>
            <a:ext cx="8046720" cy="292608"/>
          </a:xfrm>
          <a:prstGeom prst="rect">
            <a:avLst/>
          </a:prstGeom>
          <a:noFill/>
        </p:spPr>
        <p:txBody>
          <a:bodyPr wrap="square" lIns="45720" rIns="45720" tIns="18288" bIns="18288" anchor="t">
            <a:spAutoFit/>
          </a:bodyPr>
          <a:lstStyle/>
          <a:p>
            <a:pPr algn="l">
              <a:defRPr sz="1400" b="0">
                <a:solidFill>
                  <a:srgbClr val="1C2024"/>
                </a:solidFill>
                <a:latin typeface="Aptos"/>
              </a:defRPr>
            </a:pPr>
            <a:r>
              <a:t>No disruption to SFDC / One Cisco CRM; no permanent extension of CTT.</a:t>
            </a:r>
          </a:p>
        </p:txBody>
      </p:sp>
      <p:sp>
        <p:nvSpPr>
          <p:cNvPr id="23" name="Rounded Rectangle 22"/>
          <p:cNvSpPr/>
          <p:nvPr/>
        </p:nvSpPr>
        <p:spPr>
          <a:xfrm>
            <a:off x="731520" y="5047488"/>
            <a:ext cx="2194560" cy="384048"/>
          </a:xfrm>
          <a:prstGeom prst="roundRect">
            <a:avLst/>
          </a:prstGeom>
          <a:solidFill>
            <a:srgbClr val="00AC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38927"/>
            <a:ext cx="2103120" cy="182880"/>
          </a:xfrm>
          <a:prstGeom prst="rect">
            <a:avLst/>
          </a:prstGeom>
          <a:noFill/>
        </p:spPr>
        <p:txBody>
          <a:bodyPr wrap="square" lIns="45720" rIns="45720" tIns="18288" bIns="18288" anchor="t">
            <a:spAutoFit/>
          </a:bodyPr>
          <a:lstStyle/>
          <a:p>
            <a:pPr algn="ctr">
              <a:defRPr sz="980" b="1">
                <a:solidFill>
                  <a:srgbClr val="FFFFFF"/>
                </a:solidFill>
                <a:latin typeface="Aptos"/>
              </a:defRPr>
            </a:pPr>
            <a:r>
              <a:t>6. Make the ask</a:t>
            </a:r>
          </a:p>
        </p:txBody>
      </p:sp>
      <p:sp>
        <p:nvSpPr>
          <p:cNvPr id="25" name="TextBox 24"/>
          <p:cNvSpPr txBox="1"/>
          <p:nvPr/>
        </p:nvSpPr>
        <p:spPr>
          <a:xfrm>
            <a:off x="3154680" y="5093207"/>
            <a:ext cx="8046720" cy="292608"/>
          </a:xfrm>
          <a:prstGeom prst="rect">
            <a:avLst/>
          </a:prstGeom>
          <a:noFill/>
        </p:spPr>
        <p:txBody>
          <a:bodyPr wrap="square" lIns="45720" rIns="45720" tIns="18288" bIns="18288" anchor="t">
            <a:spAutoFit/>
          </a:bodyPr>
          <a:lstStyle/>
          <a:p>
            <a:pPr algn="l">
              <a:defRPr sz="1400" b="0">
                <a:solidFill>
                  <a:srgbClr val="1C2024"/>
                </a:solidFill>
                <a:latin typeface="Aptos"/>
              </a:defRPr>
            </a:pPr>
            <a:r>
              <a:t>Approve a POC with success measures, owners and a decommission-readiness output.</a:t>
            </a:r>
          </a:p>
        </p:txBody>
      </p:sp>
      <p:sp>
        <p:nvSpPr>
          <p:cNvPr id="26" name="TextBox 25"/>
          <p:cNvSpPr txBox="1"/>
          <p:nvPr/>
        </p:nvSpPr>
        <p:spPr>
          <a:xfrm>
            <a:off x="1005840" y="5925312"/>
            <a:ext cx="10058400" cy="320040"/>
          </a:xfrm>
          <a:prstGeom prst="rect">
            <a:avLst/>
          </a:prstGeom>
          <a:noFill/>
        </p:spPr>
        <p:txBody>
          <a:bodyPr wrap="square" lIns="45720" rIns="45720" tIns="18288" bIns="18288" anchor="t">
            <a:spAutoFit/>
          </a:bodyPr>
          <a:lstStyle/>
          <a:p>
            <a:pPr algn="ctr">
              <a:defRPr sz="1500" b="1">
                <a:solidFill>
                  <a:srgbClr val="0B2340"/>
                </a:solidFill>
                <a:latin typeface="Aptos"/>
              </a:defRPr>
            </a:pPr>
            <a:r>
              <a:t>Repeated anchor phrase: "This is an interim bridge to enable FY27 Marketing measurement and prepare CTT for decommissioning."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Workfront + CTT Integration Bridge Support Slides</dc:title>
  <dc:subject>Supplemental slides for clarifying interim process, FY27 reporting, Adobe North Star, and SFDC / One Cisco CRM positioning</dc:subject>
  <dc:creator>Cursor Cloud Agent</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