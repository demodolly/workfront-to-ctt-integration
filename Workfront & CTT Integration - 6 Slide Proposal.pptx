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601968"/>
            <a:ext cx="658368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defRPr sz="750" b="0">
                <a:solidFill>
                  <a:srgbClr val="5B6770"/>
                </a:solidFill>
                <a:latin typeface="Aptos"/>
              </a:defRPr>
            </a:pPr>
            <a:r>
              <a:t>Workfront &amp; CTT Integration - Proof of 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601968"/>
            <a:ext cx="41148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defRPr sz="750" b="0">
                <a:solidFill>
                  <a:srgbClr val="5B6770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384048"/>
            <a:ext cx="10881360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defRPr sz="2700" b="1">
                <a:solidFill>
                  <a:srgbClr val="0C2340"/>
                </a:solidFill>
                <a:latin typeface="Aptos"/>
              </a:defRPr>
            </a:pPr>
            <a:r>
              <a:t>Burning Issue: Marketing measurement is at risk during the transition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060704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defRPr sz="1250" b="0">
                <a:solidFill>
                  <a:srgbClr val="5B6770"/>
                </a:solidFill>
                <a:latin typeface="Aptos"/>
              </a:defRPr>
            </a:pPr>
            <a:r>
              <a:t>Problem and business impact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3657600" cy="4480560"/>
          </a:xfrm>
          <a:prstGeom prst="round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783080"/>
            <a:ext cx="31546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defRPr sz="1600" b="1">
                <a:solidFill>
                  <a:srgbClr val="00ACC1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40280"/>
            <a:ext cx="3200400" cy="1325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Workfront is the destination, but CTT is still embedded in how marketing activities are tagged, enriched, routed and measured today.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977639"/>
            <a:ext cx="3200400" cy="868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defRPr sz="1450" b="0">
                <a:solidFill>
                  <a:srgbClr val="DEEBF5"/>
                </a:solidFill>
                <a:latin typeface="Aptos"/>
              </a:defRPr>
            </a:pPr>
            <a:r>
              <a:t>A direct cutover could create a measurement gap before all upstream and downstream dependencies are ready.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1508760"/>
            <a:ext cx="32004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26280" y="1508760"/>
            <a:ext cx="73152" cy="201168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90872" y="1627631"/>
            <a:ext cx="28803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defRPr sz="1350" b="1">
                <a:solidFill>
                  <a:srgbClr val="0C2340"/>
                </a:solidFill>
                <a:latin typeface="Aptos"/>
              </a:defRPr>
            </a:pPr>
            <a:r>
              <a:t>Business 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2011680"/>
            <a:ext cx="2798064" cy="142646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marL="228600" indent="-127000">
              <a:buChar char="-"/>
              <a:spcAft>
                <a:spcPts val="250"/>
              </a:spcAft>
              <a:defRPr sz="1180">
                <a:solidFill>
                  <a:srgbClr val="1C2024"/>
                </a:solidFill>
                <a:latin typeface="Aptos"/>
              </a:defRPr>
            </a:pPr>
            <a:r>
              <a:t>FY27 reporting data elements may not be captured consistently across all activities.</a:t>
            </a:r>
          </a:p>
          <a:p>
            <a:pPr marL="228600" indent="-127000">
              <a:buChar char="-"/>
              <a:spcAft>
                <a:spcPts val="250"/>
              </a:spcAft>
              <a:defRPr sz="1180">
                <a:solidFill>
                  <a:srgbClr val="1C2024"/>
                </a:solidFill>
                <a:latin typeface="Aptos"/>
              </a:defRPr>
            </a:pPr>
            <a:r>
              <a:t>Marketing may not be able to compare Workfront and non-Workfront activity performance.</a:t>
            </a:r>
          </a:p>
          <a:p>
            <a:pPr marL="228600" indent="-127000">
              <a:buChar char="-"/>
              <a:spcAft>
                <a:spcPts val="250"/>
              </a:spcAft>
              <a:defRPr sz="1180">
                <a:solidFill>
                  <a:srgbClr val="1C2024"/>
                </a:solidFill>
                <a:latin typeface="Aptos"/>
              </a:defRPr>
            </a:pPr>
            <a:r>
              <a:t>Attribution, funnel reporting and operational processes remain exposed to legacy ID dependencies.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1508760"/>
            <a:ext cx="32461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01000" y="1508760"/>
            <a:ext cx="73152" cy="20116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65592" y="1627631"/>
            <a:ext cx="2926079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defRPr sz="1350" b="1">
                <a:solidFill>
                  <a:srgbClr val="0C2340"/>
                </a:solidFill>
                <a:latin typeface="Aptos"/>
              </a:defRPr>
            </a:pPr>
            <a:r>
              <a:t>Transition risk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2168" y="2011680"/>
            <a:ext cx="2843784" cy="142646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marL="228600" indent="-127000">
              <a:buChar char="-"/>
              <a:spcAft>
                <a:spcPts val="250"/>
              </a:spcAft>
              <a:defRPr sz="1180">
                <a:solidFill>
                  <a:srgbClr val="1C2024"/>
                </a:solidFill>
                <a:latin typeface="Aptos"/>
              </a:defRPr>
            </a:pPr>
            <a:r>
              <a:t>Teams may delay Workfront adoption if measurement continuity is unclear.</a:t>
            </a:r>
          </a:p>
          <a:p>
            <a:pPr marL="228600" indent="-127000">
              <a:buChar char="-"/>
              <a:spcAft>
                <a:spcPts val="250"/>
              </a:spcAft>
              <a:defRPr sz="1180">
                <a:solidFill>
                  <a:srgbClr val="1C2024"/>
                </a:solidFill>
                <a:latin typeface="Aptos"/>
              </a:defRPr>
            </a:pPr>
            <a:r>
              <a:t>CRM/One Cisco CRM work could be pressured by short-term tracking needs.</a:t>
            </a:r>
          </a:p>
          <a:p>
            <a:pPr marL="228600" indent="-127000">
              <a:buChar char="-"/>
              <a:spcAft>
                <a:spcPts val="250"/>
              </a:spcAft>
              <a:defRPr sz="1180">
                <a:solidFill>
                  <a:srgbClr val="1C2024"/>
                </a:solidFill>
                <a:latin typeface="Aptos"/>
              </a:defRPr>
            </a:pPr>
            <a:r>
              <a:t>The business could lose visibility into what is and is not working across initiatives.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26280" y="3886200"/>
            <a:ext cx="67208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26280" y="3886200"/>
            <a:ext cx="73152" cy="1417320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90872" y="4005072"/>
            <a:ext cx="64008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defRPr sz="1350" b="1">
                <a:solidFill>
                  <a:srgbClr val="0C2340"/>
                </a:solidFill>
                <a:latin typeface="Aptos"/>
              </a:defRPr>
            </a:pPr>
            <a:r>
              <a:t>Why this matters now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4389120"/>
            <a:ext cx="6355079" cy="8321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defRPr sz="1400" b="0">
                <a:solidFill>
                  <a:srgbClr val="1C2024"/>
                </a:solidFill>
                <a:latin typeface="Aptos"/>
              </a:defRPr>
            </a:pPr>
            <a:r>
              <a:t>Marketing teams have defined FY27 reporting data elements. We need a way to capture those data elements for all activities now, while still moving toward Adobe North Star, automation and CTT decommissioning.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601968"/>
            <a:ext cx="658368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defRPr sz="750" b="0">
                <a:solidFill>
                  <a:srgbClr val="5B6770"/>
                </a:solidFill>
                <a:latin typeface="Aptos"/>
              </a:defRPr>
            </a:pPr>
            <a:r>
              <a:t>Workfront &amp; CTT Integration - Proof of 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601968"/>
            <a:ext cx="41148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defRPr sz="750" b="0">
                <a:solidFill>
                  <a:srgbClr val="5B677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384048"/>
            <a:ext cx="10881360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defRPr sz="2700" b="1">
                <a:solidFill>
                  <a:srgbClr val="0C2340"/>
                </a:solidFill>
                <a:latin typeface="Aptos"/>
              </a:defRPr>
            </a:pPr>
            <a:r>
              <a:t>Overview: Recommendation, guardrails and business benefit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060704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defRPr sz="1250" b="0">
                <a:solidFill>
                  <a:srgbClr val="5B6770"/>
                </a:solidFill>
                <a:latin typeface="Aptos"/>
              </a:defRPr>
            </a:pPr>
            <a:r>
              <a:t>The recommendation is an interim bridge, not a detour from the target architecture.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481328"/>
            <a:ext cx="333756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481328"/>
            <a:ext cx="73152" cy="35204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1600200"/>
            <a:ext cx="301752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defRPr sz="1350" b="1">
                <a:solidFill>
                  <a:srgbClr val="0C2340"/>
                </a:solidFill>
                <a:latin typeface="Aptos"/>
              </a:defRPr>
            </a:pPr>
            <a:r>
              <a:t>Recommendation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1984248"/>
            <a:ext cx="2935224" cy="29352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marL="228600" indent="-127000">
              <a:buChar char="-"/>
              <a:spcAft>
                <a:spcPts val="250"/>
              </a:spcAft>
              <a:defRPr sz="1230">
                <a:solidFill>
                  <a:srgbClr val="1C2024"/>
                </a:solidFill>
                <a:latin typeface="Aptos"/>
              </a:defRPr>
            </a:pPr>
            <a:r>
              <a:t>Approve a focused POC to integrate Workfront and CTT.</a:t>
            </a:r>
          </a:p>
          <a:p>
            <a:pPr marL="228600" indent="-127000">
              <a:buChar char="-"/>
              <a:spcAft>
                <a:spcPts val="250"/>
              </a:spcAft>
              <a:defRPr sz="1230">
                <a:solidFill>
                  <a:srgbClr val="1C2024"/>
                </a:solidFill>
                <a:latin typeface="Aptos"/>
              </a:defRPr>
            </a:pPr>
            <a:r>
              <a:t>Use CTT temporarily to carry the FY27 reporting data elements for activities not fully covered by Workfront.</a:t>
            </a:r>
          </a:p>
          <a:p>
            <a:pPr marL="228600" indent="-127000">
              <a:buChar char="-"/>
              <a:spcAft>
                <a:spcPts val="250"/>
              </a:spcAft>
              <a:defRPr sz="1230">
                <a:solidFill>
                  <a:srgbClr val="1C2024"/>
                </a:solidFill>
                <a:latin typeface="Aptos"/>
              </a:defRPr>
            </a:pPr>
            <a:r>
              <a:t>Automatically create Activity IDs and Offer IDs for selected Workfront activations and write them back to Workfront.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7408" y="1481328"/>
            <a:ext cx="333756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07408" y="1481328"/>
            <a:ext cx="73152" cy="3520440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600200"/>
            <a:ext cx="301752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defRPr sz="1350" b="1">
                <a:solidFill>
                  <a:srgbClr val="0C2340"/>
                </a:solidFill>
                <a:latin typeface="Aptos"/>
              </a:defRPr>
            </a:pPr>
            <a:r>
              <a:t>Why it is not a detour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6" y="1984248"/>
            <a:ext cx="2935224" cy="29352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marL="228600" indent="-127000">
              <a:buChar char="-"/>
              <a:spcAft>
                <a:spcPts val="250"/>
              </a:spcAft>
              <a:defRPr sz="1230">
                <a:solidFill>
                  <a:srgbClr val="1C2024"/>
                </a:solidFill>
                <a:latin typeface="Aptos"/>
              </a:defRPr>
            </a:pPr>
            <a:r>
              <a:t>Workfront, Adobe North Star and automation remain the end goal.</a:t>
            </a:r>
          </a:p>
          <a:p>
            <a:pPr marL="228600" indent="-127000">
              <a:buChar char="-"/>
              <a:spcAft>
                <a:spcPts val="250"/>
              </a:spcAft>
              <a:defRPr sz="1230">
                <a:solidFill>
                  <a:srgbClr val="1C2024"/>
                </a:solidFill>
                <a:latin typeface="Aptos"/>
              </a:defRPr>
            </a:pPr>
            <a:r>
              <a:t>CTT is used only as a controlled compatibility layer during transition.</a:t>
            </a:r>
          </a:p>
          <a:p>
            <a:pPr marL="228600" indent="-127000">
              <a:buChar char="-"/>
              <a:spcAft>
                <a:spcPts val="250"/>
              </a:spcAft>
              <a:defRPr sz="1230">
                <a:solidFill>
                  <a:srgbClr val="1C2024"/>
                </a:solidFill>
                <a:latin typeface="Aptos"/>
              </a:defRPr>
            </a:pPr>
            <a:r>
              <a:t>Every POC output should improve decommission readiness: field mapping, dependency clarity, reporting proof and cutover criteria.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74736" y="1481328"/>
            <a:ext cx="333756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74736" y="1481328"/>
            <a:ext cx="73152" cy="3520440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9327" y="1600200"/>
            <a:ext cx="301752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defRPr sz="1350" b="1">
                <a:solidFill>
                  <a:srgbClr val="0C2340"/>
                </a:solidFill>
                <a:latin typeface="Aptos"/>
              </a:defRPr>
            </a:pPr>
            <a:r>
              <a:t>Business benefit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1984248"/>
            <a:ext cx="2935224" cy="29352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marL="228600" indent="-127000">
              <a:buChar char="-"/>
              <a:spcAft>
                <a:spcPts val="250"/>
              </a:spcAft>
              <a:defRPr sz="1230">
                <a:solidFill>
                  <a:srgbClr val="1C2024"/>
                </a:solidFill>
                <a:latin typeface="Aptos"/>
              </a:defRPr>
            </a:pPr>
            <a:r>
              <a:t>Marketing can start measuring FY27 priorities across all activities sooner.</a:t>
            </a:r>
          </a:p>
          <a:p>
            <a:pPr marL="228600" indent="-127000">
              <a:buChar char="-"/>
              <a:spcAft>
                <a:spcPts val="250"/>
              </a:spcAft>
              <a:defRPr sz="1230">
                <a:solidFill>
                  <a:srgbClr val="1C2024"/>
                </a:solidFill>
                <a:latin typeface="Aptos"/>
              </a:defRPr>
            </a:pPr>
            <a:r>
              <a:t>Reporting teams get a consistent data model for Workfront and non-Workfront activity.</a:t>
            </a:r>
          </a:p>
          <a:p>
            <a:pPr marL="228600" indent="-127000">
              <a:buChar char="-"/>
              <a:spcAft>
                <a:spcPts val="250"/>
              </a:spcAft>
              <a:defRPr sz="1230">
                <a:solidFill>
                  <a:srgbClr val="1C2024"/>
                </a:solidFill>
                <a:latin typeface="Aptos"/>
              </a:defRPr>
            </a:pPr>
            <a:r>
              <a:t>SFDC / One Cisco CRM work is not interrupted by immediate marketing-tracking changes.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468112"/>
            <a:ext cx="1028700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defRPr sz="1700" b="1">
                <a:solidFill>
                  <a:srgbClr val="0C2340"/>
                </a:solidFill>
                <a:latin typeface="Aptos"/>
              </a:defRPr>
            </a:pPr>
            <a:r>
              <a:t>Simple message: bridge safely now, measure FY27 activity consistently, and keep moving toward Workfront + Adobe North Star.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601968"/>
            <a:ext cx="658368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defRPr sz="750" b="0">
                <a:solidFill>
                  <a:srgbClr val="5B6770"/>
                </a:solidFill>
                <a:latin typeface="Aptos"/>
              </a:defRPr>
            </a:pPr>
            <a:r>
              <a:t>Workfront &amp; CTT Integration - Proof of 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601968"/>
            <a:ext cx="41148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defRPr sz="750" b="0">
                <a:solidFill>
                  <a:srgbClr val="5B677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384048"/>
            <a:ext cx="10881360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defRPr sz="2700" b="1">
                <a:solidFill>
                  <a:srgbClr val="0C2340"/>
                </a:solidFill>
                <a:latin typeface="Aptos"/>
              </a:defRPr>
            </a:pPr>
            <a:r>
              <a:t>How do I make this project tangible?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060704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defRPr sz="1250" b="0">
                <a:solidFill>
                  <a:srgbClr val="5B6770"/>
                </a:solidFill>
                <a:latin typeface="Aptos"/>
              </a:defRPr>
            </a:pPr>
            <a:r>
              <a:t>Turn the idea into a small pilot with clear inputs, outputs and owners.</a:t>
            </a:r>
          </a:p>
        </p:txBody>
      </p:sp>
      <p:sp>
        <p:nvSpPr>
          <p:cNvPr id="9" name="Oval 8"/>
          <p:cNvSpPr/>
          <p:nvPr/>
        </p:nvSpPr>
        <p:spPr>
          <a:xfrm>
            <a:off x="1124712" y="1508760"/>
            <a:ext cx="658368" cy="658368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16736" y="1673352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2395728"/>
            <a:ext cx="2084831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2395728"/>
            <a:ext cx="73152" cy="2331720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" y="2514600"/>
            <a:ext cx="1764791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defRPr sz="1120" b="1">
                <a:solidFill>
                  <a:srgbClr val="0C2340"/>
                </a:solidFill>
                <a:latin typeface="Aptos"/>
              </a:defRPr>
            </a:pPr>
            <a:r>
              <a:t>Select pilot activity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898648"/>
            <a:ext cx="1719072" cy="174650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defRPr sz="1060" b="0">
                <a:solidFill>
                  <a:srgbClr val="1C2024"/>
                </a:solidFill>
                <a:latin typeface="Aptos"/>
              </a:defRPr>
            </a:pPr>
            <a:r>
              <a:t>Choose a contained channel/content activation type with known Workfront and CTT dependencies.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96312" y="1828800"/>
            <a:ext cx="219456" cy="0"/>
          </a:xfrm>
          <a:prstGeom prst="line">
            <a:avLst/>
          </a:prstGeom>
          <a:ln w="20320">
            <a:solidFill>
              <a:srgbClr val="5B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3483864" y="1508760"/>
            <a:ext cx="658368" cy="658368"/>
          </a:xfrm>
          <a:prstGeom prst="ellipse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75888" y="1673352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70632" y="2395728"/>
            <a:ext cx="2084831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70632" y="2395728"/>
            <a:ext cx="73152" cy="2331720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35224" y="2514600"/>
            <a:ext cx="1764791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defRPr sz="1120" b="1">
                <a:solidFill>
                  <a:srgbClr val="0C2340"/>
                </a:solidFill>
                <a:latin typeface="Aptos"/>
              </a:defRPr>
            </a:pPr>
            <a:r>
              <a:t>Define FY27 data elements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53512" y="2898648"/>
            <a:ext cx="1719072" cy="174650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defRPr sz="1060" b="0">
                <a:solidFill>
                  <a:srgbClr val="1C2024"/>
                </a:solidFill>
                <a:latin typeface="Aptos"/>
              </a:defRPr>
            </a:pPr>
            <a:r>
              <a:t>Confirm the Marketing-defined attributes required for reporting, such as Business Priority and Stakeholder Unit.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55464" y="1828800"/>
            <a:ext cx="219456" cy="0"/>
          </a:xfrm>
          <a:prstGeom prst="line">
            <a:avLst/>
          </a:prstGeom>
          <a:ln w="20320">
            <a:solidFill>
              <a:srgbClr val="5B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5843016" y="1508760"/>
            <a:ext cx="658368" cy="658368"/>
          </a:xfrm>
          <a:prstGeom prst="ellipse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0" y="1673352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29784" y="2395728"/>
            <a:ext cx="2084831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129784" y="2395728"/>
            <a:ext cx="73152" cy="233172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94376" y="2514600"/>
            <a:ext cx="1764791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defRPr sz="1120" b="1">
                <a:solidFill>
                  <a:srgbClr val="0C2340"/>
                </a:solidFill>
                <a:latin typeface="Aptos"/>
              </a:defRPr>
            </a:pPr>
            <a:r>
              <a:t>Configure CTT bridge fields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12664" y="2898648"/>
            <a:ext cx="1719072" cy="174650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defRPr sz="1060" b="0">
                <a:solidFill>
                  <a:srgbClr val="1C2024"/>
                </a:solidFill>
                <a:latin typeface="Aptos"/>
              </a:defRPr>
            </a:pPr>
            <a:r>
              <a:t>Add the interim fields needed so CTT can carry the same reporting attributes during transition.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214616" y="1828800"/>
            <a:ext cx="219456" cy="0"/>
          </a:xfrm>
          <a:prstGeom prst="line">
            <a:avLst/>
          </a:prstGeom>
          <a:ln w="20320">
            <a:solidFill>
              <a:srgbClr val="5B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8202167" y="1508760"/>
            <a:ext cx="658368" cy="658368"/>
          </a:xfrm>
          <a:prstGeom prst="ellipse">
            <a:avLst/>
          </a:prstGeom>
          <a:solidFill>
            <a:srgbClr val="5E35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94192" y="1673352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88936" y="2395728"/>
            <a:ext cx="2084831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488936" y="2395728"/>
            <a:ext cx="73152" cy="2331720"/>
          </a:xfrm>
          <a:prstGeom prst="rect">
            <a:avLst/>
          </a:prstGeom>
          <a:solidFill>
            <a:srgbClr val="5E35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53527" y="2514600"/>
            <a:ext cx="1764791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defRPr sz="1120" b="1">
                <a:solidFill>
                  <a:srgbClr val="0C2340"/>
                </a:solidFill>
                <a:latin typeface="Aptos"/>
              </a:defRPr>
            </a:pPr>
            <a:r>
              <a:t>Build Workfront write-back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71815" y="2898648"/>
            <a:ext cx="1719072" cy="174650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defRPr sz="1060" b="0">
                <a:solidFill>
                  <a:srgbClr val="1C2024"/>
                </a:solidFill>
                <a:latin typeface="Aptos"/>
              </a:defRPr>
            </a:pPr>
            <a:r>
              <a:t>Create Activity ID / Offer ID and write generated IDs plus key attributes back into Workfront.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573767" y="1828800"/>
            <a:ext cx="219457" cy="0"/>
          </a:xfrm>
          <a:prstGeom prst="line">
            <a:avLst/>
          </a:prstGeom>
          <a:ln w="20320">
            <a:solidFill>
              <a:srgbClr val="5B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10561319" y="1508760"/>
            <a:ext cx="658368" cy="65836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753344" y="1673352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848088" y="2395728"/>
            <a:ext cx="2084831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848088" y="2395728"/>
            <a:ext cx="73152" cy="23317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12680" y="2514600"/>
            <a:ext cx="1764791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defRPr sz="1120" b="1">
                <a:solidFill>
                  <a:srgbClr val="0C2340"/>
                </a:solidFill>
                <a:latin typeface="Aptos"/>
              </a:defRPr>
            </a:pPr>
            <a:r>
              <a:t>Validate report output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30967" y="2898648"/>
            <a:ext cx="1719072" cy="174650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defRPr sz="1060" b="0">
                <a:solidFill>
                  <a:srgbClr val="1C2024"/>
                </a:solidFill>
                <a:latin typeface="Aptos"/>
              </a:defRPr>
            </a:pPr>
            <a:r>
              <a:t>Compare Workfront-originated and CTT-originated activity using the same FY27 reporting view.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7240" y="5230368"/>
            <a:ext cx="10652760" cy="658368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77240" y="5230368"/>
            <a:ext cx="73152" cy="65836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1832" y="5349240"/>
            <a:ext cx="1033272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defRPr sz="1250" b="1">
                <a:solidFill>
                  <a:srgbClr val="0C2340"/>
                </a:solidFill>
                <a:latin typeface="Aptos"/>
              </a:defRPr>
            </a:pPr>
            <a:r>
              <a:t>Tangible output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0120" y="5733288"/>
            <a:ext cx="10287000" cy="7315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defRPr sz="1280" b="0">
                <a:solidFill>
                  <a:srgbClr val="1C2024"/>
                </a:solidFill>
                <a:latin typeface="Aptos"/>
              </a:defRPr>
            </a:pPr>
            <a:r>
              <a:t>A working pilot flow, a small validated dataset, a sample report, and a documented list of what must change before CTT can be decommissioned.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601968"/>
            <a:ext cx="658368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defRPr sz="750" b="0">
                <a:solidFill>
                  <a:srgbClr val="5B6770"/>
                </a:solidFill>
                <a:latin typeface="Aptos"/>
              </a:defRPr>
            </a:pPr>
            <a:r>
              <a:t>Workfront &amp; CTT Integration - Proof of 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601968"/>
            <a:ext cx="41148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defRPr sz="750" b="0">
                <a:solidFill>
                  <a:srgbClr val="5B677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384048"/>
            <a:ext cx="10881360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defRPr sz="2700" b="1">
                <a:solidFill>
                  <a:srgbClr val="0C2340"/>
                </a:solidFill>
                <a:latin typeface="Aptos"/>
              </a:defRPr>
            </a:pPr>
            <a:r>
              <a:t>Payoff: What the POC will prove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060704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defRPr sz="1250" b="0">
                <a:solidFill>
                  <a:srgbClr val="5B6770"/>
                </a:solidFill>
                <a:latin typeface="Aptos"/>
              </a:defRPr>
            </a:pPr>
            <a:r>
              <a:t>The POC should produce decision-quality evidence, not just a technical demo.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08760"/>
            <a:ext cx="3337560" cy="1700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508760"/>
            <a:ext cx="73152" cy="1700784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627631"/>
            <a:ext cx="301752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defRPr sz="1250" b="1">
                <a:solidFill>
                  <a:srgbClr val="0C2340"/>
                </a:solidFill>
                <a:latin typeface="Aptos"/>
              </a:defRPr>
            </a:pPr>
            <a:r>
              <a:t>Technical feasibility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011680"/>
            <a:ext cx="2971800" cy="11155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defRPr sz="1180" b="0">
                <a:solidFill>
                  <a:srgbClr val="1C2024"/>
                </a:solidFill>
                <a:latin typeface="Aptos"/>
              </a:defRPr>
            </a:pPr>
            <a:r>
              <a:t>Workfront can trigger CTT ID creation and receive the generated IDs back as usable attributes.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7407" y="1508760"/>
            <a:ext cx="3337560" cy="1700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07407" y="1508760"/>
            <a:ext cx="73152" cy="170078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1999" y="1627631"/>
            <a:ext cx="301752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defRPr sz="1250" b="1">
                <a:solidFill>
                  <a:srgbClr val="0C2340"/>
                </a:solidFill>
                <a:latin typeface="Aptos"/>
              </a:defRPr>
            </a:pPr>
            <a:r>
              <a:t>Reporting continuity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011680"/>
            <a:ext cx="2971800" cy="11155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defRPr sz="1180" b="0">
                <a:solidFill>
                  <a:srgbClr val="1C2024"/>
                </a:solidFill>
                <a:latin typeface="Aptos"/>
              </a:defRPr>
            </a:pPr>
            <a:r>
              <a:t>Workfront-originated and non-Workfront activities can be reported using the same FY27 data elements.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56448" y="1508760"/>
            <a:ext cx="3337560" cy="1700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56448" y="1508760"/>
            <a:ext cx="73152" cy="1700784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1627631"/>
            <a:ext cx="301752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defRPr sz="1250" b="1">
                <a:solidFill>
                  <a:srgbClr val="0C2340"/>
                </a:solidFill>
                <a:latin typeface="Aptos"/>
              </a:defRPr>
            </a:pPr>
            <a:r>
              <a:t>Operational usability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7" y="2011680"/>
            <a:ext cx="2971800" cy="11155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defRPr sz="1180" b="0">
                <a:solidFill>
                  <a:srgbClr val="1C2024"/>
                </a:solidFill>
                <a:latin typeface="Aptos"/>
              </a:defRPr>
            </a:pPr>
            <a:r>
              <a:t>Pilot users can continue activating work without extra manual ID administration.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657600"/>
            <a:ext cx="3337560" cy="1700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657600"/>
            <a:ext cx="73152" cy="1700784"/>
          </a:xfrm>
          <a:prstGeom prst="rect">
            <a:avLst/>
          </a:prstGeom>
          <a:solidFill>
            <a:srgbClr val="5E35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59" y="3776472"/>
            <a:ext cx="301752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defRPr sz="1250" b="1">
                <a:solidFill>
                  <a:srgbClr val="0C2340"/>
                </a:solidFill>
                <a:latin typeface="Aptos"/>
              </a:defRPr>
            </a:pPr>
            <a:r>
              <a:t>CRM protection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" y="4160520"/>
            <a:ext cx="2971800" cy="11155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defRPr sz="1180" b="0">
                <a:solidFill>
                  <a:srgbClr val="1C2024"/>
                </a:solidFill>
                <a:latin typeface="Aptos"/>
              </a:defRPr>
            </a:pPr>
            <a:r>
              <a:t>Marketing can progress without requiring immediate SFDC / One Cisco CRM tracking changes.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07407" y="3657600"/>
            <a:ext cx="3337560" cy="1700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07407" y="3657600"/>
            <a:ext cx="73152" cy="1700784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1999" y="3776472"/>
            <a:ext cx="301752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defRPr sz="1250" b="1">
                <a:solidFill>
                  <a:srgbClr val="0C2340"/>
                </a:solidFill>
                <a:latin typeface="Aptos"/>
              </a:defRPr>
            </a:pPr>
            <a:r>
              <a:t>Decommission readiness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0288" y="4160520"/>
            <a:ext cx="2971800" cy="11155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defRPr sz="1180" b="0">
                <a:solidFill>
                  <a:srgbClr val="1C2024"/>
                </a:solidFill>
                <a:latin typeface="Aptos"/>
              </a:defRPr>
            </a:pPr>
            <a:r>
              <a:t>The pilot identifies dependencies, blockers and cutover criteria for retiring CTT safely.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56448" y="3657600"/>
            <a:ext cx="3337560" cy="1700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56448" y="3657600"/>
            <a:ext cx="73152" cy="170078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0" y="3776472"/>
            <a:ext cx="301752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defRPr sz="1250" b="1">
                <a:solidFill>
                  <a:srgbClr val="0C2340"/>
                </a:solidFill>
                <a:latin typeface="Aptos"/>
              </a:defRPr>
            </a:pPr>
            <a:r>
              <a:t>Business value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9327" y="4160520"/>
            <a:ext cx="2971800" cy="11155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defRPr sz="1180" b="0">
                <a:solidFill>
                  <a:srgbClr val="1C2024"/>
                </a:solidFill>
                <a:latin typeface="Aptos"/>
              </a:defRPr>
            </a:pPr>
            <a:r>
              <a:t>Marketing can better understand which initiatives are working while the long-term architecture evolves.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5806440"/>
            <a:ext cx="100584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defRPr sz="1450" b="1">
                <a:solidFill>
                  <a:srgbClr val="0C2340"/>
                </a:solidFill>
                <a:latin typeface="Aptos"/>
              </a:defRPr>
            </a:pPr>
            <a:r>
              <a:t>Decision point: scale only if the pilot proves reliable data capture, reporting consistency and a credible path to CTT retirement.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601968"/>
            <a:ext cx="658368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defRPr sz="750" b="0">
                <a:solidFill>
                  <a:srgbClr val="5B6770"/>
                </a:solidFill>
                <a:latin typeface="Aptos"/>
              </a:defRPr>
            </a:pPr>
            <a:r>
              <a:t>Workfront &amp; CTT Integration - Proof of 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601968"/>
            <a:ext cx="41148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defRPr sz="750" b="0">
                <a:solidFill>
                  <a:srgbClr val="5B677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384048"/>
            <a:ext cx="10881360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defRPr sz="2700" b="1">
                <a:solidFill>
                  <a:srgbClr val="0C2340"/>
                </a:solidFill>
                <a:latin typeface="Aptos"/>
              </a:defRPr>
            </a:pPr>
            <a:r>
              <a:t>Recommended scope of the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060704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defRPr sz="1250" b="0">
                <a:solidFill>
                  <a:srgbClr val="5B6770"/>
                </a:solidFill>
                <a:latin typeface="Aptos"/>
              </a:defRPr>
            </a:pPr>
            <a:r>
              <a:t>Keep the POC narrow enough to manage, but broad enough to prove the real business case.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17320"/>
            <a:ext cx="26974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417320"/>
            <a:ext cx="73152" cy="4526280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536192"/>
            <a:ext cx="237744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defRPr sz="1350" b="1">
                <a:solidFill>
                  <a:srgbClr val="0C2340"/>
                </a:solidFill>
                <a:latin typeface="Aptos"/>
              </a:defRPr>
            </a:pPr>
            <a:r>
              <a:t>1. Data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1920240"/>
            <a:ext cx="2295144" cy="394106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marL="228600" indent="-127000">
              <a:buChar char="-"/>
              <a:spcAft>
                <a:spcPts val="250"/>
              </a:spcAft>
              <a:defRPr sz="1150">
                <a:solidFill>
                  <a:srgbClr val="1C2024"/>
                </a:solidFill>
                <a:latin typeface="Aptos"/>
              </a:defRPr>
            </a:pPr>
            <a:r>
              <a:t>Confirm FY27 reporting attributes.</a:t>
            </a:r>
          </a:p>
          <a:p>
            <a:pPr marL="228600" indent="-127000">
              <a:buChar char="-"/>
              <a:spcAft>
                <a:spcPts val="250"/>
              </a:spcAft>
              <a:defRPr sz="1150">
                <a:solidFill>
                  <a:srgbClr val="1C2024"/>
                </a:solidFill>
                <a:latin typeface="Aptos"/>
              </a:defRPr>
            </a:pPr>
            <a:r>
              <a:t>Map Workfront Task ID, Activity ID, Offer ID and UTM_ID.</a:t>
            </a:r>
          </a:p>
          <a:p>
            <a:pPr marL="228600" indent="-127000">
              <a:buChar char="-"/>
              <a:spcAft>
                <a:spcPts val="250"/>
              </a:spcAft>
              <a:defRPr sz="1150">
                <a:solidFill>
                  <a:srgbClr val="1C2024"/>
                </a:solidFill>
                <a:latin typeface="Aptos"/>
              </a:defRPr>
            </a:pPr>
            <a:r>
              <a:t>Agree ownership and field governance.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56432" y="1417320"/>
            <a:ext cx="26974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56432" y="1417320"/>
            <a:ext cx="73152" cy="4526280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1024" y="1536192"/>
            <a:ext cx="237744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defRPr sz="1350" b="1">
                <a:solidFill>
                  <a:srgbClr val="0C2340"/>
                </a:solidFill>
                <a:latin typeface="Aptos"/>
              </a:defRPr>
            </a:pPr>
            <a:r>
              <a:t>2. Integration 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1920240"/>
            <a:ext cx="2295144" cy="394106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marL="228600" indent="-127000">
              <a:buChar char="-"/>
              <a:spcAft>
                <a:spcPts val="250"/>
              </a:spcAft>
              <a:defRPr sz="1150">
                <a:solidFill>
                  <a:srgbClr val="1C2024"/>
                </a:solidFill>
                <a:latin typeface="Aptos"/>
              </a:defRPr>
            </a:pPr>
            <a:r>
              <a:t>Create Activity ID for selected channel activations.</a:t>
            </a:r>
          </a:p>
          <a:p>
            <a:pPr marL="228600" indent="-127000">
              <a:buChar char="-"/>
              <a:spcAft>
                <a:spcPts val="250"/>
              </a:spcAft>
              <a:defRPr sz="1150">
                <a:solidFill>
                  <a:srgbClr val="1C2024"/>
                </a:solidFill>
                <a:latin typeface="Aptos"/>
              </a:defRPr>
            </a:pPr>
            <a:r>
              <a:t>Create Offer ID for selected content activations.</a:t>
            </a:r>
          </a:p>
          <a:p>
            <a:pPr marL="228600" indent="-127000">
              <a:buChar char="-"/>
              <a:spcAft>
                <a:spcPts val="250"/>
              </a:spcAft>
              <a:defRPr sz="1150">
                <a:solidFill>
                  <a:srgbClr val="1C2024"/>
                </a:solidFill>
                <a:latin typeface="Aptos"/>
              </a:defRPr>
            </a:pPr>
            <a:r>
              <a:t>Write generated IDs and attributes back to Workfront.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18504" y="1417320"/>
            <a:ext cx="26974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18504" y="1417320"/>
            <a:ext cx="73152" cy="45262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83096" y="1536192"/>
            <a:ext cx="237744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defRPr sz="1350" b="1">
                <a:solidFill>
                  <a:srgbClr val="0C2340"/>
                </a:solidFill>
                <a:latin typeface="Aptos"/>
              </a:defRPr>
            </a:pPr>
            <a:r>
              <a:t>3. Reporting proof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1920240"/>
            <a:ext cx="2295144" cy="394106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marL="228600" indent="-127000">
              <a:buChar char="-"/>
              <a:spcAft>
                <a:spcPts val="250"/>
              </a:spcAft>
              <a:defRPr sz="1150">
                <a:solidFill>
                  <a:srgbClr val="1C2024"/>
                </a:solidFill>
                <a:latin typeface="Aptos"/>
              </a:defRPr>
            </a:pPr>
            <a:r>
              <a:t>Build pilot dataset covering Workfront and CTT-originated activity.</a:t>
            </a:r>
          </a:p>
          <a:p>
            <a:pPr marL="228600" indent="-127000">
              <a:buChar char="-"/>
              <a:spcAft>
                <a:spcPts val="250"/>
              </a:spcAft>
              <a:defRPr sz="1150">
                <a:solidFill>
                  <a:srgbClr val="1C2024"/>
                </a:solidFill>
                <a:latin typeface="Aptos"/>
              </a:defRPr>
            </a:pPr>
            <a:r>
              <a:t>Validate reporting views with Marketing and reporting teams.</a:t>
            </a:r>
          </a:p>
          <a:p>
            <a:pPr marL="228600" indent="-127000">
              <a:buChar char="-"/>
              <a:spcAft>
                <a:spcPts val="250"/>
              </a:spcAft>
              <a:defRPr sz="1150">
                <a:solidFill>
                  <a:srgbClr val="1C2024"/>
                </a:solidFill>
                <a:latin typeface="Aptos"/>
              </a:defRPr>
            </a:pPr>
            <a:r>
              <a:t>Confirm visibility across online, offline and non-Workfront activities.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80576" y="1417320"/>
            <a:ext cx="24231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80576" y="1417320"/>
            <a:ext cx="73152" cy="452628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45167" y="1536192"/>
            <a:ext cx="210312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defRPr sz="1350" b="1">
                <a:solidFill>
                  <a:srgbClr val="0C2340"/>
                </a:solidFill>
                <a:latin typeface="Aptos"/>
              </a:defRPr>
            </a:pPr>
            <a:r>
              <a:t>4. Exit path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81744" y="1920240"/>
            <a:ext cx="2020824" cy="394106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marL="228600" indent="-127000">
              <a:buChar char="-"/>
              <a:spcAft>
                <a:spcPts val="250"/>
              </a:spcAft>
              <a:defRPr sz="1150">
                <a:solidFill>
                  <a:srgbClr val="1C2024"/>
                </a:solidFill>
                <a:latin typeface="Aptos"/>
              </a:defRPr>
            </a:pPr>
            <a:r>
              <a:t>Document decommission blockers.</a:t>
            </a:r>
          </a:p>
          <a:p>
            <a:pPr marL="228600" indent="-127000">
              <a:buChar char="-"/>
              <a:spcAft>
                <a:spcPts val="250"/>
              </a:spcAft>
              <a:defRPr sz="1150">
                <a:solidFill>
                  <a:srgbClr val="1C2024"/>
                </a:solidFill>
                <a:latin typeface="Aptos"/>
              </a:defRPr>
            </a:pPr>
            <a:r>
              <a:t>Identify downstream dependencies.</a:t>
            </a:r>
          </a:p>
          <a:p>
            <a:pPr marL="228600" indent="-127000">
              <a:buChar char="-"/>
              <a:spcAft>
                <a:spcPts val="250"/>
              </a:spcAft>
              <a:defRPr sz="1150">
                <a:solidFill>
                  <a:srgbClr val="1C2024"/>
                </a:solidFill>
                <a:latin typeface="Aptos"/>
              </a:defRPr>
            </a:pPr>
            <a:r>
              <a:t>Recommend scale, pause or stop decision with next-phase backlog.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601968"/>
            <a:ext cx="658368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defRPr sz="750" b="0">
                <a:solidFill>
                  <a:srgbClr val="5B6770"/>
                </a:solidFill>
                <a:latin typeface="Aptos"/>
              </a:defRPr>
            </a:pPr>
            <a:r>
              <a:t>Workfront &amp; CTT Integration - Proof of 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601968"/>
            <a:ext cx="41148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defRPr sz="750" b="0">
                <a:solidFill>
                  <a:srgbClr val="5B677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384048"/>
            <a:ext cx="10881360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defRPr sz="2700" b="1">
                <a:solidFill>
                  <a:srgbClr val="0C2340"/>
                </a:solidFill>
                <a:latin typeface="Aptos"/>
              </a:defRPr>
            </a:pPr>
            <a:r>
              <a:t>What do I need to move forward?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060704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defRPr sz="1250" b="0">
                <a:solidFill>
                  <a:srgbClr val="5B6770"/>
                </a:solidFill>
                <a:latin typeface="Aptos"/>
              </a:defRPr>
            </a:pPr>
            <a:r>
              <a:t>A clear decision, named owners and success measures for the proof of concept.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463040"/>
            <a:ext cx="333756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463040"/>
            <a:ext cx="73152" cy="34747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581912"/>
            <a:ext cx="301752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defRPr sz="1350" b="1">
                <a:solidFill>
                  <a:srgbClr val="0C2340"/>
                </a:solidFill>
                <a:latin typeface="Aptos"/>
              </a:defRPr>
            </a:pPr>
            <a:r>
              <a:t>Approve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1965960"/>
            <a:ext cx="2935224" cy="2889503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marL="228600" indent="-127000">
              <a:buChar char="-"/>
              <a:spcAft>
                <a:spcPts val="250"/>
              </a:spcAft>
              <a:defRPr sz="1230">
                <a:solidFill>
                  <a:srgbClr val="1C2024"/>
                </a:solidFill>
                <a:latin typeface="Aptos"/>
              </a:defRPr>
            </a:pPr>
            <a:r>
              <a:t>Agreement to run a Workfront + CTT integration POC.</a:t>
            </a:r>
          </a:p>
          <a:p>
            <a:pPr marL="228600" indent="-127000">
              <a:buChar char="-"/>
              <a:spcAft>
                <a:spcPts val="250"/>
              </a:spcAft>
              <a:defRPr sz="1230">
                <a:solidFill>
                  <a:srgbClr val="1C2024"/>
                </a:solidFill>
                <a:latin typeface="Aptos"/>
              </a:defRPr>
            </a:pPr>
            <a:r>
              <a:t>Confirmation that this is an interim bridge, with CTT still on the decommission path.</a:t>
            </a:r>
          </a:p>
          <a:p>
            <a:pPr marL="228600" indent="-127000">
              <a:buChar char="-"/>
              <a:spcAft>
                <a:spcPts val="250"/>
              </a:spcAft>
              <a:defRPr sz="1230">
                <a:solidFill>
                  <a:srgbClr val="1C2024"/>
                </a:solidFill>
                <a:latin typeface="Aptos"/>
              </a:defRPr>
            </a:pPr>
            <a:r>
              <a:t>A pilot activity type or business area to test.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7408" y="1463040"/>
            <a:ext cx="333756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07408" y="1463040"/>
            <a:ext cx="73152" cy="3474720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581912"/>
            <a:ext cx="301752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defRPr sz="1350" b="1">
                <a:solidFill>
                  <a:srgbClr val="0C2340"/>
                </a:solidFill>
                <a:latin typeface="Aptos"/>
              </a:defRPr>
            </a:pPr>
            <a:r>
              <a:t>Assign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6" y="1965960"/>
            <a:ext cx="2935224" cy="2889503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marL="228600" indent="-127000">
              <a:buChar char="-"/>
              <a:spcAft>
                <a:spcPts val="250"/>
              </a:spcAft>
              <a:defRPr sz="1230">
                <a:solidFill>
                  <a:srgbClr val="1C2024"/>
                </a:solidFill>
                <a:latin typeface="Aptos"/>
              </a:defRPr>
            </a:pPr>
            <a:r>
              <a:t>Workfront owner for task fields and pilot configuration.</a:t>
            </a:r>
          </a:p>
          <a:p>
            <a:pPr marL="228600" indent="-127000">
              <a:buChar char="-"/>
              <a:spcAft>
                <a:spcPts val="250"/>
              </a:spcAft>
              <a:defRPr sz="1230">
                <a:solidFill>
                  <a:srgbClr val="1C2024"/>
                </a:solidFill>
                <a:latin typeface="Aptos"/>
              </a:defRPr>
            </a:pPr>
            <a:r>
              <a:t>CTT/integration owner for ID creation and write-back flow.</a:t>
            </a:r>
          </a:p>
          <a:p>
            <a:pPr marL="228600" indent="-127000">
              <a:buChar char="-"/>
              <a:spcAft>
                <a:spcPts val="250"/>
              </a:spcAft>
              <a:defRPr sz="1230">
                <a:solidFill>
                  <a:srgbClr val="1C2024"/>
                </a:solidFill>
                <a:latin typeface="Aptos"/>
              </a:defRPr>
            </a:pPr>
            <a:r>
              <a:t>Marketing reporting owner to validate FY27 data elements and outputs.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74736" y="1463040"/>
            <a:ext cx="333756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74736" y="1463040"/>
            <a:ext cx="73152" cy="347472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9327" y="1581912"/>
            <a:ext cx="301752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defRPr sz="1350" b="1">
                <a:solidFill>
                  <a:srgbClr val="0C2340"/>
                </a:solidFill>
                <a:latin typeface="Aptos"/>
              </a:defRPr>
            </a:pPr>
            <a:r>
              <a:t>Measure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1965960"/>
            <a:ext cx="2935224" cy="2889503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marL="228600" indent="-127000">
              <a:buChar char="-"/>
              <a:spcAft>
                <a:spcPts val="250"/>
              </a:spcAft>
              <a:defRPr sz="1230">
                <a:solidFill>
                  <a:srgbClr val="1C2024"/>
                </a:solidFill>
                <a:latin typeface="Aptos"/>
              </a:defRPr>
            </a:pPr>
            <a:r>
              <a:t>Pilot coverage: selected activations receive expected IDs.</a:t>
            </a:r>
          </a:p>
          <a:p>
            <a:pPr marL="228600" indent="-127000">
              <a:buChar char="-"/>
              <a:spcAft>
                <a:spcPts val="250"/>
              </a:spcAft>
              <a:defRPr sz="1230">
                <a:solidFill>
                  <a:srgbClr val="1C2024"/>
                </a:solidFill>
                <a:latin typeface="Aptos"/>
              </a:defRPr>
            </a:pPr>
            <a:r>
              <a:t>Data quality: required FY27 attributes are populated consistently.</a:t>
            </a:r>
          </a:p>
          <a:p>
            <a:pPr marL="228600" indent="-127000">
              <a:buChar char="-"/>
              <a:spcAft>
                <a:spcPts val="250"/>
              </a:spcAft>
              <a:defRPr sz="1230">
                <a:solidFill>
                  <a:srgbClr val="1C2024"/>
                </a:solidFill>
                <a:latin typeface="Aptos"/>
              </a:defRPr>
            </a:pPr>
            <a:r>
              <a:t>Decision output: scale/decommission recommendation with blockers and next steps.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5376672"/>
            <a:ext cx="10287000" cy="658368"/>
          </a:xfrm>
          <a:prstGeom prst="round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5541264"/>
            <a:ext cx="992124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defRPr sz="1480" b="1">
                <a:solidFill>
                  <a:srgbClr val="FFFFFF"/>
                </a:solidFill>
                <a:latin typeface="Aptos"/>
              </a:defRPr>
            </a:pPr>
            <a:r>
              <a:t>The ask: approve a contained POC so Marketing can measure FY27 activity now while protecting One Cisco CRM work and preparing CTT for safe decommissioning.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Workfront &amp; CTT Integration - 6 Slide Proposal</dc:title>
  <dc:subject>Six content slide proposal for an interim Workfront + CTT integration POC</dc:subject>
  <dc:creator>Cursor Cloud Agent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